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319" r:id="rId4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howGuides="1">
      <p:cViewPr varScale="1">
        <p:scale>
          <a:sx n="102" d="100"/>
          <a:sy n="102" d="100"/>
        </p:scale>
        <p:origin x="19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1A42-4027-04D9-EAB9-E963B174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FC89D-4FF7-7955-2CC9-E4D06F62F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6D684-0916-DDF4-343C-366F5A6C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1DA5-3C4D-062B-0B0B-55843C7A2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6516-A381-B9F8-21FC-037A5C02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4257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F2E0-F574-AFC5-76F6-0BEA80F3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E91E1-A093-066B-BC12-85F5F773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58A9-F677-887D-A12A-005B8594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E62D5-20A5-2899-1CE5-DB08E963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CEFB2-3F72-8077-B79E-2A58964A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30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5CAB-F8BC-D6E8-7A4E-8C48F1AA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D1471-EED7-AF42-1E96-32007EC8D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D9877-C225-EE89-B319-E2CC6907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61E5B-3DE6-2839-04C8-78ECEDD5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5008-8205-3894-17F7-360FACA8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42522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3ED2-48F8-7901-49F9-B4BC9937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C239A-D849-A21A-0EF9-2757A1A6D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AFD5A-CF82-E4DB-AD1E-F339FA09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1CE77-2F52-284D-C60B-D551D28C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2B1B0-9CAD-E071-B13E-E0A6A386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73B2A-4026-9EEF-4187-9C51F272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351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B329-0E40-5595-0D64-165CDE03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19C99-101C-1B48-5867-D1B4F9A13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118DF-6CAC-7677-9981-BADAD54E2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B4B01-1504-956B-7C5A-DC8E29AB2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8D575-97BF-FAC8-280F-5D18F0830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815AC-248B-6572-90EC-CA3A94C6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223E9-D382-79B2-AD3B-33A1B09B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7B445-86BB-8DD2-CCBA-19B814F3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465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3613-C63B-8329-6BFC-58ECE12A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44FF2-CE65-51A9-B323-1D0693A5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72003-7D7F-FB13-355C-CF845F63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3B20F-2FC0-A55F-CE6D-A49A2845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159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BE124-22A7-A378-4DAA-CEA5395BE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4655F-0290-9FD2-F1F9-2F53048C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08C8C-313B-561D-CED0-804247A5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44826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4E83-F336-35FA-B62F-A2F20F88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4B3F-5DAA-9DB3-E9C1-897082C6A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42A5A-E37C-F07E-FBFB-B888A9C62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FC2E6-AFFC-9131-8789-CA512FB7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B6ED4-9590-EA1F-0691-471985F11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EC8F1-925D-947C-3DE2-24127D39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6466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B10E-848E-9336-5B94-BC0F350D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533B7-1876-A4BD-8447-325705C56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6C86A-C3CC-8D58-8075-32F2B7D3A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418C-54D7-F303-F2F8-F7A69EB4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5198-EBB4-82EE-1299-F0881152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47C38-6E14-0E9D-5696-D5D765D0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593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0E06-32E5-973C-F181-EDC17B63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DA287-08EC-E897-45BF-3D139BBA0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5D66F-0C53-4C59-4C47-DD42E129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C6F26-09BB-3DB9-5AB4-EA7E8EF2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D17B5-E6C3-38FE-A5CF-7F41A17D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559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983B4-9B5C-2147-9A8E-AE977E102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95DC6-09FB-35F2-007D-20742F9B8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1B9D0-3A73-B930-6047-2E28ED3F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00BF-60FD-92EF-C754-65B92D0F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47E8-1804-ECC1-D064-DE98A492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65950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preserve="1" userDrawn="1">
  <p:cSld name="白紙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sldNum" idx="12"/>
          </p:nvPr>
        </p:nvSpPr>
        <p:spPr>
          <a:xfrm>
            <a:off x="918061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2646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25">
          <p15:clr>
            <a:srgbClr val="FBAE40"/>
          </p15:clr>
        </p15:guide>
        <p15:guide id="4" pos="7355">
          <p15:clr>
            <a:srgbClr val="FBAE40"/>
          </p15:clr>
        </p15:guide>
        <p15:guide id="5" orient="horz" pos="300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C47B1-F58D-C47D-DD01-A16A7972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7117E-543C-74E9-D5F8-7FD1F1D9A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C64DB-4D6F-EB59-72AC-BEB3BEE96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535B5-85CD-4F44-B8B1-CA03F67BE221}" type="datetimeFigureOut">
              <a:rPr lang="en-JP" smtClean="0"/>
              <a:t>2026/07/30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341B-4B28-F73D-6D6E-8ABB4AD3B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F5628-9048-6677-5F6C-469D28F7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524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ja-JP" noProof="0"/>
          </a:p>
        </p:txBody>
      </p:sp>
      <p:sp>
        <p:nvSpPr>
          <p:cNvPr id="12" name="Google Shape;1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ja-JP" noProof="0"/>
          </a:p>
        </p:txBody>
      </p:sp>
      <p:sp>
        <p:nvSpPr>
          <p:cNvPr id="13" name="Google Shape;1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ldNum" idx="12"/>
          </p:nvPr>
        </p:nvSpPr>
        <p:spPr>
          <a:xfrm>
            <a:off x="9239989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18398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 JP" panose="020B0200000000000000" pitchFamily="34" charset="-128"/>
          <a:ea typeface="Noto Sans JP" panose="020B0200000000000000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 JP" panose="020B0200000000000000" pitchFamily="34" charset="-128"/>
          <a:ea typeface="Noto Sans JP" panose="020B0200000000000000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1">
            <a:extLst>
              <a:ext uri="{FF2B5EF4-FFF2-40B4-BE49-F238E27FC236}">
                <a16:creationId xmlns:a16="http://schemas.microsoft.com/office/drawing/2014/main" id="{B4815C6D-1B16-499B-2102-C6788064A2E9}"/>
              </a:ext>
            </a:extLst>
          </p:cNvPr>
          <p:cNvGrpSpPr/>
          <p:nvPr/>
        </p:nvGrpSpPr>
        <p:grpSpPr>
          <a:xfrm>
            <a:off x="1225116" y="1278949"/>
            <a:ext cx="4139996" cy="4067806"/>
            <a:chOff x="1192066" y="1973012"/>
            <a:chExt cx="4139996" cy="4067806"/>
          </a:xfrm>
        </p:grpSpPr>
        <p:sp>
          <p:nvSpPr>
            <p:cNvPr id="5" name="正方形/長方形 3">
              <a:extLst>
                <a:ext uri="{FF2B5EF4-FFF2-40B4-BE49-F238E27FC236}">
                  <a16:creationId xmlns:a16="http://schemas.microsoft.com/office/drawing/2014/main" id="{1C6194FA-C39D-0688-6978-5C3F1F75339E}"/>
                </a:ext>
              </a:extLst>
            </p:cNvPr>
            <p:cNvSpPr/>
            <p:nvPr/>
          </p:nvSpPr>
          <p:spPr>
            <a:xfrm>
              <a:off x="1666874" y="2659456"/>
              <a:ext cx="3600000" cy="288000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6" name="正方形/長方形 7">
              <a:extLst>
                <a:ext uri="{FF2B5EF4-FFF2-40B4-BE49-F238E27FC236}">
                  <a16:creationId xmlns:a16="http://schemas.microsoft.com/office/drawing/2014/main" id="{D4E22F40-6BEA-36F0-0D0A-C35A2E4BCCF8}"/>
                </a:ext>
              </a:extLst>
            </p:cNvPr>
            <p:cNvSpPr/>
            <p:nvPr/>
          </p:nvSpPr>
          <p:spPr>
            <a:xfrm>
              <a:off x="1666874" y="2954656"/>
              <a:ext cx="2984400" cy="2584800"/>
            </a:xfrm>
            <a:prstGeom prst="rect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2023</a:t>
              </a:r>
              <a:r>
                <a: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CO</a:t>
              </a:r>
              <a:r>
                <a:rPr kumimoji="1" lang="en-US" altLang="ja-JP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</a:t>
              </a: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排出量</a:t>
              </a:r>
              <a:endPara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25%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（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年比）</a:t>
              </a:r>
            </a:p>
          </p:txBody>
        </p:sp>
        <p:sp>
          <p:nvSpPr>
            <p:cNvPr id="7" name="テキスト ボックス 8">
              <a:extLst>
                <a:ext uri="{FF2B5EF4-FFF2-40B4-BE49-F238E27FC236}">
                  <a16:creationId xmlns:a16="http://schemas.microsoft.com/office/drawing/2014/main" id="{5D0EBFC0-C8D5-3244-ED95-815D8409BC62}"/>
                </a:ext>
              </a:extLst>
            </p:cNvPr>
            <p:cNvSpPr txBox="1"/>
            <p:nvPr/>
          </p:nvSpPr>
          <p:spPr>
            <a:xfrm>
              <a:off x="2310689" y="5640708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エネルギー消費量</a:t>
              </a:r>
            </a:p>
          </p:txBody>
        </p:sp>
        <p:sp>
          <p:nvSpPr>
            <p:cNvPr id="8" name="テキスト ボックス 9">
              <a:extLst>
                <a:ext uri="{FF2B5EF4-FFF2-40B4-BE49-F238E27FC236}">
                  <a16:creationId xmlns:a16="http://schemas.microsoft.com/office/drawing/2014/main" id="{5D124418-ED4C-F7D2-461F-AD1DFD65BA91}"/>
                </a:ext>
              </a:extLst>
            </p:cNvPr>
            <p:cNvSpPr txBox="1"/>
            <p:nvPr/>
          </p:nvSpPr>
          <p:spPr>
            <a:xfrm rot="16200000">
              <a:off x="658587" y="3899401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排出原単位</a:t>
              </a:r>
            </a:p>
          </p:txBody>
        </p:sp>
        <p:sp>
          <p:nvSpPr>
            <p:cNvPr id="9" name="矢印: 下 12">
              <a:extLst>
                <a:ext uri="{FF2B5EF4-FFF2-40B4-BE49-F238E27FC236}">
                  <a16:creationId xmlns:a16="http://schemas.microsoft.com/office/drawing/2014/main" id="{864BBB9E-1DE1-3B11-EA15-C9BBB775D005}"/>
                </a:ext>
              </a:extLst>
            </p:cNvPr>
            <p:cNvSpPr/>
            <p:nvPr/>
          </p:nvSpPr>
          <p:spPr>
            <a:xfrm>
              <a:off x="1833180" y="2667707"/>
              <a:ext cx="138500" cy="288000"/>
            </a:xfrm>
            <a:prstGeom prst="down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0" name="テキスト ボックス 13">
              <a:extLst>
                <a:ext uri="{FF2B5EF4-FFF2-40B4-BE49-F238E27FC236}">
                  <a16:creationId xmlns:a16="http://schemas.microsoft.com/office/drawing/2014/main" id="{7C308BDC-F9C7-64F6-0AFE-79F85ADCFF47}"/>
                </a:ext>
              </a:extLst>
            </p:cNvPr>
            <p:cNvSpPr txBox="1"/>
            <p:nvPr/>
          </p:nvSpPr>
          <p:spPr>
            <a:xfrm>
              <a:off x="1971564" y="2672787"/>
              <a:ext cx="649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dirty="0">
                  <a:solidFill>
                    <a:prstClr val="black"/>
                  </a:solidFill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10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1" name="テキスト ボックス 20">
              <a:extLst>
                <a:ext uri="{FF2B5EF4-FFF2-40B4-BE49-F238E27FC236}">
                  <a16:creationId xmlns:a16="http://schemas.microsoft.com/office/drawing/2014/main" id="{750CAC05-4BAF-3F51-46C9-8F8BAB2EE7FF}"/>
                </a:ext>
              </a:extLst>
            </p:cNvPr>
            <p:cNvSpPr txBox="1"/>
            <p:nvPr/>
          </p:nvSpPr>
          <p:spPr>
            <a:xfrm>
              <a:off x="4192006" y="2387231"/>
              <a:ext cx="1140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年排出量</a:t>
              </a:r>
            </a:p>
          </p:txBody>
        </p:sp>
        <p:sp>
          <p:nvSpPr>
            <p:cNvPr id="12" name="矢印: 左 23">
              <a:extLst>
                <a:ext uri="{FF2B5EF4-FFF2-40B4-BE49-F238E27FC236}">
                  <a16:creationId xmlns:a16="http://schemas.microsoft.com/office/drawing/2014/main" id="{7E1D5B95-0A39-57B2-E632-3D4869386035}"/>
                </a:ext>
              </a:extLst>
            </p:cNvPr>
            <p:cNvSpPr/>
            <p:nvPr/>
          </p:nvSpPr>
          <p:spPr>
            <a:xfrm>
              <a:off x="4658218" y="5212531"/>
              <a:ext cx="601200" cy="180600"/>
            </a:xfrm>
            <a:prstGeom prst="left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3" name="テキスト ボックス 24">
              <a:extLst>
                <a:ext uri="{FF2B5EF4-FFF2-40B4-BE49-F238E27FC236}">
                  <a16:creationId xmlns:a16="http://schemas.microsoft.com/office/drawing/2014/main" id="{F4D18668-BBEC-47F6-0F56-D3DBB5DF0E61}"/>
                </a:ext>
              </a:extLst>
            </p:cNvPr>
            <p:cNvSpPr txBox="1"/>
            <p:nvPr/>
          </p:nvSpPr>
          <p:spPr>
            <a:xfrm>
              <a:off x="4662648" y="4952906"/>
              <a:ext cx="649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17%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4" name="テキスト ボックス 1">
              <a:extLst>
                <a:ext uri="{FF2B5EF4-FFF2-40B4-BE49-F238E27FC236}">
                  <a16:creationId xmlns:a16="http://schemas.microsoft.com/office/drawing/2014/main" id="{9EB456BA-14D2-335E-6705-08A0C2FE5C7B}"/>
                </a:ext>
              </a:extLst>
            </p:cNvPr>
            <p:cNvSpPr txBox="1"/>
            <p:nvPr/>
          </p:nvSpPr>
          <p:spPr>
            <a:xfrm>
              <a:off x="1654818" y="1973012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これまでの進捗</a:t>
              </a:r>
            </a:p>
          </p:txBody>
        </p:sp>
      </p:grpSp>
      <p:grpSp>
        <p:nvGrpSpPr>
          <p:cNvPr id="15" name="グループ化 33">
            <a:extLst>
              <a:ext uri="{FF2B5EF4-FFF2-40B4-BE49-F238E27FC236}">
                <a16:creationId xmlns:a16="http://schemas.microsoft.com/office/drawing/2014/main" id="{845B76EF-3046-742A-196A-DBD3FEDB1963}"/>
              </a:ext>
            </a:extLst>
          </p:cNvPr>
          <p:cNvGrpSpPr/>
          <p:nvPr/>
        </p:nvGrpSpPr>
        <p:grpSpPr>
          <a:xfrm>
            <a:off x="5929013" y="1274593"/>
            <a:ext cx="4704716" cy="4067806"/>
            <a:chOff x="5804523" y="1572416"/>
            <a:chExt cx="4704716" cy="4067806"/>
          </a:xfrm>
        </p:grpSpPr>
        <p:grpSp>
          <p:nvGrpSpPr>
            <p:cNvPr id="16" name="グループ化 32">
              <a:extLst>
                <a:ext uri="{FF2B5EF4-FFF2-40B4-BE49-F238E27FC236}">
                  <a16:creationId xmlns:a16="http://schemas.microsoft.com/office/drawing/2014/main" id="{8FBE7C77-88A7-4CC5-9B95-CE8421099E4E}"/>
                </a:ext>
              </a:extLst>
            </p:cNvPr>
            <p:cNvGrpSpPr/>
            <p:nvPr/>
          </p:nvGrpSpPr>
          <p:grpSpPr>
            <a:xfrm>
              <a:off x="5804523" y="1996597"/>
              <a:ext cx="4704716" cy="3643625"/>
              <a:chOff x="5804523" y="1996597"/>
              <a:chExt cx="4704716" cy="3643625"/>
            </a:xfrm>
          </p:grpSpPr>
          <p:sp>
            <p:nvSpPr>
              <p:cNvPr id="18" name="正方形/長方形 5">
                <a:extLst>
                  <a:ext uri="{FF2B5EF4-FFF2-40B4-BE49-F238E27FC236}">
                    <a16:creationId xmlns:a16="http://schemas.microsoft.com/office/drawing/2014/main" id="{740F8006-1FC5-99C9-F774-C9787F366156}"/>
                  </a:ext>
                </a:extLst>
              </p:cNvPr>
              <p:cNvSpPr/>
              <p:nvPr/>
            </p:nvSpPr>
            <p:spPr>
              <a:xfrm>
                <a:off x="6830103" y="2258860"/>
                <a:ext cx="3600000" cy="2880000"/>
              </a:xfrm>
              <a:prstGeom prst="rect">
                <a:avLst/>
              </a:prstGeom>
              <a:solidFill>
                <a:sysClr val="window" lastClr="FFFFFF">
                  <a:lumMod val="75000"/>
                </a:sysClr>
              </a:solidFill>
              <a:ln w="1270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9" name="正方形/長方形 25">
                <a:extLst>
                  <a:ext uri="{FF2B5EF4-FFF2-40B4-BE49-F238E27FC236}">
                    <a16:creationId xmlns:a16="http://schemas.microsoft.com/office/drawing/2014/main" id="{F1FAF814-055C-4310-ED1A-ABB20B81F691}"/>
                  </a:ext>
                </a:extLst>
              </p:cNvPr>
              <p:cNvSpPr/>
              <p:nvPr/>
            </p:nvSpPr>
            <p:spPr>
              <a:xfrm>
                <a:off x="6830103" y="2474859"/>
                <a:ext cx="3024000" cy="2664000"/>
              </a:xfrm>
              <a:prstGeom prst="rect">
                <a:avLst/>
              </a:prstGeom>
              <a:solidFill>
                <a:sysClr val="window" lastClr="FFFFFF">
                  <a:lumMod val="5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216000" tIns="36000" rtlCol="0" anchor="t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2023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CO</a:t>
                </a:r>
                <a:r>
                  <a:rPr kumimoji="1" lang="en-US" altLang="ja-JP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排出量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（</a:t>
                </a: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年比）</a:t>
                </a:r>
              </a:p>
            </p:txBody>
          </p:sp>
          <p:sp>
            <p:nvSpPr>
              <p:cNvPr id="20" name="矢印: 左 14">
                <a:extLst>
                  <a:ext uri="{FF2B5EF4-FFF2-40B4-BE49-F238E27FC236}">
                    <a16:creationId xmlns:a16="http://schemas.microsoft.com/office/drawing/2014/main" id="{B21AE115-8A08-A601-205C-A3DA6F27BAD7}"/>
                  </a:ext>
                </a:extLst>
              </p:cNvPr>
              <p:cNvSpPr/>
              <p:nvPr/>
            </p:nvSpPr>
            <p:spPr>
              <a:xfrm>
                <a:off x="9072577" y="4862352"/>
                <a:ext cx="763525" cy="254794"/>
              </a:xfrm>
              <a:prstGeom prst="left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1" name="矢印: 下 15">
                <a:extLst>
                  <a:ext uri="{FF2B5EF4-FFF2-40B4-BE49-F238E27FC236}">
                    <a16:creationId xmlns:a16="http://schemas.microsoft.com/office/drawing/2014/main" id="{65499BA7-CF7B-1D62-292A-BFE2E93E0E0B}"/>
                  </a:ext>
                </a:extLst>
              </p:cNvPr>
              <p:cNvSpPr/>
              <p:nvPr/>
            </p:nvSpPr>
            <p:spPr>
              <a:xfrm>
                <a:off x="6905625" y="2474858"/>
                <a:ext cx="266699" cy="1368000"/>
              </a:xfrm>
              <a:prstGeom prst="down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2" name="テキスト ボックス 16">
                <a:extLst>
                  <a:ext uri="{FF2B5EF4-FFF2-40B4-BE49-F238E27FC236}">
                    <a16:creationId xmlns:a16="http://schemas.microsoft.com/office/drawing/2014/main" id="{8D62E974-C80D-7A25-CA82-082BF914ED29}"/>
                  </a:ext>
                </a:extLst>
              </p:cNvPr>
              <p:cNvSpPr txBox="1"/>
              <p:nvPr/>
            </p:nvSpPr>
            <p:spPr>
              <a:xfrm>
                <a:off x="7122220" y="2914133"/>
                <a:ext cx="17235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電力脱炭素化・電化等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▲</a:t>
                </a:r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45%</a:t>
                </a:r>
                <a:endPara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4" name="テキスト ボックス 18">
                <a:extLst>
                  <a:ext uri="{FF2B5EF4-FFF2-40B4-BE49-F238E27FC236}">
                    <a16:creationId xmlns:a16="http://schemas.microsoft.com/office/drawing/2014/main" id="{21E78912-676B-94E8-1D5E-2DAED30A3416}"/>
                  </a:ext>
                </a:extLst>
              </p:cNvPr>
              <p:cNvSpPr txBox="1"/>
              <p:nvPr/>
            </p:nvSpPr>
            <p:spPr>
              <a:xfrm>
                <a:off x="7521195" y="5240112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エネルギー消費量</a:t>
                </a:r>
              </a:p>
            </p:txBody>
          </p:sp>
          <p:sp>
            <p:nvSpPr>
              <p:cNvPr id="25" name="テキスト ボックス 19">
                <a:extLst>
                  <a:ext uri="{FF2B5EF4-FFF2-40B4-BE49-F238E27FC236}">
                    <a16:creationId xmlns:a16="http://schemas.microsoft.com/office/drawing/2014/main" id="{050550B3-ECCA-695E-DE29-A7354DDF450F}"/>
                  </a:ext>
                </a:extLst>
              </p:cNvPr>
              <p:cNvSpPr txBox="1"/>
              <p:nvPr/>
            </p:nvSpPr>
            <p:spPr>
              <a:xfrm rot="16200000">
                <a:off x="5818405" y="3447612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排出原単位</a:t>
                </a:r>
                <a:endPara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6" name="テキスト ボックス 21">
                <a:extLst>
                  <a:ext uri="{FF2B5EF4-FFF2-40B4-BE49-F238E27FC236}">
                    <a16:creationId xmlns:a16="http://schemas.microsoft.com/office/drawing/2014/main" id="{D2BC38D6-304E-A787-CD2D-A45A829C75C5}"/>
                  </a:ext>
                </a:extLst>
              </p:cNvPr>
              <p:cNvSpPr txBox="1"/>
              <p:nvPr/>
            </p:nvSpPr>
            <p:spPr>
              <a:xfrm>
                <a:off x="9369183" y="1996597"/>
                <a:ext cx="11400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年排出量</a:t>
                </a:r>
              </a:p>
            </p:txBody>
          </p:sp>
          <p:sp>
            <p:nvSpPr>
              <p:cNvPr id="27" name="二等辺三角形 22">
                <a:extLst>
                  <a:ext uri="{FF2B5EF4-FFF2-40B4-BE49-F238E27FC236}">
                    <a16:creationId xmlns:a16="http://schemas.microsoft.com/office/drawing/2014/main" id="{FB3BABD8-9A18-FCCE-8CF0-556AD940794B}"/>
                  </a:ext>
                </a:extLst>
              </p:cNvPr>
              <p:cNvSpPr/>
              <p:nvPr/>
            </p:nvSpPr>
            <p:spPr>
              <a:xfrm rot="5400000">
                <a:off x="5639312" y="3555985"/>
                <a:ext cx="616172" cy="285750"/>
              </a:xfrm>
              <a:prstGeom prst="triangle">
                <a:avLst/>
              </a:prstGeom>
              <a:solidFill>
                <a:srgbClr val="70AD47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</p:grpSp>
        <p:sp>
          <p:nvSpPr>
            <p:cNvPr id="17" name="テキスト ボックス 26">
              <a:extLst>
                <a:ext uri="{FF2B5EF4-FFF2-40B4-BE49-F238E27FC236}">
                  <a16:creationId xmlns:a16="http://schemas.microsoft.com/office/drawing/2014/main" id="{591C1385-7714-B041-A984-D2D0D4DFA008}"/>
                </a:ext>
              </a:extLst>
            </p:cNvPr>
            <p:cNvSpPr txBox="1"/>
            <p:nvPr/>
          </p:nvSpPr>
          <p:spPr>
            <a:xfrm>
              <a:off x="7115395" y="1572416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2035</a:t>
              </a:r>
              <a:r>
                <a:rPr kumimoji="1" lang="ja-JP" altLang="en-US" sz="2000" b="1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年に向けた変化</a:t>
              </a:r>
              <a:endParaRPr kumimoji="1" lang="ja-JP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</p:grpSp>
      <p:sp>
        <p:nvSpPr>
          <p:cNvPr id="28" name="正方形/長方形 6">
            <a:extLst>
              <a:ext uri="{FF2B5EF4-FFF2-40B4-BE49-F238E27FC236}">
                <a16:creationId xmlns:a16="http://schemas.microsoft.com/office/drawing/2014/main" id="{342EF43C-4321-DF2B-372F-CCF412B27D80}"/>
              </a:ext>
            </a:extLst>
          </p:cNvPr>
          <p:cNvSpPr/>
          <p:nvPr/>
        </p:nvSpPr>
        <p:spPr>
          <a:xfrm>
            <a:off x="6953055" y="3547133"/>
            <a:ext cx="2242800" cy="12924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2035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▲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73%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（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2013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年比）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38BD28-81DD-CCF7-AF3A-233E51F23E5D}"/>
              </a:ext>
            </a:extLst>
          </p:cNvPr>
          <p:cNvSpPr txBox="1"/>
          <p:nvPr/>
        </p:nvSpPr>
        <p:spPr>
          <a:xfrm>
            <a:off x="6605742" y="5346860"/>
            <a:ext cx="2048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1.5℃ロードマップでの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CO</a:t>
            </a:r>
            <a:r>
              <a:rPr kumimoji="0" lang="en-JP" sz="1400" b="0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2</a:t>
            </a: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排出量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 </a:t>
            </a: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(2035年)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F74809-7C53-167E-8E9A-53C825D6657A}"/>
              </a:ext>
            </a:extLst>
          </p:cNvPr>
          <p:cNvCxnSpPr>
            <a:cxnSpLocks/>
          </p:cNvCxnSpPr>
          <p:nvPr/>
        </p:nvCxnSpPr>
        <p:spPr>
          <a:xfrm flipH="1">
            <a:off x="6913149" y="4434214"/>
            <a:ext cx="251739" cy="92409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7">
            <a:extLst>
              <a:ext uri="{FF2B5EF4-FFF2-40B4-BE49-F238E27FC236}">
                <a16:creationId xmlns:a16="http://schemas.microsoft.com/office/drawing/2014/main" id="{34775F61-DDAD-E514-FA09-055D826733AB}"/>
              </a:ext>
            </a:extLst>
          </p:cNvPr>
          <p:cNvSpPr txBox="1"/>
          <p:nvPr/>
        </p:nvSpPr>
        <p:spPr>
          <a:xfrm>
            <a:off x="8878883" y="3947789"/>
            <a:ext cx="1784463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エネルギー利用効率化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（</a:t>
            </a: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DX</a:t>
            </a: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・電化・省エネ等）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▲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21%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30" name="テキスト ボックス 1">
            <a:extLst>
              <a:ext uri="{FF2B5EF4-FFF2-40B4-BE49-F238E27FC236}">
                <a16:creationId xmlns:a16="http://schemas.microsoft.com/office/drawing/2014/main" id="{D4D525D8-8801-5C3F-68AD-AC3EE92AC211}"/>
              </a:ext>
            </a:extLst>
          </p:cNvPr>
          <p:cNvSpPr txBox="1"/>
          <p:nvPr/>
        </p:nvSpPr>
        <p:spPr>
          <a:xfrm>
            <a:off x="1677429" y="704840"/>
            <a:ext cx="3048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>
                <a:solidFill>
                  <a:prstClr val="black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エネルギー起源</a:t>
            </a:r>
            <a:r>
              <a:rPr kumimoji="1" lang="en-US" altLang="ja-JP" sz="1600" dirty="0">
                <a:solidFill>
                  <a:prstClr val="black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CO</a:t>
            </a:r>
            <a:r>
              <a:rPr kumimoji="1" lang="en-US" altLang="ja-JP" sz="1600" baseline="-25000" dirty="0">
                <a:solidFill>
                  <a:prstClr val="black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354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4A3E8E-E47F-9E6B-90EA-E26C456972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ja-JP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2</a:t>
            </a:fld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147C3E11-E6E5-7298-CE60-E909BCFD5519}"/>
              </a:ext>
            </a:extLst>
          </p:cNvPr>
          <p:cNvGrpSpPr/>
          <p:nvPr/>
        </p:nvGrpSpPr>
        <p:grpSpPr>
          <a:xfrm>
            <a:off x="1192066" y="1973012"/>
            <a:ext cx="4074808" cy="4067806"/>
            <a:chOff x="1192066" y="1973012"/>
            <a:chExt cx="4074808" cy="4067806"/>
          </a:xfrm>
        </p:grpSpPr>
        <p:sp>
          <p:nvSpPr>
            <p:cNvPr id="5" name="正方形/長方形 3">
              <a:extLst>
                <a:ext uri="{FF2B5EF4-FFF2-40B4-BE49-F238E27FC236}">
                  <a16:creationId xmlns:a16="http://schemas.microsoft.com/office/drawing/2014/main" id="{E28264D6-19E3-177C-C425-A60F60395B39}"/>
                </a:ext>
              </a:extLst>
            </p:cNvPr>
            <p:cNvSpPr/>
            <p:nvPr/>
          </p:nvSpPr>
          <p:spPr>
            <a:xfrm>
              <a:off x="1666874" y="2659456"/>
              <a:ext cx="3600000" cy="288000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6" name="正方形/長方形 7">
              <a:extLst>
                <a:ext uri="{FF2B5EF4-FFF2-40B4-BE49-F238E27FC236}">
                  <a16:creationId xmlns:a16="http://schemas.microsoft.com/office/drawing/2014/main" id="{3337D02A-A80E-9832-2BCB-222A1AEEEB73}"/>
                </a:ext>
              </a:extLst>
            </p:cNvPr>
            <p:cNvSpPr/>
            <p:nvPr/>
          </p:nvSpPr>
          <p:spPr>
            <a:xfrm>
              <a:off x="1666874" y="2941558"/>
              <a:ext cx="2984400" cy="2584800"/>
            </a:xfrm>
            <a:prstGeom prst="rect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2023</a:t>
              </a: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CO2</a:t>
              </a: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排出量</a:t>
              </a:r>
              <a:endPara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25%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（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年比）</a:t>
              </a:r>
            </a:p>
          </p:txBody>
        </p:sp>
        <p:sp>
          <p:nvSpPr>
            <p:cNvPr id="8" name="テキスト ボックス 8">
              <a:extLst>
                <a:ext uri="{FF2B5EF4-FFF2-40B4-BE49-F238E27FC236}">
                  <a16:creationId xmlns:a16="http://schemas.microsoft.com/office/drawing/2014/main" id="{7D678FCB-ACE8-E67A-EC39-CE1BCB1284B0}"/>
                </a:ext>
              </a:extLst>
            </p:cNvPr>
            <p:cNvSpPr txBox="1"/>
            <p:nvPr/>
          </p:nvSpPr>
          <p:spPr>
            <a:xfrm>
              <a:off x="2310689" y="5640708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エネルギー消費量</a:t>
              </a:r>
            </a:p>
          </p:txBody>
        </p:sp>
        <p:sp>
          <p:nvSpPr>
            <p:cNvPr id="9" name="テキスト ボックス 9">
              <a:extLst>
                <a:ext uri="{FF2B5EF4-FFF2-40B4-BE49-F238E27FC236}">
                  <a16:creationId xmlns:a16="http://schemas.microsoft.com/office/drawing/2014/main" id="{222D3D90-F90F-2F6C-3EAD-281974300C53}"/>
                </a:ext>
              </a:extLst>
            </p:cNvPr>
            <p:cNvSpPr txBox="1"/>
            <p:nvPr/>
          </p:nvSpPr>
          <p:spPr>
            <a:xfrm rot="16200000">
              <a:off x="658587" y="3899401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排出原単位</a:t>
              </a:r>
            </a:p>
          </p:txBody>
        </p:sp>
        <p:sp>
          <p:nvSpPr>
            <p:cNvPr id="10" name="矢印: 下 12">
              <a:extLst>
                <a:ext uri="{FF2B5EF4-FFF2-40B4-BE49-F238E27FC236}">
                  <a16:creationId xmlns:a16="http://schemas.microsoft.com/office/drawing/2014/main" id="{A3DC0580-311D-2504-72AF-0CC649927DB7}"/>
                </a:ext>
              </a:extLst>
            </p:cNvPr>
            <p:cNvSpPr/>
            <p:nvPr/>
          </p:nvSpPr>
          <p:spPr>
            <a:xfrm>
              <a:off x="1833180" y="2667707"/>
              <a:ext cx="138500" cy="252000"/>
            </a:xfrm>
            <a:prstGeom prst="down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1" name="テキスト ボックス 13">
              <a:extLst>
                <a:ext uri="{FF2B5EF4-FFF2-40B4-BE49-F238E27FC236}">
                  <a16:creationId xmlns:a16="http://schemas.microsoft.com/office/drawing/2014/main" id="{ACB41339-EFD1-8F87-85B8-2A80888DD424}"/>
                </a:ext>
              </a:extLst>
            </p:cNvPr>
            <p:cNvSpPr txBox="1"/>
            <p:nvPr/>
          </p:nvSpPr>
          <p:spPr>
            <a:xfrm>
              <a:off x="1971564" y="2622683"/>
              <a:ext cx="649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10%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8" name="テキスト ボックス 20">
              <a:extLst>
                <a:ext uri="{FF2B5EF4-FFF2-40B4-BE49-F238E27FC236}">
                  <a16:creationId xmlns:a16="http://schemas.microsoft.com/office/drawing/2014/main" id="{7DE99B40-B207-D075-89E8-62EE7214AADD}"/>
                </a:ext>
              </a:extLst>
            </p:cNvPr>
            <p:cNvSpPr txBox="1"/>
            <p:nvPr/>
          </p:nvSpPr>
          <p:spPr>
            <a:xfrm>
              <a:off x="4081836" y="2387231"/>
              <a:ext cx="1140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年排出量</a:t>
              </a:r>
            </a:p>
          </p:txBody>
        </p:sp>
        <p:sp>
          <p:nvSpPr>
            <p:cNvPr id="21" name="矢印: 左 23">
              <a:extLst>
                <a:ext uri="{FF2B5EF4-FFF2-40B4-BE49-F238E27FC236}">
                  <a16:creationId xmlns:a16="http://schemas.microsoft.com/office/drawing/2014/main" id="{992DDFE7-04D7-ECFF-2E46-17F4F9558CBC}"/>
                </a:ext>
              </a:extLst>
            </p:cNvPr>
            <p:cNvSpPr/>
            <p:nvPr/>
          </p:nvSpPr>
          <p:spPr>
            <a:xfrm>
              <a:off x="4653296" y="5212531"/>
              <a:ext cx="612000" cy="180600"/>
            </a:xfrm>
            <a:prstGeom prst="left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22" name="テキスト ボックス 24">
              <a:extLst>
                <a:ext uri="{FF2B5EF4-FFF2-40B4-BE49-F238E27FC236}">
                  <a16:creationId xmlns:a16="http://schemas.microsoft.com/office/drawing/2014/main" id="{FD49275E-CC94-6167-695F-3BA440573B13}"/>
                </a:ext>
              </a:extLst>
            </p:cNvPr>
            <p:cNvSpPr txBox="1"/>
            <p:nvPr/>
          </p:nvSpPr>
          <p:spPr>
            <a:xfrm>
              <a:off x="4562440" y="4952906"/>
              <a:ext cx="649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17%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23" name="テキスト ボックス 1">
              <a:extLst>
                <a:ext uri="{FF2B5EF4-FFF2-40B4-BE49-F238E27FC236}">
                  <a16:creationId xmlns:a16="http://schemas.microsoft.com/office/drawing/2014/main" id="{CA3F5CFF-B645-217E-721B-211E17A7E536}"/>
                </a:ext>
              </a:extLst>
            </p:cNvPr>
            <p:cNvSpPr txBox="1"/>
            <p:nvPr/>
          </p:nvSpPr>
          <p:spPr>
            <a:xfrm>
              <a:off x="1654818" y="1973012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これまでの進捗</a:t>
              </a: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0728236-4225-49BE-8865-7BED83856288}"/>
              </a:ext>
            </a:extLst>
          </p:cNvPr>
          <p:cNvGrpSpPr/>
          <p:nvPr/>
        </p:nvGrpSpPr>
        <p:grpSpPr>
          <a:xfrm>
            <a:off x="5895963" y="1968656"/>
            <a:ext cx="4890330" cy="4067806"/>
            <a:chOff x="5804523" y="1572416"/>
            <a:chExt cx="4890330" cy="4067806"/>
          </a:xfrm>
        </p:grpSpPr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DBE157E6-644F-5FEC-CBF7-77A1D6C01C6C}"/>
                </a:ext>
              </a:extLst>
            </p:cNvPr>
            <p:cNvGrpSpPr/>
            <p:nvPr/>
          </p:nvGrpSpPr>
          <p:grpSpPr>
            <a:xfrm>
              <a:off x="5804523" y="1996597"/>
              <a:ext cx="4890330" cy="3643625"/>
              <a:chOff x="5804523" y="1996597"/>
              <a:chExt cx="4890330" cy="3643625"/>
            </a:xfrm>
          </p:grpSpPr>
          <p:sp>
            <p:nvSpPr>
              <p:cNvPr id="3" name="正方形/長方形 5">
                <a:extLst>
                  <a:ext uri="{FF2B5EF4-FFF2-40B4-BE49-F238E27FC236}">
                    <a16:creationId xmlns:a16="http://schemas.microsoft.com/office/drawing/2014/main" id="{979357AF-7CC6-AA7F-022B-7CD5640EB923}"/>
                  </a:ext>
                </a:extLst>
              </p:cNvPr>
              <p:cNvSpPr/>
              <p:nvPr/>
            </p:nvSpPr>
            <p:spPr>
              <a:xfrm>
                <a:off x="6830103" y="2258860"/>
                <a:ext cx="3600000" cy="2880000"/>
              </a:xfrm>
              <a:prstGeom prst="rect">
                <a:avLst/>
              </a:prstGeom>
              <a:solidFill>
                <a:sysClr val="window" lastClr="FFFFFF">
                  <a:lumMod val="75000"/>
                </a:sysClr>
              </a:solidFill>
              <a:ln w="1270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4" name="正方形/長方形 25">
                <a:extLst>
                  <a:ext uri="{FF2B5EF4-FFF2-40B4-BE49-F238E27FC236}">
                    <a16:creationId xmlns:a16="http://schemas.microsoft.com/office/drawing/2014/main" id="{6DCB5FF0-B426-6EF8-23A5-6FBE49E47376}"/>
                  </a:ext>
                </a:extLst>
              </p:cNvPr>
              <p:cNvSpPr/>
              <p:nvPr/>
            </p:nvSpPr>
            <p:spPr>
              <a:xfrm>
                <a:off x="6830103" y="2537489"/>
                <a:ext cx="2984400" cy="2584800"/>
              </a:xfrm>
              <a:prstGeom prst="rect">
                <a:avLst/>
              </a:prstGeom>
              <a:solidFill>
                <a:sysClr val="window" lastClr="FFFFFF">
                  <a:lumMod val="5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216000" tIns="36000" rtlCol="0" anchor="t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2023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CO2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排出量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（</a:t>
                </a: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年比）</a:t>
                </a:r>
              </a:p>
            </p:txBody>
          </p:sp>
          <p:sp>
            <p:nvSpPr>
              <p:cNvPr id="12" name="矢印: 左 14">
                <a:extLst>
                  <a:ext uri="{FF2B5EF4-FFF2-40B4-BE49-F238E27FC236}">
                    <a16:creationId xmlns:a16="http://schemas.microsoft.com/office/drawing/2014/main" id="{88DDDCC3-8B13-99AA-42EE-BFDC9BE3D259}"/>
                  </a:ext>
                </a:extLst>
              </p:cNvPr>
              <p:cNvSpPr/>
              <p:nvPr/>
            </p:nvSpPr>
            <p:spPr>
              <a:xfrm>
                <a:off x="9051993" y="4862352"/>
                <a:ext cx="756000" cy="254794"/>
              </a:xfrm>
              <a:prstGeom prst="left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3" name="矢印: 下 15">
                <a:extLst>
                  <a:ext uri="{FF2B5EF4-FFF2-40B4-BE49-F238E27FC236}">
                    <a16:creationId xmlns:a16="http://schemas.microsoft.com/office/drawing/2014/main" id="{C3781AA7-F81C-B62B-502F-928B01C831A1}"/>
                  </a:ext>
                </a:extLst>
              </p:cNvPr>
              <p:cNvSpPr/>
              <p:nvPr/>
            </p:nvSpPr>
            <p:spPr>
              <a:xfrm>
                <a:off x="6918151" y="2550014"/>
                <a:ext cx="266699" cy="1260000"/>
              </a:xfrm>
              <a:prstGeom prst="down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4" name="テキスト ボックス 16">
                <a:extLst>
                  <a:ext uri="{FF2B5EF4-FFF2-40B4-BE49-F238E27FC236}">
                    <a16:creationId xmlns:a16="http://schemas.microsoft.com/office/drawing/2014/main" id="{65C8899A-BCFC-99E8-391D-504714783CAD}"/>
                  </a:ext>
                </a:extLst>
              </p:cNvPr>
              <p:cNvSpPr txBox="1"/>
              <p:nvPr/>
            </p:nvSpPr>
            <p:spPr>
              <a:xfrm>
                <a:off x="7172324" y="3114549"/>
                <a:ext cx="17235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電力脱炭素化・電化等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▲</a:t>
                </a:r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45%</a:t>
                </a:r>
                <a:endPara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6" name="テキスト ボックス 18">
                <a:extLst>
                  <a:ext uri="{FF2B5EF4-FFF2-40B4-BE49-F238E27FC236}">
                    <a16:creationId xmlns:a16="http://schemas.microsoft.com/office/drawing/2014/main" id="{067F935C-5324-2A49-27DB-0D515E6AD6D3}"/>
                  </a:ext>
                </a:extLst>
              </p:cNvPr>
              <p:cNvSpPr txBox="1"/>
              <p:nvPr/>
            </p:nvSpPr>
            <p:spPr>
              <a:xfrm>
                <a:off x="7521195" y="5240112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エネルギー消費量</a:t>
                </a:r>
              </a:p>
            </p:txBody>
          </p:sp>
          <p:sp>
            <p:nvSpPr>
              <p:cNvPr id="17" name="テキスト ボックス 19">
                <a:extLst>
                  <a:ext uri="{FF2B5EF4-FFF2-40B4-BE49-F238E27FC236}">
                    <a16:creationId xmlns:a16="http://schemas.microsoft.com/office/drawing/2014/main" id="{7994BFA0-FA43-5854-AABA-5FFAE75A6E6C}"/>
                  </a:ext>
                </a:extLst>
              </p:cNvPr>
              <p:cNvSpPr txBox="1"/>
              <p:nvPr/>
            </p:nvSpPr>
            <p:spPr>
              <a:xfrm rot="16200000">
                <a:off x="5818405" y="3447612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排出原単位</a:t>
                </a:r>
                <a:endPara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9" name="テキスト ボックス 21">
                <a:extLst>
                  <a:ext uri="{FF2B5EF4-FFF2-40B4-BE49-F238E27FC236}">
                    <a16:creationId xmlns:a16="http://schemas.microsoft.com/office/drawing/2014/main" id="{F30166AF-A6C1-33F0-4311-A7A389A33883}"/>
                  </a:ext>
                </a:extLst>
              </p:cNvPr>
              <p:cNvSpPr txBox="1"/>
              <p:nvPr/>
            </p:nvSpPr>
            <p:spPr>
              <a:xfrm>
                <a:off x="9369183" y="1996597"/>
                <a:ext cx="11400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年排出量</a:t>
                </a:r>
              </a:p>
            </p:txBody>
          </p:sp>
          <p:sp>
            <p:nvSpPr>
              <p:cNvPr id="20" name="二等辺三角形 22">
                <a:extLst>
                  <a:ext uri="{FF2B5EF4-FFF2-40B4-BE49-F238E27FC236}">
                    <a16:creationId xmlns:a16="http://schemas.microsoft.com/office/drawing/2014/main" id="{1E936DA7-1224-1DBB-276E-998DBC128BBE}"/>
                  </a:ext>
                </a:extLst>
              </p:cNvPr>
              <p:cNvSpPr/>
              <p:nvPr/>
            </p:nvSpPr>
            <p:spPr>
              <a:xfrm rot="5400000">
                <a:off x="5639312" y="3555985"/>
                <a:ext cx="616172" cy="285750"/>
              </a:xfrm>
              <a:prstGeom prst="triangle">
                <a:avLst/>
              </a:prstGeom>
              <a:solidFill>
                <a:srgbClr val="70AD47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5" name="テキスト ボックス 17">
                <a:extLst>
                  <a:ext uri="{FF2B5EF4-FFF2-40B4-BE49-F238E27FC236}">
                    <a16:creationId xmlns:a16="http://schemas.microsoft.com/office/drawing/2014/main" id="{24AD2F20-10D2-E1DC-841C-EF39E894F62B}"/>
                  </a:ext>
                </a:extLst>
              </p:cNvPr>
              <p:cNvSpPr txBox="1"/>
              <p:nvPr/>
            </p:nvSpPr>
            <p:spPr>
              <a:xfrm>
                <a:off x="8910390" y="4033546"/>
                <a:ext cx="1784463" cy="8463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エネルギー利用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効率化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（</a:t>
                </a:r>
                <a:r>
                  <a:rPr kumimoji="1" lang="en-US" altLang="ja-JP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DX</a:t>
                </a:r>
                <a:r>
                  <a:rPr kumimoji="1" lang="ja-JP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・電化・省エネ等）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▲</a:t>
                </a:r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21%</a:t>
                </a:r>
                <a:endPara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</p:grpSp>
        <p:sp>
          <p:nvSpPr>
            <p:cNvPr id="24" name="テキスト ボックス 26">
              <a:extLst>
                <a:ext uri="{FF2B5EF4-FFF2-40B4-BE49-F238E27FC236}">
                  <a16:creationId xmlns:a16="http://schemas.microsoft.com/office/drawing/2014/main" id="{76C16EF7-F3E0-A13B-B05C-E471E8323FF2}"/>
                </a:ext>
              </a:extLst>
            </p:cNvPr>
            <p:cNvSpPr txBox="1"/>
            <p:nvPr/>
          </p:nvSpPr>
          <p:spPr>
            <a:xfrm>
              <a:off x="7115395" y="1572416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2035</a:t>
              </a:r>
              <a:r>
                <a:rPr kumimoji="1" lang="ja-JP" altLang="en-US" sz="2000" b="1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年に向けた変化</a:t>
              </a:r>
              <a:endParaRPr kumimoji="1" lang="ja-JP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</p:grpSp>
      <p:sp>
        <p:nvSpPr>
          <p:cNvPr id="26" name="Google Shape;162;g2c616aa2893_2_25">
            <a:extLst>
              <a:ext uri="{FF2B5EF4-FFF2-40B4-BE49-F238E27FC236}">
                <a16:creationId xmlns:a16="http://schemas.microsoft.com/office/drawing/2014/main" id="{AE8B7068-86ED-EFF0-F899-71A10B6F9734}"/>
              </a:ext>
            </a:extLst>
          </p:cNvPr>
          <p:cNvSpPr txBox="1"/>
          <p:nvPr/>
        </p:nvSpPr>
        <p:spPr>
          <a:xfrm>
            <a:off x="786785" y="290447"/>
            <a:ext cx="10606975" cy="96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5D6D"/>
              </a:buClr>
              <a:buSzPts val="3200"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排出削減の考え方：</a:t>
            </a:r>
            <a:endParaRPr kumimoji="0" lang="en-US" altLang="ja-JP" sz="2800" b="1" i="0" u="none" strike="noStrike" kern="0" cap="none" spc="0" normalizeH="0" baseline="0" noProof="0" dirty="0">
              <a:ln>
                <a:noFill/>
              </a:ln>
              <a:solidFill>
                <a:srgbClr val="245D6D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5D6D"/>
              </a:buClr>
              <a:buSzPts val="3200"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「エネルギー利用効率化」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 × 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「エネルギー転換」</a:t>
            </a:r>
            <a:endParaRPr kumimoji="0" lang="ja-JP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40E2A96-2D23-6311-0754-46118DE2F56C}"/>
              </a:ext>
            </a:extLst>
          </p:cNvPr>
          <p:cNvSpPr txBox="1"/>
          <p:nvPr/>
        </p:nvSpPr>
        <p:spPr>
          <a:xfrm>
            <a:off x="2766725" y="1056601"/>
            <a:ext cx="4130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(</a:t>
            </a:r>
            <a:r>
              <a:rPr kumimoji="0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エネルギー消費量の削減）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BB5261-8428-60AB-3907-C0EA3DB3D59D}"/>
              </a:ext>
            </a:extLst>
          </p:cNvPr>
          <p:cNvSpPr txBox="1"/>
          <p:nvPr/>
        </p:nvSpPr>
        <p:spPr>
          <a:xfrm>
            <a:off x="7309407" y="1045256"/>
            <a:ext cx="2610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(</a:t>
            </a:r>
            <a:r>
              <a:rPr kumimoji="0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排出原単位の削減</a:t>
            </a:r>
            <a:r>
              <a:rPr kumimoji="0" lang="en-US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613EE1F-ED58-707D-C9FB-C8AEF79286EB}"/>
              </a:ext>
            </a:extLst>
          </p:cNvPr>
          <p:cNvSpPr/>
          <p:nvPr/>
        </p:nvSpPr>
        <p:spPr>
          <a:xfrm>
            <a:off x="6920005" y="4264288"/>
            <a:ext cx="2242800" cy="12924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2035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▲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73%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（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2013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年比）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108080-44E6-D73D-A198-8764E97FD979}"/>
              </a:ext>
            </a:extLst>
          </p:cNvPr>
          <p:cNvSpPr txBox="1"/>
          <p:nvPr/>
        </p:nvSpPr>
        <p:spPr>
          <a:xfrm>
            <a:off x="6288065" y="6073973"/>
            <a:ext cx="5222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(1.5℃ロードマップでのエネルギー消費量と排出源単位の変化)</a:t>
            </a:r>
          </a:p>
        </p:txBody>
      </p:sp>
    </p:spTree>
    <p:extLst>
      <p:ext uri="{BB962C8B-B14F-4D97-AF65-F5344CB8AC3E}">
        <p14:creationId xmlns:p14="http://schemas.microsoft.com/office/powerpoint/2010/main" val="420972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209</Words>
  <Application>Microsoft Macintosh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 JP</vt:lpstr>
      <vt:lpstr>Aptos</vt:lpstr>
      <vt:lpstr>Aptos Display</vt:lpstr>
      <vt:lpstr>Arial</vt:lpstr>
      <vt:lpstr>Office Theme</vt:lpstr>
      <vt:lpstr>blank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ikuru iwata</dc:creator>
  <cp:lastModifiedBy>ikuru iwata</cp:lastModifiedBy>
  <cp:revision>5</cp:revision>
  <dcterms:created xsi:type="dcterms:W3CDTF">2026-06-10T04:40:57Z</dcterms:created>
  <dcterms:modified xsi:type="dcterms:W3CDTF">2026-07-30T05:52:28Z</dcterms:modified>
</cp:coreProperties>
</file>