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sldIdLst>
    <p:sldId id="256" r:id="rId3"/>
    <p:sldId id="319" r:id="rId4"/>
  </p:sldIdLst>
  <p:sldSz cx="12192000" cy="6858000"/>
  <p:notesSz cx="6858000" cy="9144000"/>
  <p:defaultTextStyle>
    <a:defPPr>
      <a:defRPr lang="en-JP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0AD4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 showGuides="1">
      <p:cViewPr varScale="1">
        <p:scale>
          <a:sx n="102" d="100"/>
          <a:sy n="102" d="100"/>
        </p:scale>
        <p:origin x="192" y="4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E61A42-4027-04D9-EAB9-E963B17488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FFC89D-4FF7-7955-2CC9-E4D06F62FB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J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D6D684-0916-DDF4-343C-366F5A6CBF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6535B5-85CD-4F44-B8B1-CA03F67BE221}" type="datetimeFigureOut">
              <a:rPr lang="en-JP" smtClean="0"/>
              <a:t>2026/06/10</a:t>
            </a:fld>
            <a:endParaRPr lang="en-J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D51DA5-3C4D-062B-0B0B-55843C7A2D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F56516-A381-B9F8-21FC-037A5C0284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5687D-61A8-834E-8AE6-A8F80EE1189B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40425700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6F2E0-F574-AFC5-76F6-0BEA80F33A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8E91E1-A093-066B-BC12-85F5F7734D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4758A9-F677-887D-A12A-005B859418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6535B5-85CD-4F44-B8B1-CA03F67BE221}" type="datetimeFigureOut">
              <a:rPr lang="en-JP" smtClean="0"/>
              <a:t>2026/06/10</a:t>
            </a:fld>
            <a:endParaRPr lang="en-J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3E62D5-20A5-2899-1CE5-DB08E963E6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2CEFB2-3F72-8077-B79E-2A58964A0B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5687D-61A8-834E-8AE6-A8F80EE1189B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163019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F75CAB-F8BC-D6E8-7A4E-8C48F1AA27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4D1471-EED7-AF42-1E96-32007EC8D8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9D9877-C225-EE89-B319-E2CC6907C5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6535B5-85CD-4F44-B8B1-CA03F67BE221}" type="datetimeFigureOut">
              <a:rPr lang="en-JP" smtClean="0"/>
              <a:t>2026/06/10</a:t>
            </a:fld>
            <a:endParaRPr lang="en-J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361E5B-3DE6-2839-04C8-78ECEDD536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FB5008-8205-3894-17F7-360FACA8B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5687D-61A8-834E-8AE6-A8F80EE1189B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12425220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713ED2-48F8-7901-49F9-B4BC99373C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1C239A-D849-A21A-0EF9-2757A1A6D1E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7AFD5A-CF82-E4DB-AD1E-F339FA0977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91CE77-2F52-284D-C60B-D551D28C33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6535B5-85CD-4F44-B8B1-CA03F67BE221}" type="datetimeFigureOut">
              <a:rPr lang="en-JP" smtClean="0"/>
              <a:t>2026/06/10</a:t>
            </a:fld>
            <a:endParaRPr lang="en-JP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C2B1B0-9CAD-E071-B13E-E0A6A386C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273B2A-4026-9EEF-4187-9C51F272C0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5687D-61A8-834E-8AE6-A8F80EE1189B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29351441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92B329-0E40-5595-0D64-165CDE03C6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519C99-101C-1B48-5867-D1B4F9A135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1118DF-6CAC-7677-9981-BADAD54E22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BB4B01-1504-956B-7C5A-DC8E29AB2A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0A8D575-97BF-FAC8-280F-5D18F0830C7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09815AC-248B-6572-90EC-CA3A94C659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6535B5-85CD-4F44-B8B1-CA03F67BE221}" type="datetimeFigureOut">
              <a:rPr lang="en-JP" smtClean="0"/>
              <a:t>2026/06/10</a:t>
            </a:fld>
            <a:endParaRPr lang="en-JP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02223E9-D382-79B2-AD3B-33A1B09B7F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8A7B445-86BB-8DD2-CCBA-19B814F3C6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5687D-61A8-834E-8AE6-A8F80EE1189B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1846579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5C3613-C63B-8329-6BFC-58ECE12AC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744FF2-CE65-51A9-B323-1D0693A5D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6535B5-85CD-4F44-B8B1-CA03F67BE221}" type="datetimeFigureOut">
              <a:rPr lang="en-JP" smtClean="0"/>
              <a:t>2026/06/10</a:t>
            </a:fld>
            <a:endParaRPr lang="en-JP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E72003-7D7F-FB13-355C-CF845F6353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33B20F-2FC0-A55F-CE6D-A49A28454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5687D-61A8-834E-8AE6-A8F80EE1189B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4215988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7ABE124-22A7-A378-4DAA-CEA5395BE6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6535B5-85CD-4F44-B8B1-CA03F67BE221}" type="datetimeFigureOut">
              <a:rPr lang="en-JP" smtClean="0"/>
              <a:t>2026/06/10</a:t>
            </a:fld>
            <a:endParaRPr lang="en-JP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464655F-0290-9FD2-F1F9-2F53048CF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408C8C-313B-561D-CED0-804247A53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5687D-61A8-834E-8AE6-A8F80EE1189B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24448266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E74E83-F336-35FA-B62F-A2F20F8837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174B3F-5DAA-9DB3-E9C1-897082C6A9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B42A5A-E37C-F07E-FBFB-B888A9C627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9FC2E6-AFFC-9131-8789-CA512FB792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6535B5-85CD-4F44-B8B1-CA03F67BE221}" type="datetimeFigureOut">
              <a:rPr lang="en-JP" smtClean="0"/>
              <a:t>2026/06/10</a:t>
            </a:fld>
            <a:endParaRPr lang="en-JP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5B6ED4-9590-EA1F-0691-471985F11C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EEC8F1-925D-947C-3DE2-24127D391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5687D-61A8-834E-8AE6-A8F80EE1189B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41646691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8CB10E-848E-9336-5B94-BC0F350DED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97533B7-1876-A4BD-8447-325705C567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JP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26C86A-C3CC-8D58-8075-32F2B7D3A4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A8418C-54D7-F303-F2F8-F7A69EB44C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6535B5-85CD-4F44-B8B1-CA03F67BE221}" type="datetimeFigureOut">
              <a:rPr lang="en-JP" smtClean="0"/>
              <a:t>2026/06/10</a:t>
            </a:fld>
            <a:endParaRPr lang="en-JP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ED5198-EBB4-82EE-1299-F0881152E9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147C38-6E14-0E9D-5696-D5D765D07B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5687D-61A8-834E-8AE6-A8F80EE1189B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8459312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4C0E06-32E5-973C-F181-EDC17B6348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0DA287-08EC-E897-45BF-3D139BBA0A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E5D66F-0C53-4C59-4C47-DD42E129FE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6535B5-85CD-4F44-B8B1-CA03F67BE221}" type="datetimeFigureOut">
              <a:rPr lang="en-JP" smtClean="0"/>
              <a:t>2026/06/10</a:t>
            </a:fld>
            <a:endParaRPr lang="en-J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7C6F26-09BB-3DB9-5AB4-EA7E8EF200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BD17B5-E6C3-38FE-A5CF-7F41A17DA0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5687D-61A8-834E-8AE6-A8F80EE1189B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4559175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41983B4-9B5C-2147-9A8E-AE977E102FC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D95DC6-09FB-35F2-007D-20742F9B87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11B9D0-3A73-B930-6047-2E28ED3F27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6535B5-85CD-4F44-B8B1-CA03F67BE221}" type="datetimeFigureOut">
              <a:rPr lang="en-JP" smtClean="0"/>
              <a:t>2026/06/10</a:t>
            </a:fld>
            <a:endParaRPr lang="en-J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6600BF-60FD-92EF-C754-65B92D0F02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7847E8-1804-ECC1-D064-DE98A4921D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5687D-61A8-834E-8AE6-A8F80EE1189B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29659505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白紙" preserve="1" userDrawn="1">
  <p:cSld name="白紙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3"/>
          <p:cNvSpPr txBox="1">
            <a:spLocks noGrp="1"/>
          </p:cNvSpPr>
          <p:nvPr>
            <p:ph type="sldNum" idx="12"/>
          </p:nvPr>
        </p:nvSpPr>
        <p:spPr>
          <a:xfrm>
            <a:off x="9180613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626468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325">
          <p15:clr>
            <a:srgbClr val="FBAE40"/>
          </p15:clr>
        </p15:guide>
        <p15:guide id="4" pos="7355">
          <p15:clr>
            <a:srgbClr val="FBAE40"/>
          </p15:clr>
        </p15:guide>
        <p15:guide id="5" orient="horz" pos="300">
          <p15:clr>
            <a:srgbClr val="FBAE40"/>
          </p15:clr>
        </p15:guide>
        <p15:guide id="6" orient="horz" pos="402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9CC47B1-F58D-C47D-DD01-A16A79720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17117E-543C-74E9-D5F8-7FD1F1D9AF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CC64DB-4D6F-EB59-72AC-BEB3BEE967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06535B5-85CD-4F44-B8B1-CA03F67BE221}" type="datetimeFigureOut">
              <a:rPr lang="en-JP" smtClean="0"/>
              <a:t>2026/06/10</a:t>
            </a:fld>
            <a:endParaRPr lang="en-J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F4341B-4B28-F73D-6D6E-8ABB4AD3B1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J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4F5628-9048-6677-5F6C-469D28F783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75687D-61A8-834E-8AE6-A8F80EE1189B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16524066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JP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ja-JP" noProof="0"/>
          </a:p>
        </p:txBody>
      </p:sp>
      <p:sp>
        <p:nvSpPr>
          <p:cNvPr id="12" name="Google Shape;12;p2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ja-JP" noProof="0"/>
          </a:p>
        </p:txBody>
      </p:sp>
      <p:sp>
        <p:nvSpPr>
          <p:cNvPr id="13" name="Google Shape;13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" name="Google Shape;15;p22"/>
          <p:cNvSpPr txBox="1">
            <a:spLocks noGrp="1"/>
          </p:cNvSpPr>
          <p:nvPr>
            <p:ph type="sldNum" idx="12"/>
          </p:nvPr>
        </p:nvSpPr>
        <p:spPr>
          <a:xfrm>
            <a:off x="9239989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31839894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Noto Sans JP" panose="020B0200000000000000" pitchFamily="34" charset="-128"/>
          <a:ea typeface="Noto Sans JP" panose="020B0200000000000000" pitchFamily="34" charset="-128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Noto Sans JP" panose="020B0200000000000000" pitchFamily="34" charset="-128"/>
          <a:ea typeface="Noto Sans JP" panose="020B0200000000000000" pitchFamily="34" charset="-128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グループ化 31">
            <a:extLst>
              <a:ext uri="{FF2B5EF4-FFF2-40B4-BE49-F238E27FC236}">
                <a16:creationId xmlns:a16="http://schemas.microsoft.com/office/drawing/2014/main" id="{B4815C6D-1B16-499B-2102-C6788064A2E9}"/>
              </a:ext>
            </a:extLst>
          </p:cNvPr>
          <p:cNvGrpSpPr/>
          <p:nvPr/>
        </p:nvGrpSpPr>
        <p:grpSpPr>
          <a:xfrm>
            <a:off x="1225116" y="1278949"/>
            <a:ext cx="4139996" cy="4067806"/>
            <a:chOff x="1192066" y="1973012"/>
            <a:chExt cx="4139996" cy="4067806"/>
          </a:xfrm>
        </p:grpSpPr>
        <p:sp>
          <p:nvSpPr>
            <p:cNvPr id="5" name="正方形/長方形 3">
              <a:extLst>
                <a:ext uri="{FF2B5EF4-FFF2-40B4-BE49-F238E27FC236}">
                  <a16:creationId xmlns:a16="http://schemas.microsoft.com/office/drawing/2014/main" id="{1C6194FA-C39D-0688-6978-5C3F1F75339E}"/>
                </a:ext>
              </a:extLst>
            </p:cNvPr>
            <p:cNvSpPr/>
            <p:nvPr/>
          </p:nvSpPr>
          <p:spPr>
            <a:xfrm>
              <a:off x="1666874" y="2659456"/>
              <a:ext cx="3600000" cy="2880000"/>
            </a:xfrm>
            <a:prstGeom prst="rect">
              <a:avLst/>
            </a:prstGeom>
            <a:solidFill>
              <a:sysClr val="window" lastClr="FFFFFF">
                <a:lumMod val="7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oto Sans JP" panose="020B0200000000000000" pitchFamily="34" charset="-128"/>
                <a:ea typeface="Noto Sans JP" panose="020B0200000000000000" pitchFamily="34" charset="-128"/>
                <a:cs typeface="Arial"/>
                <a:sym typeface="Arial"/>
              </a:endParaRPr>
            </a:p>
          </p:txBody>
        </p:sp>
        <p:sp>
          <p:nvSpPr>
            <p:cNvPr id="6" name="正方形/長方形 7">
              <a:extLst>
                <a:ext uri="{FF2B5EF4-FFF2-40B4-BE49-F238E27FC236}">
                  <a16:creationId xmlns:a16="http://schemas.microsoft.com/office/drawing/2014/main" id="{D4E22F40-6BEA-36F0-0D0A-C35A2E4BCCF8}"/>
                </a:ext>
              </a:extLst>
            </p:cNvPr>
            <p:cNvSpPr/>
            <p:nvPr/>
          </p:nvSpPr>
          <p:spPr>
            <a:xfrm>
              <a:off x="1666874" y="2954656"/>
              <a:ext cx="2984400" cy="2584800"/>
            </a:xfrm>
            <a:prstGeom prst="rect">
              <a:avLst/>
            </a:prstGeom>
            <a:solidFill>
              <a:sysClr val="window" lastClr="FFFFFF">
                <a:lumMod val="50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Noto Sans JP" panose="020B0200000000000000" pitchFamily="34" charset="-128"/>
                  <a:ea typeface="Noto Sans JP" panose="020B0200000000000000" pitchFamily="34" charset="-128"/>
                  <a:cs typeface="Arial"/>
                  <a:sym typeface="Arial"/>
                </a:rPr>
                <a:t>2023</a:t>
              </a:r>
              <a:r>
                <a:rPr kumimoji="1" lang="ja-JP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Noto Sans JP" panose="020B0200000000000000" pitchFamily="34" charset="-128"/>
                  <a:ea typeface="Noto Sans JP" panose="020B0200000000000000" pitchFamily="34" charset="-128"/>
                  <a:cs typeface="Arial"/>
                  <a:sym typeface="Arial"/>
                </a:rPr>
                <a:t>年</a:t>
              </a:r>
              <a:r>
                <a:rPr kumimoji="1" lang="en-US" altLang="ja-JP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Noto Sans JP" panose="020B0200000000000000" pitchFamily="34" charset="-128"/>
                  <a:ea typeface="Noto Sans JP" panose="020B0200000000000000" pitchFamily="34" charset="-128"/>
                  <a:cs typeface="Arial"/>
                  <a:sym typeface="Arial"/>
                </a:rPr>
                <a:t>CO</a:t>
              </a:r>
              <a:r>
                <a:rPr kumimoji="1" lang="en-US" altLang="ja-JP" sz="1800" b="0" i="0" u="none" strike="noStrike" kern="1200" cap="none" spc="0" normalizeH="0" baseline="-2500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Noto Sans JP" panose="020B0200000000000000" pitchFamily="34" charset="-128"/>
                  <a:ea typeface="Noto Sans JP" panose="020B0200000000000000" pitchFamily="34" charset="-128"/>
                  <a:cs typeface="Arial"/>
                  <a:sym typeface="Arial"/>
                </a:rPr>
                <a:t>2</a:t>
              </a:r>
              <a:r>
                <a:rPr kumimoji="1" lang="ja-JP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Noto Sans JP" panose="020B0200000000000000" pitchFamily="34" charset="-128"/>
                  <a:ea typeface="Noto Sans JP" panose="020B0200000000000000" pitchFamily="34" charset="-128"/>
                  <a:cs typeface="Arial"/>
                  <a:sym typeface="Arial"/>
                </a:rPr>
                <a:t>排出量</a:t>
              </a:r>
              <a:endParaRPr kumimoji="1" lang="en-US" altLang="ja-JP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oto Sans JP" panose="020B0200000000000000" pitchFamily="34" charset="-128"/>
                <a:ea typeface="Noto Sans JP" panose="020B0200000000000000" pitchFamily="34" charset="-128"/>
                <a:cs typeface="Arial"/>
                <a:sym typeface="Arial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Noto Sans JP" panose="020B0200000000000000" pitchFamily="34" charset="-128"/>
                  <a:ea typeface="Noto Sans JP" panose="020B0200000000000000" pitchFamily="34" charset="-128"/>
                  <a:cs typeface="Arial"/>
                  <a:sym typeface="Arial"/>
                </a:rPr>
                <a:t>▲</a:t>
              </a:r>
              <a:r>
                <a:rPr kumimoji="1" lang="en-US" altLang="ja-JP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Noto Sans JP" panose="020B0200000000000000" pitchFamily="34" charset="-128"/>
                  <a:ea typeface="Noto Sans JP" panose="020B0200000000000000" pitchFamily="34" charset="-128"/>
                  <a:cs typeface="Arial"/>
                  <a:sym typeface="Arial"/>
                </a:rPr>
                <a:t>26%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Noto Sans JP" panose="020B0200000000000000" pitchFamily="34" charset="-128"/>
                  <a:ea typeface="Noto Sans JP" panose="020B0200000000000000" pitchFamily="34" charset="-128"/>
                  <a:cs typeface="Arial"/>
                  <a:sym typeface="Arial"/>
                </a:rPr>
                <a:t>（</a:t>
              </a:r>
              <a:r>
                <a:rPr kumimoji="1" lang="en-US" altLang="ja-JP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Noto Sans JP" panose="020B0200000000000000" pitchFamily="34" charset="-128"/>
                  <a:ea typeface="Noto Sans JP" panose="020B0200000000000000" pitchFamily="34" charset="-128"/>
                  <a:cs typeface="Arial"/>
                  <a:sym typeface="Arial"/>
                </a:rPr>
                <a:t>2013</a:t>
              </a:r>
              <a:r>
                <a:rPr kumimoji="1" lang="ja-JP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Noto Sans JP" panose="020B0200000000000000" pitchFamily="34" charset="-128"/>
                  <a:ea typeface="Noto Sans JP" panose="020B0200000000000000" pitchFamily="34" charset="-128"/>
                  <a:cs typeface="Arial"/>
                  <a:sym typeface="Arial"/>
                </a:rPr>
                <a:t>年比）</a:t>
              </a:r>
            </a:p>
          </p:txBody>
        </p:sp>
        <p:sp>
          <p:nvSpPr>
            <p:cNvPr id="7" name="テキスト ボックス 8">
              <a:extLst>
                <a:ext uri="{FF2B5EF4-FFF2-40B4-BE49-F238E27FC236}">
                  <a16:creationId xmlns:a16="http://schemas.microsoft.com/office/drawing/2014/main" id="{5D0EBFC0-C8D5-3244-ED95-815D8409BC62}"/>
                </a:ext>
              </a:extLst>
            </p:cNvPr>
            <p:cNvSpPr txBox="1"/>
            <p:nvPr/>
          </p:nvSpPr>
          <p:spPr>
            <a:xfrm>
              <a:off x="2310689" y="5640708"/>
              <a:ext cx="22365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Noto Sans JP" panose="020B0200000000000000" pitchFamily="34" charset="-128"/>
                  <a:ea typeface="Noto Sans JP" panose="020B0200000000000000" pitchFamily="34" charset="-128"/>
                  <a:cs typeface="Arial"/>
                  <a:sym typeface="Arial"/>
                </a:rPr>
                <a:t>エネルギー消費量</a:t>
              </a:r>
            </a:p>
          </p:txBody>
        </p:sp>
        <p:sp>
          <p:nvSpPr>
            <p:cNvPr id="8" name="テキスト ボックス 9">
              <a:extLst>
                <a:ext uri="{FF2B5EF4-FFF2-40B4-BE49-F238E27FC236}">
                  <a16:creationId xmlns:a16="http://schemas.microsoft.com/office/drawing/2014/main" id="{5D124418-ED4C-F7D2-461F-AD1DFD65BA91}"/>
                </a:ext>
              </a:extLst>
            </p:cNvPr>
            <p:cNvSpPr txBox="1"/>
            <p:nvPr/>
          </p:nvSpPr>
          <p:spPr>
            <a:xfrm rot="16200000">
              <a:off x="658587" y="3899401"/>
              <a:ext cx="146706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Noto Sans JP" panose="020B0200000000000000" pitchFamily="34" charset="-128"/>
                  <a:ea typeface="Noto Sans JP" panose="020B0200000000000000" pitchFamily="34" charset="-128"/>
                  <a:cs typeface="Arial"/>
                  <a:sym typeface="Arial"/>
                </a:rPr>
                <a:t>排出原単位</a:t>
              </a:r>
            </a:p>
          </p:txBody>
        </p:sp>
        <p:sp>
          <p:nvSpPr>
            <p:cNvPr id="9" name="矢印: 下 12">
              <a:extLst>
                <a:ext uri="{FF2B5EF4-FFF2-40B4-BE49-F238E27FC236}">
                  <a16:creationId xmlns:a16="http://schemas.microsoft.com/office/drawing/2014/main" id="{864BBB9E-1DE1-3B11-EA15-C9BBB775D005}"/>
                </a:ext>
              </a:extLst>
            </p:cNvPr>
            <p:cNvSpPr/>
            <p:nvPr/>
          </p:nvSpPr>
          <p:spPr>
            <a:xfrm>
              <a:off x="1833180" y="2667707"/>
              <a:ext cx="138500" cy="288000"/>
            </a:xfrm>
            <a:prstGeom prst="downArrow">
              <a:avLst/>
            </a:prstGeom>
            <a:solidFill>
              <a:sysClr val="windowText" lastClr="000000">
                <a:lumMod val="85000"/>
                <a:lumOff val="1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oto Sans JP" panose="020B0200000000000000" pitchFamily="34" charset="-128"/>
                <a:ea typeface="Noto Sans JP" panose="020B0200000000000000" pitchFamily="34" charset="-128"/>
                <a:cs typeface="Arial"/>
                <a:sym typeface="Arial"/>
              </a:endParaRPr>
            </a:p>
          </p:txBody>
        </p:sp>
        <p:sp>
          <p:nvSpPr>
            <p:cNvPr id="10" name="テキスト ボックス 13">
              <a:extLst>
                <a:ext uri="{FF2B5EF4-FFF2-40B4-BE49-F238E27FC236}">
                  <a16:creationId xmlns:a16="http://schemas.microsoft.com/office/drawing/2014/main" id="{7C308BDC-F9C7-64F6-0AFE-79F85ADCFF47}"/>
                </a:ext>
              </a:extLst>
            </p:cNvPr>
            <p:cNvSpPr txBox="1"/>
            <p:nvPr/>
          </p:nvSpPr>
          <p:spPr>
            <a:xfrm>
              <a:off x="1971564" y="2672787"/>
              <a:ext cx="64953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Noto Sans JP" panose="020B0200000000000000" pitchFamily="34" charset="-128"/>
                  <a:ea typeface="Noto Sans JP" panose="020B0200000000000000" pitchFamily="34" charset="-128"/>
                  <a:cs typeface="Arial"/>
                  <a:sym typeface="Arial"/>
                </a:rPr>
                <a:t>▲</a:t>
              </a:r>
              <a:r>
                <a:rPr kumimoji="1" lang="en-US" altLang="ja-JP" sz="1200" dirty="0">
                  <a:solidFill>
                    <a:prstClr val="black"/>
                  </a:solidFill>
                  <a:latin typeface="Noto Sans JP" panose="020B0200000000000000" pitchFamily="34" charset="-128"/>
                  <a:ea typeface="Noto Sans JP" panose="020B0200000000000000" pitchFamily="34" charset="-128"/>
                  <a:cs typeface="Arial"/>
                  <a:sym typeface="Arial"/>
                </a:rPr>
                <a:t>10</a:t>
              </a:r>
              <a:r>
                <a:rPr kumimoji="1" lang="en-US" altLang="ja-JP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Noto Sans JP" panose="020B0200000000000000" pitchFamily="34" charset="-128"/>
                  <a:ea typeface="Noto Sans JP" panose="020B0200000000000000" pitchFamily="34" charset="-128"/>
                  <a:cs typeface="Arial"/>
                  <a:sym typeface="Arial"/>
                </a:rPr>
                <a:t>%</a:t>
              </a:r>
              <a:endParaRPr kumimoji="1" lang="ja-JP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JP" panose="020B0200000000000000" pitchFamily="34" charset="-128"/>
                <a:ea typeface="Noto Sans JP" panose="020B0200000000000000" pitchFamily="34" charset="-128"/>
                <a:cs typeface="Arial"/>
                <a:sym typeface="Arial"/>
              </a:endParaRPr>
            </a:p>
          </p:txBody>
        </p:sp>
        <p:sp>
          <p:nvSpPr>
            <p:cNvPr id="11" name="テキスト ボックス 20">
              <a:extLst>
                <a:ext uri="{FF2B5EF4-FFF2-40B4-BE49-F238E27FC236}">
                  <a16:creationId xmlns:a16="http://schemas.microsoft.com/office/drawing/2014/main" id="{750CAC05-4BAF-3F51-46C9-8F8BAB2EE7FF}"/>
                </a:ext>
              </a:extLst>
            </p:cNvPr>
            <p:cNvSpPr txBox="1"/>
            <p:nvPr/>
          </p:nvSpPr>
          <p:spPr>
            <a:xfrm>
              <a:off x="4192006" y="2387231"/>
              <a:ext cx="114005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Noto Sans JP" panose="020B0200000000000000" pitchFamily="34" charset="-128"/>
                  <a:ea typeface="Noto Sans JP" panose="020B0200000000000000" pitchFamily="34" charset="-128"/>
                  <a:cs typeface="Arial"/>
                  <a:sym typeface="Arial"/>
                </a:rPr>
                <a:t>2013</a:t>
              </a:r>
              <a:r>
                <a:rPr kumimoji="1" lang="ja-JP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Noto Sans JP" panose="020B0200000000000000" pitchFamily="34" charset="-128"/>
                  <a:ea typeface="Noto Sans JP" panose="020B0200000000000000" pitchFamily="34" charset="-128"/>
                  <a:cs typeface="Arial"/>
                  <a:sym typeface="Arial"/>
                </a:rPr>
                <a:t>年排出量</a:t>
              </a:r>
            </a:p>
          </p:txBody>
        </p:sp>
        <p:sp>
          <p:nvSpPr>
            <p:cNvPr id="12" name="矢印: 左 23">
              <a:extLst>
                <a:ext uri="{FF2B5EF4-FFF2-40B4-BE49-F238E27FC236}">
                  <a16:creationId xmlns:a16="http://schemas.microsoft.com/office/drawing/2014/main" id="{7E1D5B95-0A39-57B2-E632-3D4869386035}"/>
                </a:ext>
              </a:extLst>
            </p:cNvPr>
            <p:cNvSpPr/>
            <p:nvPr/>
          </p:nvSpPr>
          <p:spPr>
            <a:xfrm>
              <a:off x="4658218" y="5212531"/>
              <a:ext cx="601200" cy="180600"/>
            </a:xfrm>
            <a:prstGeom prst="leftArrow">
              <a:avLst/>
            </a:prstGeom>
            <a:solidFill>
              <a:sysClr val="windowText" lastClr="000000">
                <a:lumMod val="85000"/>
                <a:lumOff val="1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oto Sans JP" panose="020B0200000000000000" pitchFamily="34" charset="-128"/>
                <a:ea typeface="Noto Sans JP" panose="020B0200000000000000" pitchFamily="34" charset="-128"/>
                <a:cs typeface="Arial"/>
                <a:sym typeface="Arial"/>
              </a:endParaRPr>
            </a:p>
          </p:txBody>
        </p:sp>
        <p:sp>
          <p:nvSpPr>
            <p:cNvPr id="13" name="テキスト ボックス 24">
              <a:extLst>
                <a:ext uri="{FF2B5EF4-FFF2-40B4-BE49-F238E27FC236}">
                  <a16:creationId xmlns:a16="http://schemas.microsoft.com/office/drawing/2014/main" id="{F4D18668-BBEC-47F6-0F56-D3DBB5DF0E61}"/>
                </a:ext>
              </a:extLst>
            </p:cNvPr>
            <p:cNvSpPr txBox="1"/>
            <p:nvPr/>
          </p:nvSpPr>
          <p:spPr>
            <a:xfrm>
              <a:off x="4662648" y="4952906"/>
              <a:ext cx="64953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Noto Sans JP" panose="020B0200000000000000" pitchFamily="34" charset="-128"/>
                  <a:ea typeface="Noto Sans JP" panose="020B0200000000000000" pitchFamily="34" charset="-128"/>
                  <a:cs typeface="Arial"/>
                  <a:sym typeface="Arial"/>
                </a:rPr>
                <a:t>▲</a:t>
              </a:r>
              <a:r>
                <a:rPr kumimoji="1" lang="en-US" altLang="ja-JP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Noto Sans JP" panose="020B0200000000000000" pitchFamily="34" charset="-128"/>
                  <a:ea typeface="Noto Sans JP" panose="020B0200000000000000" pitchFamily="34" charset="-128"/>
                  <a:cs typeface="Arial"/>
                  <a:sym typeface="Arial"/>
                </a:rPr>
                <a:t>17%</a:t>
              </a:r>
              <a:endParaRPr kumimoji="1" lang="ja-JP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JP" panose="020B0200000000000000" pitchFamily="34" charset="-128"/>
                <a:ea typeface="Noto Sans JP" panose="020B0200000000000000" pitchFamily="34" charset="-128"/>
                <a:cs typeface="Arial"/>
                <a:sym typeface="Arial"/>
              </a:endParaRPr>
            </a:p>
          </p:txBody>
        </p:sp>
        <p:sp>
          <p:nvSpPr>
            <p:cNvPr id="14" name="テキスト ボックス 1">
              <a:extLst>
                <a:ext uri="{FF2B5EF4-FFF2-40B4-BE49-F238E27FC236}">
                  <a16:creationId xmlns:a16="http://schemas.microsoft.com/office/drawing/2014/main" id="{9EB456BA-14D2-335E-6705-08A0C2FE5C7B}"/>
                </a:ext>
              </a:extLst>
            </p:cNvPr>
            <p:cNvSpPr txBox="1"/>
            <p:nvPr/>
          </p:nvSpPr>
          <p:spPr>
            <a:xfrm>
              <a:off x="1654818" y="1973012"/>
              <a:ext cx="304811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2000" b="1" i="0" u="sng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Noto Sans JP" panose="020B0200000000000000" pitchFamily="34" charset="-128"/>
                  <a:ea typeface="Noto Sans JP" panose="020B0200000000000000" pitchFamily="34" charset="-128"/>
                  <a:cs typeface="Arial"/>
                  <a:sym typeface="Arial"/>
                </a:rPr>
                <a:t>これまでの進捗</a:t>
              </a:r>
            </a:p>
          </p:txBody>
        </p:sp>
      </p:grpSp>
      <p:grpSp>
        <p:nvGrpSpPr>
          <p:cNvPr id="15" name="グループ化 33">
            <a:extLst>
              <a:ext uri="{FF2B5EF4-FFF2-40B4-BE49-F238E27FC236}">
                <a16:creationId xmlns:a16="http://schemas.microsoft.com/office/drawing/2014/main" id="{845B76EF-3046-742A-196A-DBD3FEDB1963}"/>
              </a:ext>
            </a:extLst>
          </p:cNvPr>
          <p:cNvGrpSpPr/>
          <p:nvPr/>
        </p:nvGrpSpPr>
        <p:grpSpPr>
          <a:xfrm>
            <a:off x="5929013" y="1274593"/>
            <a:ext cx="4704716" cy="4067806"/>
            <a:chOff x="5804523" y="1572416"/>
            <a:chExt cx="4704716" cy="4067806"/>
          </a:xfrm>
        </p:grpSpPr>
        <p:grpSp>
          <p:nvGrpSpPr>
            <p:cNvPr id="16" name="グループ化 32">
              <a:extLst>
                <a:ext uri="{FF2B5EF4-FFF2-40B4-BE49-F238E27FC236}">
                  <a16:creationId xmlns:a16="http://schemas.microsoft.com/office/drawing/2014/main" id="{8FBE7C77-88A7-4CC5-9B95-CE8421099E4E}"/>
                </a:ext>
              </a:extLst>
            </p:cNvPr>
            <p:cNvGrpSpPr/>
            <p:nvPr/>
          </p:nvGrpSpPr>
          <p:grpSpPr>
            <a:xfrm>
              <a:off x="5804523" y="1996597"/>
              <a:ext cx="4704716" cy="3643625"/>
              <a:chOff x="5804523" y="1996597"/>
              <a:chExt cx="4704716" cy="3643625"/>
            </a:xfrm>
          </p:grpSpPr>
          <p:sp>
            <p:nvSpPr>
              <p:cNvPr id="18" name="正方形/長方形 5">
                <a:extLst>
                  <a:ext uri="{FF2B5EF4-FFF2-40B4-BE49-F238E27FC236}">
                    <a16:creationId xmlns:a16="http://schemas.microsoft.com/office/drawing/2014/main" id="{740F8006-1FC5-99C9-F774-C9787F366156}"/>
                  </a:ext>
                </a:extLst>
              </p:cNvPr>
              <p:cNvSpPr/>
              <p:nvPr/>
            </p:nvSpPr>
            <p:spPr>
              <a:xfrm>
                <a:off x="6830103" y="2258860"/>
                <a:ext cx="3600000" cy="2880000"/>
              </a:xfrm>
              <a:prstGeom prst="rect">
                <a:avLst/>
              </a:prstGeom>
              <a:solidFill>
                <a:sysClr val="window" lastClr="FFFFFF">
                  <a:lumMod val="75000"/>
                </a:sysClr>
              </a:solidFill>
              <a:ln w="12700" cap="flat" cmpd="sng" algn="ctr">
                <a:solidFill>
                  <a:sysClr val="windowText" lastClr="000000">
                    <a:lumMod val="50000"/>
                    <a:lumOff val="50000"/>
                  </a:sysClr>
                </a:solidFill>
                <a:prstDash val="dash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Noto Sans JP" panose="020B0200000000000000" pitchFamily="34" charset="-128"/>
                  <a:ea typeface="Noto Sans JP" panose="020B0200000000000000" pitchFamily="34" charset="-128"/>
                  <a:cs typeface="Arial"/>
                  <a:sym typeface="Arial"/>
                </a:endParaRPr>
              </a:p>
            </p:txBody>
          </p:sp>
          <p:sp>
            <p:nvSpPr>
              <p:cNvPr id="19" name="正方形/長方形 25">
                <a:extLst>
                  <a:ext uri="{FF2B5EF4-FFF2-40B4-BE49-F238E27FC236}">
                    <a16:creationId xmlns:a16="http://schemas.microsoft.com/office/drawing/2014/main" id="{F1FAF814-055C-4310-ED1A-ABB20B81F691}"/>
                  </a:ext>
                </a:extLst>
              </p:cNvPr>
              <p:cNvSpPr/>
              <p:nvPr/>
            </p:nvSpPr>
            <p:spPr>
              <a:xfrm>
                <a:off x="6830103" y="2474859"/>
                <a:ext cx="3024000" cy="2664000"/>
              </a:xfrm>
              <a:prstGeom prst="rect">
                <a:avLst/>
              </a:prstGeom>
              <a:solidFill>
                <a:sysClr val="window" lastClr="FFFFFF">
                  <a:lumMod val="50000"/>
                </a:sys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lIns="216000" tIns="36000" rtlCol="0" anchor="t" anchorCtr="0"/>
              <a:lstStyle/>
              <a:p>
                <a:pPr marL="0" marR="0" lvl="0" indent="0" algn="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ja-JP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Noto Sans JP" panose="020B0200000000000000" pitchFamily="34" charset="-128"/>
                    <a:ea typeface="Noto Sans JP" panose="020B0200000000000000" pitchFamily="34" charset="-128"/>
                    <a:cs typeface="Arial"/>
                    <a:sym typeface="Arial"/>
                  </a:rPr>
                  <a:t>2023</a:t>
                </a:r>
                <a:r>
                  <a:rPr kumimoji="1" lang="ja-JP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Noto Sans JP" panose="020B0200000000000000" pitchFamily="34" charset="-128"/>
                    <a:ea typeface="Noto Sans JP" panose="020B0200000000000000" pitchFamily="34" charset="-128"/>
                    <a:cs typeface="Arial"/>
                    <a:sym typeface="Arial"/>
                  </a:rPr>
                  <a:t>年</a:t>
                </a:r>
                <a:r>
                  <a:rPr kumimoji="1" lang="en-US" altLang="ja-JP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Noto Sans JP" panose="020B0200000000000000" pitchFamily="34" charset="-128"/>
                    <a:ea typeface="Noto Sans JP" panose="020B0200000000000000" pitchFamily="34" charset="-128"/>
                    <a:cs typeface="Arial"/>
                    <a:sym typeface="Arial"/>
                  </a:rPr>
                  <a:t>CO</a:t>
                </a:r>
                <a:r>
                  <a:rPr kumimoji="1" lang="en-US" altLang="ja-JP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Noto Sans JP" panose="020B0200000000000000" pitchFamily="34" charset="-128"/>
                    <a:ea typeface="Noto Sans JP" panose="020B0200000000000000" pitchFamily="34" charset="-128"/>
                    <a:cs typeface="Arial"/>
                    <a:sym typeface="Arial"/>
                  </a:rPr>
                  <a:t>2</a:t>
                </a:r>
                <a:r>
                  <a:rPr kumimoji="1" lang="ja-JP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Noto Sans JP" panose="020B0200000000000000" pitchFamily="34" charset="-128"/>
                    <a:ea typeface="Noto Sans JP" panose="020B0200000000000000" pitchFamily="34" charset="-128"/>
                    <a:cs typeface="Arial"/>
                    <a:sym typeface="Arial"/>
                  </a:rPr>
                  <a:t>排出量</a:t>
                </a:r>
                <a:endParaRPr kumimoji="1" lang="en-US" altLang="ja-JP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Noto Sans JP" panose="020B0200000000000000" pitchFamily="34" charset="-128"/>
                  <a:ea typeface="Noto Sans JP" panose="020B0200000000000000" pitchFamily="34" charset="-128"/>
                  <a:cs typeface="Arial"/>
                  <a:sym typeface="Arial"/>
                </a:endParaRPr>
              </a:p>
              <a:p>
                <a:pPr marL="0" marR="0" lvl="0" indent="0" algn="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ja-JP" altLang="en-US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Noto Sans JP" panose="020B0200000000000000" pitchFamily="34" charset="-128"/>
                    <a:ea typeface="Noto Sans JP" panose="020B0200000000000000" pitchFamily="34" charset="-128"/>
                    <a:cs typeface="Arial"/>
                    <a:sym typeface="Arial"/>
                  </a:rPr>
                  <a:t>（</a:t>
                </a:r>
                <a:r>
                  <a:rPr kumimoji="1" lang="en-US" altLang="ja-JP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Noto Sans JP" panose="020B0200000000000000" pitchFamily="34" charset="-128"/>
                    <a:ea typeface="Noto Sans JP" panose="020B0200000000000000" pitchFamily="34" charset="-128"/>
                    <a:cs typeface="Arial"/>
                    <a:sym typeface="Arial"/>
                  </a:rPr>
                  <a:t>2013</a:t>
                </a:r>
                <a:r>
                  <a:rPr kumimoji="1" lang="ja-JP" altLang="en-US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Noto Sans JP" panose="020B0200000000000000" pitchFamily="34" charset="-128"/>
                    <a:ea typeface="Noto Sans JP" panose="020B0200000000000000" pitchFamily="34" charset="-128"/>
                    <a:cs typeface="Arial"/>
                    <a:sym typeface="Arial"/>
                  </a:rPr>
                  <a:t>年比）</a:t>
                </a:r>
              </a:p>
            </p:txBody>
          </p:sp>
          <p:sp>
            <p:nvSpPr>
              <p:cNvPr id="20" name="矢印: 左 14">
                <a:extLst>
                  <a:ext uri="{FF2B5EF4-FFF2-40B4-BE49-F238E27FC236}">
                    <a16:creationId xmlns:a16="http://schemas.microsoft.com/office/drawing/2014/main" id="{B21AE115-8A08-A601-205C-A3DA6F27BAD7}"/>
                  </a:ext>
                </a:extLst>
              </p:cNvPr>
              <p:cNvSpPr/>
              <p:nvPr/>
            </p:nvSpPr>
            <p:spPr>
              <a:xfrm>
                <a:off x="9072577" y="4862352"/>
                <a:ext cx="763525" cy="254794"/>
              </a:xfrm>
              <a:prstGeom prst="leftArrow">
                <a:avLst/>
              </a:prstGeom>
              <a:solidFill>
                <a:sysClr val="windowText" lastClr="000000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Noto Sans JP" panose="020B0200000000000000" pitchFamily="34" charset="-128"/>
                  <a:ea typeface="Noto Sans JP" panose="020B0200000000000000" pitchFamily="34" charset="-128"/>
                  <a:cs typeface="Arial"/>
                  <a:sym typeface="Arial"/>
                </a:endParaRPr>
              </a:p>
            </p:txBody>
          </p:sp>
          <p:sp>
            <p:nvSpPr>
              <p:cNvPr id="21" name="矢印: 下 15">
                <a:extLst>
                  <a:ext uri="{FF2B5EF4-FFF2-40B4-BE49-F238E27FC236}">
                    <a16:creationId xmlns:a16="http://schemas.microsoft.com/office/drawing/2014/main" id="{65499BA7-CF7B-1D62-292A-BFE2E93E0E0B}"/>
                  </a:ext>
                </a:extLst>
              </p:cNvPr>
              <p:cNvSpPr/>
              <p:nvPr/>
            </p:nvSpPr>
            <p:spPr>
              <a:xfrm>
                <a:off x="6905625" y="2474858"/>
                <a:ext cx="266699" cy="1368000"/>
              </a:xfrm>
              <a:prstGeom prst="downArrow">
                <a:avLst/>
              </a:prstGeom>
              <a:solidFill>
                <a:sysClr val="windowText" lastClr="000000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Noto Sans JP" panose="020B0200000000000000" pitchFamily="34" charset="-128"/>
                  <a:ea typeface="Noto Sans JP" panose="020B0200000000000000" pitchFamily="34" charset="-128"/>
                  <a:cs typeface="Arial"/>
                  <a:sym typeface="Arial"/>
                </a:endParaRPr>
              </a:p>
            </p:txBody>
          </p:sp>
          <p:sp>
            <p:nvSpPr>
              <p:cNvPr id="22" name="テキスト ボックス 16">
                <a:extLst>
                  <a:ext uri="{FF2B5EF4-FFF2-40B4-BE49-F238E27FC236}">
                    <a16:creationId xmlns:a16="http://schemas.microsoft.com/office/drawing/2014/main" id="{8D62E974-C80D-7A25-CA82-082BF914ED29}"/>
                  </a:ext>
                </a:extLst>
              </p:cNvPr>
              <p:cNvSpPr txBox="1"/>
              <p:nvPr/>
            </p:nvSpPr>
            <p:spPr>
              <a:xfrm>
                <a:off x="7122220" y="2914133"/>
                <a:ext cx="1723549" cy="49244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ja-JP" altLang="en-US" sz="1200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Noto Sans JP" panose="020B0200000000000000" pitchFamily="34" charset="-128"/>
                    <a:ea typeface="Noto Sans JP" panose="020B0200000000000000" pitchFamily="34" charset="-128"/>
                    <a:cs typeface="Arial"/>
                    <a:sym typeface="Arial"/>
                  </a:rPr>
                  <a:t>電力脱炭素化・電化等</a:t>
                </a:r>
                <a:endParaRPr kumimoji="1" lang="en-US" altLang="ja-JP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Noto Sans JP" panose="020B0200000000000000" pitchFamily="34" charset="-128"/>
                  <a:ea typeface="Noto Sans JP" panose="020B0200000000000000" pitchFamily="34" charset="-128"/>
                  <a:cs typeface="Arial"/>
                  <a:sym typeface="Arial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ja-JP" altLang="en-US" sz="1400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Noto Sans JP" panose="020B0200000000000000" pitchFamily="34" charset="-128"/>
                    <a:ea typeface="Noto Sans JP" panose="020B0200000000000000" pitchFamily="34" charset="-128"/>
                    <a:cs typeface="Arial"/>
                    <a:sym typeface="Arial"/>
                  </a:rPr>
                  <a:t>▲</a:t>
                </a:r>
                <a:r>
                  <a:rPr kumimoji="1" lang="en-US" altLang="ja-JP" sz="1400" b="1" dirty="0">
                    <a:solidFill>
                      <a:prstClr val="white"/>
                    </a:solidFill>
                    <a:latin typeface="Noto Sans JP" panose="020B0200000000000000" pitchFamily="34" charset="-128"/>
                    <a:ea typeface="Noto Sans JP" panose="020B0200000000000000" pitchFamily="34" charset="-128"/>
                    <a:cs typeface="Arial"/>
                    <a:sym typeface="Arial"/>
                  </a:rPr>
                  <a:t>50</a:t>
                </a:r>
                <a:r>
                  <a:rPr kumimoji="1" lang="en-US" altLang="ja-JP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Noto Sans JP" panose="020B0200000000000000" pitchFamily="34" charset="-128"/>
                    <a:ea typeface="Noto Sans JP" panose="020B0200000000000000" pitchFamily="34" charset="-128"/>
                    <a:cs typeface="Arial"/>
                    <a:sym typeface="Arial"/>
                  </a:rPr>
                  <a:t>%</a:t>
                </a:r>
                <a:endParaRPr kumimoji="1" lang="ja-JP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Noto Sans JP" panose="020B0200000000000000" pitchFamily="34" charset="-128"/>
                  <a:ea typeface="Noto Sans JP" panose="020B0200000000000000" pitchFamily="34" charset="-128"/>
                  <a:cs typeface="Arial"/>
                  <a:sym typeface="Arial"/>
                </a:endParaRPr>
              </a:p>
            </p:txBody>
          </p:sp>
          <p:sp>
            <p:nvSpPr>
              <p:cNvPr id="24" name="テキスト ボックス 18">
                <a:extLst>
                  <a:ext uri="{FF2B5EF4-FFF2-40B4-BE49-F238E27FC236}">
                    <a16:creationId xmlns:a16="http://schemas.microsoft.com/office/drawing/2014/main" id="{21E78912-676B-94E8-1D5E-2DAED30A3416}"/>
                  </a:ext>
                </a:extLst>
              </p:cNvPr>
              <p:cNvSpPr txBox="1"/>
              <p:nvPr/>
            </p:nvSpPr>
            <p:spPr>
              <a:xfrm>
                <a:off x="7521195" y="5240112"/>
                <a:ext cx="223651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ja-JP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Noto Sans JP" panose="020B0200000000000000" pitchFamily="34" charset="-128"/>
                    <a:ea typeface="Noto Sans JP" panose="020B0200000000000000" pitchFamily="34" charset="-128"/>
                    <a:cs typeface="Arial"/>
                    <a:sym typeface="Arial"/>
                  </a:rPr>
                  <a:t>エネルギー消費量</a:t>
                </a:r>
              </a:p>
            </p:txBody>
          </p:sp>
          <p:sp>
            <p:nvSpPr>
              <p:cNvPr id="25" name="テキスト ボックス 19">
                <a:extLst>
                  <a:ext uri="{FF2B5EF4-FFF2-40B4-BE49-F238E27FC236}">
                    <a16:creationId xmlns:a16="http://schemas.microsoft.com/office/drawing/2014/main" id="{050550B3-ECCA-695E-DE29-A7354DDF450F}"/>
                  </a:ext>
                </a:extLst>
              </p:cNvPr>
              <p:cNvSpPr txBox="1"/>
              <p:nvPr/>
            </p:nvSpPr>
            <p:spPr>
              <a:xfrm rot="16200000">
                <a:off x="5818405" y="3447612"/>
                <a:ext cx="1467068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ja-JP" alt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Noto Sans JP" panose="020B0200000000000000" pitchFamily="34" charset="-128"/>
                    <a:ea typeface="Noto Sans JP" panose="020B0200000000000000" pitchFamily="34" charset="-128"/>
                    <a:cs typeface="Arial"/>
                    <a:sym typeface="Arial"/>
                  </a:rPr>
                  <a:t>排出原単位</a:t>
                </a:r>
                <a:endParaRPr kumimoji="1" lang="ja-JP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Noto Sans JP" panose="020B0200000000000000" pitchFamily="34" charset="-128"/>
                  <a:ea typeface="Noto Sans JP" panose="020B0200000000000000" pitchFamily="34" charset="-128"/>
                  <a:cs typeface="Arial"/>
                  <a:sym typeface="Arial"/>
                </a:endParaRPr>
              </a:p>
            </p:txBody>
          </p:sp>
          <p:sp>
            <p:nvSpPr>
              <p:cNvPr id="26" name="テキスト ボックス 21">
                <a:extLst>
                  <a:ext uri="{FF2B5EF4-FFF2-40B4-BE49-F238E27FC236}">
                    <a16:creationId xmlns:a16="http://schemas.microsoft.com/office/drawing/2014/main" id="{D2BC38D6-304E-A787-CD2D-A45A829C75C5}"/>
                  </a:ext>
                </a:extLst>
              </p:cNvPr>
              <p:cNvSpPr txBox="1"/>
              <p:nvPr/>
            </p:nvSpPr>
            <p:spPr>
              <a:xfrm>
                <a:off x="9369183" y="1996597"/>
                <a:ext cx="114005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ja-JP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50000"/>
                        <a:lumOff val="50000"/>
                      </a:prstClr>
                    </a:solidFill>
                    <a:effectLst/>
                    <a:uLnTx/>
                    <a:uFillTx/>
                    <a:latin typeface="Noto Sans JP" panose="020B0200000000000000" pitchFamily="34" charset="-128"/>
                    <a:ea typeface="Noto Sans JP" panose="020B0200000000000000" pitchFamily="34" charset="-128"/>
                    <a:cs typeface="Arial"/>
                    <a:sym typeface="Arial"/>
                  </a:rPr>
                  <a:t>2013</a:t>
                </a:r>
                <a:r>
                  <a:rPr kumimoji="1" lang="ja-JP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50000"/>
                        <a:lumOff val="50000"/>
                      </a:prstClr>
                    </a:solidFill>
                    <a:effectLst/>
                    <a:uLnTx/>
                    <a:uFillTx/>
                    <a:latin typeface="Noto Sans JP" panose="020B0200000000000000" pitchFamily="34" charset="-128"/>
                    <a:ea typeface="Noto Sans JP" panose="020B0200000000000000" pitchFamily="34" charset="-128"/>
                    <a:cs typeface="Arial"/>
                    <a:sym typeface="Arial"/>
                  </a:rPr>
                  <a:t>年排出量</a:t>
                </a:r>
              </a:p>
            </p:txBody>
          </p:sp>
          <p:sp>
            <p:nvSpPr>
              <p:cNvPr id="27" name="二等辺三角形 22">
                <a:extLst>
                  <a:ext uri="{FF2B5EF4-FFF2-40B4-BE49-F238E27FC236}">
                    <a16:creationId xmlns:a16="http://schemas.microsoft.com/office/drawing/2014/main" id="{FB3BABD8-9A18-FCCE-8CF0-556AD940794B}"/>
                  </a:ext>
                </a:extLst>
              </p:cNvPr>
              <p:cNvSpPr/>
              <p:nvPr/>
            </p:nvSpPr>
            <p:spPr>
              <a:xfrm rot="5400000">
                <a:off x="5639312" y="3555985"/>
                <a:ext cx="616172" cy="285750"/>
              </a:xfrm>
              <a:prstGeom prst="triangle">
                <a:avLst/>
              </a:prstGeom>
              <a:solidFill>
                <a:srgbClr val="70AD47">
                  <a:lumMod val="60000"/>
                  <a:lumOff val="40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Noto Sans JP" panose="020B0200000000000000" pitchFamily="34" charset="-128"/>
                  <a:ea typeface="Noto Sans JP" panose="020B0200000000000000" pitchFamily="34" charset="-128"/>
                  <a:cs typeface="Arial"/>
                  <a:sym typeface="Arial"/>
                </a:endParaRPr>
              </a:p>
            </p:txBody>
          </p:sp>
        </p:grpSp>
        <p:sp>
          <p:nvSpPr>
            <p:cNvPr id="17" name="テキスト ボックス 26">
              <a:extLst>
                <a:ext uri="{FF2B5EF4-FFF2-40B4-BE49-F238E27FC236}">
                  <a16:creationId xmlns:a16="http://schemas.microsoft.com/office/drawing/2014/main" id="{591C1385-7714-B041-A984-D2D0D4DFA008}"/>
                </a:ext>
              </a:extLst>
            </p:cNvPr>
            <p:cNvSpPr txBox="1"/>
            <p:nvPr/>
          </p:nvSpPr>
          <p:spPr>
            <a:xfrm>
              <a:off x="7115395" y="1572416"/>
              <a:ext cx="304811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2000" b="1" i="0" u="sng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Noto Sans JP" panose="020B0200000000000000" pitchFamily="34" charset="-128"/>
                  <a:ea typeface="Noto Sans JP" panose="020B0200000000000000" pitchFamily="34" charset="-128"/>
                  <a:cs typeface="Arial"/>
                  <a:sym typeface="Arial"/>
                </a:rPr>
                <a:t>2035</a:t>
              </a:r>
              <a:r>
                <a:rPr kumimoji="1" lang="ja-JP" altLang="en-US" sz="2000" b="1" i="0" u="sng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Noto Sans JP" panose="020B0200000000000000" pitchFamily="34" charset="-128"/>
                  <a:ea typeface="Noto Sans JP" panose="020B0200000000000000" pitchFamily="34" charset="-128"/>
                  <a:cs typeface="Arial"/>
                  <a:sym typeface="Arial"/>
                </a:rPr>
                <a:t>年に向けた変化</a:t>
              </a:r>
              <a:endParaRPr kumimoji="1" lang="ja-JP" altLang="en-US" sz="20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JP" panose="020B0200000000000000" pitchFamily="34" charset="-128"/>
                <a:ea typeface="Noto Sans JP" panose="020B0200000000000000" pitchFamily="34" charset="-128"/>
                <a:cs typeface="Arial"/>
                <a:sym typeface="Arial"/>
              </a:endParaRPr>
            </a:p>
          </p:txBody>
        </p:sp>
      </p:grpSp>
      <p:sp>
        <p:nvSpPr>
          <p:cNvPr id="28" name="正方形/長方形 6">
            <a:extLst>
              <a:ext uri="{FF2B5EF4-FFF2-40B4-BE49-F238E27FC236}">
                <a16:creationId xmlns:a16="http://schemas.microsoft.com/office/drawing/2014/main" id="{342EF43C-4321-DF2B-372F-CCF412B27D80}"/>
              </a:ext>
            </a:extLst>
          </p:cNvPr>
          <p:cNvSpPr/>
          <p:nvPr/>
        </p:nvSpPr>
        <p:spPr>
          <a:xfrm>
            <a:off x="6953055" y="3547133"/>
            <a:ext cx="2242800" cy="1292400"/>
          </a:xfrm>
          <a:prstGeom prst="rect">
            <a:avLst/>
          </a:prstGeom>
          <a:solidFill>
            <a:srgbClr val="70AD4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oto Sans JP" panose="020B0200000000000000" pitchFamily="34" charset="-128"/>
                <a:ea typeface="Noto Sans JP" panose="020B0200000000000000" pitchFamily="34" charset="-128"/>
                <a:cs typeface="Arial"/>
                <a:sym typeface="Arial"/>
              </a:rPr>
              <a:t>2035</a:t>
            </a:r>
            <a:r>
              <a:rPr kumimoji="1" lang="ja-JP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oto Sans JP" panose="020B0200000000000000" pitchFamily="34" charset="-128"/>
                <a:ea typeface="Noto Sans JP" panose="020B0200000000000000" pitchFamily="34" charset="-128"/>
                <a:cs typeface="Arial"/>
                <a:sym typeface="Arial"/>
              </a:rPr>
              <a:t>年</a:t>
            </a:r>
            <a:endParaRPr kumimoji="1" lang="en-US" altLang="ja-JP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oto Sans JP" panose="020B0200000000000000" pitchFamily="34" charset="-128"/>
              <a:ea typeface="Noto Sans JP" panose="020B0200000000000000" pitchFamily="34" charset="-128"/>
              <a:cs typeface="Arial"/>
              <a:sym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oto Sans JP" panose="020B0200000000000000" pitchFamily="34" charset="-128"/>
                <a:ea typeface="Noto Sans JP" panose="020B0200000000000000" pitchFamily="34" charset="-128"/>
                <a:cs typeface="Arial"/>
                <a:sym typeface="Arial"/>
              </a:rPr>
              <a:t>▲</a:t>
            </a:r>
            <a:r>
              <a:rPr kumimoji="1" lang="en-US" altLang="ja-JP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oto Sans JP" panose="020B0200000000000000" pitchFamily="34" charset="-128"/>
                <a:ea typeface="Noto Sans JP" panose="020B0200000000000000" pitchFamily="34" charset="-128"/>
                <a:cs typeface="Arial"/>
                <a:sym typeface="Arial"/>
              </a:rPr>
              <a:t>70%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oto Sans JP" panose="020B0200000000000000" pitchFamily="34" charset="-128"/>
                <a:ea typeface="Noto Sans JP" panose="020B0200000000000000" pitchFamily="34" charset="-128"/>
                <a:cs typeface="Arial"/>
                <a:sym typeface="Arial"/>
              </a:rPr>
              <a:t>（</a:t>
            </a:r>
            <a:r>
              <a:rPr kumimoji="1" lang="en-US" altLang="ja-JP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oto Sans JP" panose="020B0200000000000000" pitchFamily="34" charset="-128"/>
                <a:ea typeface="Noto Sans JP" panose="020B0200000000000000" pitchFamily="34" charset="-128"/>
                <a:cs typeface="Arial"/>
                <a:sym typeface="Arial"/>
              </a:rPr>
              <a:t>2013</a:t>
            </a:r>
            <a:r>
              <a:rPr kumimoji="1" lang="ja-JP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oto Sans JP" panose="020B0200000000000000" pitchFamily="34" charset="-128"/>
                <a:ea typeface="Noto Sans JP" panose="020B0200000000000000" pitchFamily="34" charset="-128"/>
                <a:cs typeface="Arial"/>
                <a:sym typeface="Arial"/>
              </a:rPr>
              <a:t>年比）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838BD28-81DD-CCF7-AF3A-233E51F23E5D}"/>
              </a:ext>
            </a:extLst>
          </p:cNvPr>
          <p:cNvSpPr txBox="1"/>
          <p:nvPr/>
        </p:nvSpPr>
        <p:spPr>
          <a:xfrm>
            <a:off x="6255014" y="5346860"/>
            <a:ext cx="2698175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JP" sz="1400" b="0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Noto Sans JP" panose="020B0200000000000000" pitchFamily="34" charset="-128"/>
                <a:ea typeface="Noto Sans JP" panose="020B0200000000000000" pitchFamily="34" charset="-128"/>
                <a:cs typeface="+mn-cs"/>
              </a:rPr>
              <a:t>1.5℃ロードマップでの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JP" sz="1400" b="0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Noto Sans JP" panose="020B0200000000000000" pitchFamily="34" charset="-128"/>
                <a:ea typeface="Noto Sans JP" panose="020B0200000000000000" pitchFamily="34" charset="-128"/>
                <a:cs typeface="+mn-cs"/>
              </a:rPr>
              <a:t>エネルギー消費量と排出原単位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JP" sz="1400" b="0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Noto Sans JP" panose="020B0200000000000000" pitchFamily="34" charset="-128"/>
                <a:ea typeface="Noto Sans JP" panose="020B0200000000000000" pitchFamily="34" charset="-128"/>
                <a:cs typeface="+mn-cs"/>
              </a:rPr>
              <a:t>(2035年)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D4F74809-7C53-167E-8E9A-53C825D6657A}"/>
              </a:ext>
            </a:extLst>
          </p:cNvPr>
          <p:cNvCxnSpPr>
            <a:cxnSpLocks/>
          </p:cNvCxnSpPr>
          <p:nvPr/>
        </p:nvCxnSpPr>
        <p:spPr>
          <a:xfrm flipH="1">
            <a:off x="6913149" y="4434214"/>
            <a:ext cx="251739" cy="924099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headEnd type="oval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テキスト ボックス 17">
            <a:extLst>
              <a:ext uri="{FF2B5EF4-FFF2-40B4-BE49-F238E27FC236}">
                <a16:creationId xmlns:a16="http://schemas.microsoft.com/office/drawing/2014/main" id="{34775F61-DDAD-E514-FA09-055D826733AB}"/>
              </a:ext>
            </a:extLst>
          </p:cNvPr>
          <p:cNvSpPr txBox="1"/>
          <p:nvPr/>
        </p:nvSpPr>
        <p:spPr>
          <a:xfrm>
            <a:off x="8878883" y="3947789"/>
            <a:ext cx="1784463" cy="6617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oto Sans JP" panose="020B0200000000000000" pitchFamily="34" charset="-128"/>
                <a:ea typeface="Noto Sans JP" panose="020B0200000000000000" pitchFamily="34" charset="-128"/>
                <a:cs typeface="Arial"/>
                <a:sym typeface="Arial"/>
              </a:rPr>
              <a:t>エネルギー利用効率化</a:t>
            </a:r>
            <a:endParaRPr kumimoji="1" lang="en-US" altLang="ja-JP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oto Sans JP" panose="020B0200000000000000" pitchFamily="34" charset="-128"/>
              <a:ea typeface="Noto Sans JP" panose="020B0200000000000000" pitchFamily="34" charset="-128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oto Sans JP" panose="020B0200000000000000" pitchFamily="34" charset="-128"/>
                <a:ea typeface="Noto Sans JP" panose="020B0200000000000000" pitchFamily="34" charset="-128"/>
                <a:cs typeface="Arial"/>
                <a:sym typeface="Arial"/>
              </a:rPr>
              <a:t>（</a:t>
            </a:r>
            <a:r>
              <a:rPr kumimoji="1" lang="en-US" altLang="ja-JP" sz="1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oto Sans JP" panose="020B0200000000000000" pitchFamily="34" charset="-128"/>
                <a:ea typeface="Noto Sans JP" panose="020B0200000000000000" pitchFamily="34" charset="-128"/>
                <a:cs typeface="Arial"/>
                <a:sym typeface="Arial"/>
              </a:rPr>
              <a:t>DX</a:t>
            </a:r>
            <a:r>
              <a:rPr kumimoji="1" lang="ja-JP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oto Sans JP" panose="020B0200000000000000" pitchFamily="34" charset="-128"/>
                <a:ea typeface="Noto Sans JP" panose="020B0200000000000000" pitchFamily="34" charset="-128"/>
                <a:cs typeface="Arial"/>
                <a:sym typeface="Arial"/>
              </a:rPr>
              <a:t>・電化・省エネ等）</a:t>
            </a:r>
            <a:endParaRPr kumimoji="1" lang="en-US" altLang="ja-JP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oto Sans JP" panose="020B0200000000000000" pitchFamily="34" charset="-128"/>
              <a:ea typeface="Noto Sans JP" panose="020B0200000000000000" pitchFamily="34" charset="-128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oto Sans JP" panose="020B0200000000000000" pitchFamily="34" charset="-128"/>
                <a:ea typeface="Noto Sans JP" panose="020B0200000000000000" pitchFamily="34" charset="-128"/>
                <a:cs typeface="Arial"/>
                <a:sym typeface="Arial"/>
              </a:rPr>
              <a:t>▲</a:t>
            </a:r>
            <a:r>
              <a:rPr kumimoji="1" lang="en-US" altLang="ja-JP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oto Sans JP" panose="020B0200000000000000" pitchFamily="34" charset="-128"/>
                <a:ea typeface="Noto Sans JP" panose="020B0200000000000000" pitchFamily="34" charset="-128"/>
                <a:cs typeface="Arial"/>
                <a:sym typeface="Arial"/>
              </a:rPr>
              <a:t>25%</a:t>
            </a:r>
            <a:endParaRPr kumimoji="1" lang="ja-JP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oto Sans JP" panose="020B0200000000000000" pitchFamily="34" charset="-128"/>
              <a:ea typeface="Noto Sans JP" panose="020B0200000000000000" pitchFamily="34" charset="-128"/>
              <a:cs typeface="Arial"/>
              <a:sym typeface="Arial"/>
            </a:endParaRPr>
          </a:p>
        </p:txBody>
      </p:sp>
      <p:sp>
        <p:nvSpPr>
          <p:cNvPr id="30" name="テキスト ボックス 1">
            <a:extLst>
              <a:ext uri="{FF2B5EF4-FFF2-40B4-BE49-F238E27FC236}">
                <a16:creationId xmlns:a16="http://schemas.microsoft.com/office/drawing/2014/main" id="{D4D525D8-8801-5C3F-68AD-AC3EE92AC211}"/>
              </a:ext>
            </a:extLst>
          </p:cNvPr>
          <p:cNvSpPr txBox="1"/>
          <p:nvPr/>
        </p:nvSpPr>
        <p:spPr>
          <a:xfrm>
            <a:off x="1677429" y="704840"/>
            <a:ext cx="30481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600">
                <a:solidFill>
                  <a:prstClr val="black"/>
                </a:solidFill>
                <a:latin typeface="Noto Sans JP" panose="020B0200000000000000" pitchFamily="34" charset="-128"/>
                <a:ea typeface="Noto Sans JP" panose="020B0200000000000000" pitchFamily="34" charset="-128"/>
                <a:cs typeface="Arial"/>
                <a:sym typeface="Arial"/>
              </a:rPr>
              <a:t>エネルギー起源</a:t>
            </a:r>
            <a:r>
              <a:rPr kumimoji="1" lang="en-US" altLang="ja-JP" sz="1600" dirty="0">
                <a:solidFill>
                  <a:prstClr val="black"/>
                </a:solidFill>
                <a:latin typeface="Noto Sans JP" panose="020B0200000000000000" pitchFamily="34" charset="-128"/>
                <a:ea typeface="Noto Sans JP" panose="020B0200000000000000" pitchFamily="34" charset="-128"/>
                <a:cs typeface="Arial"/>
                <a:sym typeface="Arial"/>
              </a:rPr>
              <a:t>CO</a:t>
            </a:r>
            <a:r>
              <a:rPr kumimoji="1" lang="en-US" altLang="ja-JP" sz="1600" baseline="-25000" dirty="0">
                <a:solidFill>
                  <a:prstClr val="black"/>
                </a:solidFill>
                <a:latin typeface="Noto Sans JP" panose="020B0200000000000000" pitchFamily="34" charset="-128"/>
                <a:ea typeface="Noto Sans JP" panose="020B0200000000000000" pitchFamily="34" charset="-128"/>
                <a:cs typeface="Arial"/>
                <a:sym typeface="Arial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41335495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74A3E8E-E47F-9E6B-90EA-E26C456972F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fld id="{00000000-1234-1234-1234-123412341234}" type="slidenum">
              <a:rPr kumimoji="0" lang="en-US" altLang="ja-JP" sz="1200" b="0" i="0" u="none" strike="noStrike" kern="0" cap="none" spc="0" normalizeH="0" baseline="0" noProof="0" smtClean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  <a:tabLst/>
                <a:defRPr/>
              </a:pPr>
              <a:t>2</a:t>
            </a:fld>
            <a:endParaRPr kumimoji="0" lang="ja-JP" altLang="en-US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grpSp>
        <p:nvGrpSpPr>
          <p:cNvPr id="32" name="グループ化 31">
            <a:extLst>
              <a:ext uri="{FF2B5EF4-FFF2-40B4-BE49-F238E27FC236}">
                <a16:creationId xmlns:a16="http://schemas.microsoft.com/office/drawing/2014/main" id="{147C3E11-E6E5-7298-CE60-E909BCFD5519}"/>
              </a:ext>
            </a:extLst>
          </p:cNvPr>
          <p:cNvGrpSpPr/>
          <p:nvPr/>
        </p:nvGrpSpPr>
        <p:grpSpPr>
          <a:xfrm>
            <a:off x="1192066" y="1973012"/>
            <a:ext cx="4120119" cy="4067806"/>
            <a:chOff x="1192066" y="1973012"/>
            <a:chExt cx="4120119" cy="4067806"/>
          </a:xfrm>
        </p:grpSpPr>
        <p:sp>
          <p:nvSpPr>
            <p:cNvPr id="5" name="正方形/長方形 3">
              <a:extLst>
                <a:ext uri="{FF2B5EF4-FFF2-40B4-BE49-F238E27FC236}">
                  <a16:creationId xmlns:a16="http://schemas.microsoft.com/office/drawing/2014/main" id="{E28264D6-19E3-177C-C425-A60F60395B39}"/>
                </a:ext>
              </a:extLst>
            </p:cNvPr>
            <p:cNvSpPr/>
            <p:nvPr/>
          </p:nvSpPr>
          <p:spPr>
            <a:xfrm>
              <a:off x="1666874" y="2659456"/>
              <a:ext cx="3600000" cy="2880000"/>
            </a:xfrm>
            <a:prstGeom prst="rect">
              <a:avLst/>
            </a:prstGeom>
            <a:solidFill>
              <a:sysClr val="window" lastClr="FFFFFF">
                <a:lumMod val="7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oto Sans JP" panose="020B0200000000000000" pitchFamily="34" charset="-128"/>
                <a:ea typeface="Noto Sans JP" panose="020B0200000000000000" pitchFamily="34" charset="-128"/>
                <a:cs typeface="Arial"/>
                <a:sym typeface="Arial"/>
              </a:endParaRPr>
            </a:p>
          </p:txBody>
        </p:sp>
        <p:sp>
          <p:nvSpPr>
            <p:cNvPr id="6" name="正方形/長方形 7">
              <a:extLst>
                <a:ext uri="{FF2B5EF4-FFF2-40B4-BE49-F238E27FC236}">
                  <a16:creationId xmlns:a16="http://schemas.microsoft.com/office/drawing/2014/main" id="{3337D02A-A80E-9832-2BCB-222A1AEEEB73}"/>
                </a:ext>
              </a:extLst>
            </p:cNvPr>
            <p:cNvSpPr/>
            <p:nvPr/>
          </p:nvSpPr>
          <p:spPr>
            <a:xfrm>
              <a:off x="1666874" y="2875456"/>
              <a:ext cx="3024000" cy="2664000"/>
            </a:xfrm>
            <a:prstGeom prst="rect">
              <a:avLst/>
            </a:prstGeom>
            <a:solidFill>
              <a:sysClr val="window" lastClr="FFFFFF">
                <a:lumMod val="50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Noto Sans JP" panose="020B0200000000000000" pitchFamily="34" charset="-128"/>
                  <a:ea typeface="Noto Sans JP" panose="020B0200000000000000" pitchFamily="34" charset="-128"/>
                  <a:cs typeface="Arial"/>
                  <a:sym typeface="Arial"/>
                </a:rPr>
                <a:t>2023</a:t>
              </a:r>
              <a:r>
                <a:rPr kumimoji="1" lang="ja-JP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Noto Sans JP" panose="020B0200000000000000" pitchFamily="34" charset="-128"/>
                  <a:ea typeface="Noto Sans JP" panose="020B0200000000000000" pitchFamily="34" charset="-128"/>
                  <a:cs typeface="Arial"/>
                  <a:sym typeface="Arial"/>
                </a:rPr>
                <a:t>年</a:t>
              </a:r>
              <a:r>
                <a:rPr kumimoji="1" lang="en-US" altLang="ja-JP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Noto Sans JP" panose="020B0200000000000000" pitchFamily="34" charset="-128"/>
                  <a:ea typeface="Noto Sans JP" panose="020B0200000000000000" pitchFamily="34" charset="-128"/>
                  <a:cs typeface="Arial"/>
                  <a:sym typeface="Arial"/>
                </a:rPr>
                <a:t>CO2</a:t>
              </a:r>
              <a:r>
                <a:rPr kumimoji="1" lang="ja-JP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Noto Sans JP" panose="020B0200000000000000" pitchFamily="34" charset="-128"/>
                  <a:ea typeface="Noto Sans JP" panose="020B0200000000000000" pitchFamily="34" charset="-128"/>
                  <a:cs typeface="Arial"/>
                  <a:sym typeface="Arial"/>
                </a:rPr>
                <a:t>排出量</a:t>
              </a:r>
              <a:endParaRPr kumimoji="1" lang="en-US" altLang="ja-JP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oto Sans JP" panose="020B0200000000000000" pitchFamily="34" charset="-128"/>
                <a:ea typeface="Noto Sans JP" panose="020B0200000000000000" pitchFamily="34" charset="-128"/>
                <a:cs typeface="Arial"/>
                <a:sym typeface="Arial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Noto Sans JP" panose="020B0200000000000000" pitchFamily="34" charset="-128"/>
                  <a:ea typeface="Noto Sans JP" panose="020B0200000000000000" pitchFamily="34" charset="-128"/>
                  <a:cs typeface="Arial"/>
                  <a:sym typeface="Arial"/>
                </a:rPr>
                <a:t>▲</a:t>
              </a:r>
              <a:r>
                <a:rPr kumimoji="1" lang="en-US" altLang="ja-JP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Noto Sans JP" panose="020B0200000000000000" pitchFamily="34" charset="-128"/>
                  <a:ea typeface="Noto Sans JP" panose="020B0200000000000000" pitchFamily="34" charset="-128"/>
                  <a:cs typeface="Arial"/>
                  <a:sym typeface="Arial"/>
                </a:rPr>
                <a:t>25%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Noto Sans JP" panose="020B0200000000000000" pitchFamily="34" charset="-128"/>
                  <a:ea typeface="Noto Sans JP" panose="020B0200000000000000" pitchFamily="34" charset="-128"/>
                  <a:cs typeface="Arial"/>
                  <a:sym typeface="Arial"/>
                </a:rPr>
                <a:t>（</a:t>
              </a:r>
              <a:r>
                <a:rPr kumimoji="1" lang="en-US" altLang="ja-JP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Noto Sans JP" panose="020B0200000000000000" pitchFamily="34" charset="-128"/>
                  <a:ea typeface="Noto Sans JP" panose="020B0200000000000000" pitchFamily="34" charset="-128"/>
                  <a:cs typeface="Arial"/>
                  <a:sym typeface="Arial"/>
                </a:rPr>
                <a:t>2013</a:t>
              </a:r>
              <a:r>
                <a:rPr kumimoji="1" lang="ja-JP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Noto Sans JP" panose="020B0200000000000000" pitchFamily="34" charset="-128"/>
                  <a:ea typeface="Noto Sans JP" panose="020B0200000000000000" pitchFamily="34" charset="-128"/>
                  <a:cs typeface="Arial"/>
                  <a:sym typeface="Arial"/>
                </a:rPr>
                <a:t>年比）</a:t>
              </a:r>
            </a:p>
          </p:txBody>
        </p:sp>
        <p:sp>
          <p:nvSpPr>
            <p:cNvPr id="8" name="テキスト ボックス 8">
              <a:extLst>
                <a:ext uri="{FF2B5EF4-FFF2-40B4-BE49-F238E27FC236}">
                  <a16:creationId xmlns:a16="http://schemas.microsoft.com/office/drawing/2014/main" id="{7D678FCB-ACE8-E67A-EC39-CE1BCB1284B0}"/>
                </a:ext>
              </a:extLst>
            </p:cNvPr>
            <p:cNvSpPr txBox="1"/>
            <p:nvPr/>
          </p:nvSpPr>
          <p:spPr>
            <a:xfrm>
              <a:off x="2310689" y="5640708"/>
              <a:ext cx="22365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Noto Sans JP" panose="020B0200000000000000" pitchFamily="34" charset="-128"/>
                  <a:ea typeface="Noto Sans JP" panose="020B0200000000000000" pitchFamily="34" charset="-128"/>
                  <a:cs typeface="Arial"/>
                  <a:sym typeface="Arial"/>
                </a:rPr>
                <a:t>エネルギー消費量</a:t>
              </a:r>
            </a:p>
          </p:txBody>
        </p:sp>
        <p:sp>
          <p:nvSpPr>
            <p:cNvPr id="9" name="テキスト ボックス 9">
              <a:extLst>
                <a:ext uri="{FF2B5EF4-FFF2-40B4-BE49-F238E27FC236}">
                  <a16:creationId xmlns:a16="http://schemas.microsoft.com/office/drawing/2014/main" id="{222D3D90-F90F-2F6C-3EAD-281974300C53}"/>
                </a:ext>
              </a:extLst>
            </p:cNvPr>
            <p:cNvSpPr txBox="1"/>
            <p:nvPr/>
          </p:nvSpPr>
          <p:spPr>
            <a:xfrm rot="16200000">
              <a:off x="658587" y="3899401"/>
              <a:ext cx="146706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Noto Sans JP" panose="020B0200000000000000" pitchFamily="34" charset="-128"/>
                  <a:ea typeface="Noto Sans JP" panose="020B0200000000000000" pitchFamily="34" charset="-128"/>
                  <a:cs typeface="Arial"/>
                  <a:sym typeface="Arial"/>
                </a:rPr>
                <a:t>排出原単位</a:t>
              </a:r>
            </a:p>
          </p:txBody>
        </p:sp>
        <p:sp>
          <p:nvSpPr>
            <p:cNvPr id="10" name="矢印: 下 12">
              <a:extLst>
                <a:ext uri="{FF2B5EF4-FFF2-40B4-BE49-F238E27FC236}">
                  <a16:creationId xmlns:a16="http://schemas.microsoft.com/office/drawing/2014/main" id="{A3DC0580-311D-2504-72AF-0CC649927DB7}"/>
                </a:ext>
              </a:extLst>
            </p:cNvPr>
            <p:cNvSpPr/>
            <p:nvPr/>
          </p:nvSpPr>
          <p:spPr>
            <a:xfrm>
              <a:off x="1833180" y="2667707"/>
              <a:ext cx="138500" cy="216000"/>
            </a:xfrm>
            <a:prstGeom prst="downArrow">
              <a:avLst/>
            </a:prstGeom>
            <a:solidFill>
              <a:sysClr val="windowText" lastClr="000000">
                <a:lumMod val="85000"/>
                <a:lumOff val="1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oto Sans JP" panose="020B0200000000000000" pitchFamily="34" charset="-128"/>
                <a:ea typeface="Noto Sans JP" panose="020B0200000000000000" pitchFamily="34" charset="-128"/>
                <a:cs typeface="Arial"/>
                <a:sym typeface="Arial"/>
              </a:endParaRPr>
            </a:p>
          </p:txBody>
        </p:sp>
        <p:sp>
          <p:nvSpPr>
            <p:cNvPr id="11" name="テキスト ボックス 13">
              <a:extLst>
                <a:ext uri="{FF2B5EF4-FFF2-40B4-BE49-F238E27FC236}">
                  <a16:creationId xmlns:a16="http://schemas.microsoft.com/office/drawing/2014/main" id="{ACB41339-EFD1-8F87-85B8-2A80888DD424}"/>
                </a:ext>
              </a:extLst>
            </p:cNvPr>
            <p:cNvSpPr txBox="1"/>
            <p:nvPr/>
          </p:nvSpPr>
          <p:spPr>
            <a:xfrm>
              <a:off x="1971564" y="2622683"/>
              <a:ext cx="56457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Noto Sans JP" panose="020B0200000000000000" pitchFamily="34" charset="-128"/>
                  <a:ea typeface="Noto Sans JP" panose="020B0200000000000000" pitchFamily="34" charset="-128"/>
                  <a:cs typeface="Arial"/>
                  <a:sym typeface="Arial"/>
                </a:rPr>
                <a:t>▲</a:t>
              </a:r>
              <a:r>
                <a:rPr kumimoji="1" lang="en-US" altLang="ja-JP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Noto Sans JP" panose="020B0200000000000000" pitchFamily="34" charset="-128"/>
                  <a:ea typeface="Noto Sans JP" panose="020B0200000000000000" pitchFamily="34" charset="-128"/>
                  <a:cs typeface="Arial"/>
                  <a:sym typeface="Arial"/>
                </a:rPr>
                <a:t>8%</a:t>
              </a:r>
              <a:endParaRPr kumimoji="1" lang="ja-JP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JP" panose="020B0200000000000000" pitchFamily="34" charset="-128"/>
                <a:ea typeface="Noto Sans JP" panose="020B0200000000000000" pitchFamily="34" charset="-128"/>
                <a:cs typeface="Arial"/>
                <a:sym typeface="Arial"/>
              </a:endParaRPr>
            </a:p>
          </p:txBody>
        </p:sp>
        <p:sp>
          <p:nvSpPr>
            <p:cNvPr id="18" name="テキスト ボックス 20">
              <a:extLst>
                <a:ext uri="{FF2B5EF4-FFF2-40B4-BE49-F238E27FC236}">
                  <a16:creationId xmlns:a16="http://schemas.microsoft.com/office/drawing/2014/main" id="{7DE99B40-B207-D075-89E8-62EE7214AADD}"/>
                </a:ext>
              </a:extLst>
            </p:cNvPr>
            <p:cNvSpPr txBox="1"/>
            <p:nvPr/>
          </p:nvSpPr>
          <p:spPr>
            <a:xfrm>
              <a:off x="4081836" y="2387231"/>
              <a:ext cx="114005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Noto Sans JP" panose="020B0200000000000000" pitchFamily="34" charset="-128"/>
                  <a:ea typeface="Noto Sans JP" panose="020B0200000000000000" pitchFamily="34" charset="-128"/>
                  <a:cs typeface="Arial"/>
                  <a:sym typeface="Arial"/>
                </a:rPr>
                <a:t>2013</a:t>
              </a:r>
              <a:r>
                <a:rPr kumimoji="1" lang="ja-JP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Noto Sans JP" panose="020B0200000000000000" pitchFamily="34" charset="-128"/>
                  <a:ea typeface="Noto Sans JP" panose="020B0200000000000000" pitchFamily="34" charset="-128"/>
                  <a:cs typeface="Arial"/>
                  <a:sym typeface="Arial"/>
                </a:rPr>
                <a:t>年排出量</a:t>
              </a:r>
            </a:p>
          </p:txBody>
        </p:sp>
        <p:sp>
          <p:nvSpPr>
            <p:cNvPr id="21" name="矢印: 左 23">
              <a:extLst>
                <a:ext uri="{FF2B5EF4-FFF2-40B4-BE49-F238E27FC236}">
                  <a16:creationId xmlns:a16="http://schemas.microsoft.com/office/drawing/2014/main" id="{992DDFE7-04D7-ECFF-2E46-17F4F9558CBC}"/>
                </a:ext>
              </a:extLst>
            </p:cNvPr>
            <p:cNvSpPr/>
            <p:nvPr/>
          </p:nvSpPr>
          <p:spPr>
            <a:xfrm>
              <a:off x="4690874" y="5212531"/>
              <a:ext cx="576000" cy="180600"/>
            </a:xfrm>
            <a:prstGeom prst="leftArrow">
              <a:avLst/>
            </a:prstGeom>
            <a:solidFill>
              <a:sysClr val="windowText" lastClr="000000">
                <a:lumMod val="85000"/>
                <a:lumOff val="1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oto Sans JP" panose="020B0200000000000000" pitchFamily="34" charset="-128"/>
                <a:ea typeface="Noto Sans JP" panose="020B0200000000000000" pitchFamily="34" charset="-128"/>
                <a:cs typeface="Arial"/>
                <a:sym typeface="Arial"/>
              </a:endParaRPr>
            </a:p>
          </p:txBody>
        </p:sp>
        <p:sp>
          <p:nvSpPr>
            <p:cNvPr id="22" name="テキスト ボックス 24">
              <a:extLst>
                <a:ext uri="{FF2B5EF4-FFF2-40B4-BE49-F238E27FC236}">
                  <a16:creationId xmlns:a16="http://schemas.microsoft.com/office/drawing/2014/main" id="{FD49275E-CC94-6167-695F-3BA440573B13}"/>
                </a:ext>
              </a:extLst>
            </p:cNvPr>
            <p:cNvSpPr txBox="1"/>
            <p:nvPr/>
          </p:nvSpPr>
          <p:spPr>
            <a:xfrm>
              <a:off x="4662648" y="4952906"/>
              <a:ext cx="64953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Noto Sans JP" panose="020B0200000000000000" pitchFamily="34" charset="-128"/>
                  <a:ea typeface="Noto Sans JP" panose="020B0200000000000000" pitchFamily="34" charset="-128"/>
                  <a:cs typeface="Arial"/>
                  <a:sym typeface="Arial"/>
                </a:rPr>
                <a:t>▲</a:t>
              </a:r>
              <a:r>
                <a:rPr kumimoji="1" lang="en-US" altLang="ja-JP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Noto Sans JP" panose="020B0200000000000000" pitchFamily="34" charset="-128"/>
                  <a:ea typeface="Noto Sans JP" panose="020B0200000000000000" pitchFamily="34" charset="-128"/>
                  <a:cs typeface="Arial"/>
                  <a:sym typeface="Arial"/>
                </a:rPr>
                <a:t>18%</a:t>
              </a:r>
              <a:endParaRPr kumimoji="1" lang="ja-JP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JP" panose="020B0200000000000000" pitchFamily="34" charset="-128"/>
                <a:ea typeface="Noto Sans JP" panose="020B0200000000000000" pitchFamily="34" charset="-128"/>
                <a:cs typeface="Arial"/>
                <a:sym typeface="Arial"/>
              </a:endParaRPr>
            </a:p>
          </p:txBody>
        </p:sp>
        <p:sp>
          <p:nvSpPr>
            <p:cNvPr id="23" name="テキスト ボックス 1">
              <a:extLst>
                <a:ext uri="{FF2B5EF4-FFF2-40B4-BE49-F238E27FC236}">
                  <a16:creationId xmlns:a16="http://schemas.microsoft.com/office/drawing/2014/main" id="{CA3F5CFF-B645-217E-721B-211E17A7E536}"/>
                </a:ext>
              </a:extLst>
            </p:cNvPr>
            <p:cNvSpPr txBox="1"/>
            <p:nvPr/>
          </p:nvSpPr>
          <p:spPr>
            <a:xfrm>
              <a:off x="1654818" y="1973012"/>
              <a:ext cx="304811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2000" b="1" i="0" u="sng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Noto Sans JP" panose="020B0200000000000000" pitchFamily="34" charset="-128"/>
                  <a:ea typeface="Noto Sans JP" panose="020B0200000000000000" pitchFamily="34" charset="-128"/>
                  <a:cs typeface="Arial"/>
                  <a:sym typeface="Arial"/>
                </a:rPr>
                <a:t>これまでの進捗</a:t>
              </a:r>
            </a:p>
          </p:txBody>
        </p:sp>
      </p:grpSp>
      <p:grpSp>
        <p:nvGrpSpPr>
          <p:cNvPr id="34" name="グループ化 33">
            <a:extLst>
              <a:ext uri="{FF2B5EF4-FFF2-40B4-BE49-F238E27FC236}">
                <a16:creationId xmlns:a16="http://schemas.microsoft.com/office/drawing/2014/main" id="{F0728236-4225-49BE-8865-7BED83856288}"/>
              </a:ext>
            </a:extLst>
          </p:cNvPr>
          <p:cNvGrpSpPr/>
          <p:nvPr/>
        </p:nvGrpSpPr>
        <p:grpSpPr>
          <a:xfrm>
            <a:off x="5895963" y="1968656"/>
            <a:ext cx="4790122" cy="4067806"/>
            <a:chOff x="5804523" y="1572416"/>
            <a:chExt cx="4790122" cy="4067806"/>
          </a:xfrm>
        </p:grpSpPr>
        <p:grpSp>
          <p:nvGrpSpPr>
            <p:cNvPr id="33" name="グループ化 32">
              <a:extLst>
                <a:ext uri="{FF2B5EF4-FFF2-40B4-BE49-F238E27FC236}">
                  <a16:creationId xmlns:a16="http://schemas.microsoft.com/office/drawing/2014/main" id="{DBE157E6-644F-5FEC-CBF7-77A1D6C01C6C}"/>
                </a:ext>
              </a:extLst>
            </p:cNvPr>
            <p:cNvGrpSpPr/>
            <p:nvPr/>
          </p:nvGrpSpPr>
          <p:grpSpPr>
            <a:xfrm>
              <a:off x="5804523" y="1996597"/>
              <a:ext cx="4790122" cy="3643625"/>
              <a:chOff x="5804523" y="1996597"/>
              <a:chExt cx="4790122" cy="3643625"/>
            </a:xfrm>
          </p:grpSpPr>
          <p:sp>
            <p:nvSpPr>
              <p:cNvPr id="3" name="正方形/長方形 5">
                <a:extLst>
                  <a:ext uri="{FF2B5EF4-FFF2-40B4-BE49-F238E27FC236}">
                    <a16:creationId xmlns:a16="http://schemas.microsoft.com/office/drawing/2014/main" id="{979357AF-7CC6-AA7F-022B-7CD5640EB923}"/>
                  </a:ext>
                </a:extLst>
              </p:cNvPr>
              <p:cNvSpPr/>
              <p:nvPr/>
            </p:nvSpPr>
            <p:spPr>
              <a:xfrm>
                <a:off x="6830103" y="2258860"/>
                <a:ext cx="3600000" cy="2880000"/>
              </a:xfrm>
              <a:prstGeom prst="rect">
                <a:avLst/>
              </a:prstGeom>
              <a:solidFill>
                <a:sysClr val="window" lastClr="FFFFFF">
                  <a:lumMod val="75000"/>
                </a:sysClr>
              </a:solidFill>
              <a:ln w="12700" cap="flat" cmpd="sng" algn="ctr">
                <a:solidFill>
                  <a:sysClr val="windowText" lastClr="000000">
                    <a:lumMod val="50000"/>
                    <a:lumOff val="50000"/>
                  </a:sysClr>
                </a:solidFill>
                <a:prstDash val="dash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Noto Sans JP" panose="020B0200000000000000" pitchFamily="34" charset="-128"/>
                  <a:ea typeface="Noto Sans JP" panose="020B0200000000000000" pitchFamily="34" charset="-128"/>
                  <a:cs typeface="Arial"/>
                  <a:sym typeface="Arial"/>
                </a:endParaRPr>
              </a:p>
            </p:txBody>
          </p:sp>
          <p:sp>
            <p:nvSpPr>
              <p:cNvPr id="4" name="正方形/長方形 25">
                <a:extLst>
                  <a:ext uri="{FF2B5EF4-FFF2-40B4-BE49-F238E27FC236}">
                    <a16:creationId xmlns:a16="http://schemas.microsoft.com/office/drawing/2014/main" id="{6DCB5FF0-B426-6EF8-23A5-6FBE49E47376}"/>
                  </a:ext>
                </a:extLst>
              </p:cNvPr>
              <p:cNvSpPr/>
              <p:nvPr/>
            </p:nvSpPr>
            <p:spPr>
              <a:xfrm>
                <a:off x="6830103" y="2474859"/>
                <a:ext cx="3024000" cy="2664000"/>
              </a:xfrm>
              <a:prstGeom prst="rect">
                <a:avLst/>
              </a:prstGeom>
              <a:solidFill>
                <a:sysClr val="window" lastClr="FFFFFF">
                  <a:lumMod val="50000"/>
                </a:sys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lIns="216000" tIns="36000" rtlCol="0" anchor="t" anchorCtr="0"/>
              <a:lstStyle/>
              <a:p>
                <a:pPr marL="0" marR="0" lvl="0" indent="0" algn="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ja-JP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Noto Sans JP" panose="020B0200000000000000" pitchFamily="34" charset="-128"/>
                    <a:ea typeface="Noto Sans JP" panose="020B0200000000000000" pitchFamily="34" charset="-128"/>
                    <a:cs typeface="Arial"/>
                    <a:sym typeface="Arial"/>
                  </a:rPr>
                  <a:t>2023</a:t>
                </a:r>
                <a:r>
                  <a:rPr kumimoji="1" lang="ja-JP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Noto Sans JP" panose="020B0200000000000000" pitchFamily="34" charset="-128"/>
                    <a:ea typeface="Noto Sans JP" panose="020B0200000000000000" pitchFamily="34" charset="-128"/>
                    <a:cs typeface="Arial"/>
                    <a:sym typeface="Arial"/>
                  </a:rPr>
                  <a:t>年</a:t>
                </a:r>
                <a:r>
                  <a:rPr kumimoji="1" lang="en-US" altLang="ja-JP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Noto Sans JP" panose="020B0200000000000000" pitchFamily="34" charset="-128"/>
                    <a:ea typeface="Noto Sans JP" panose="020B0200000000000000" pitchFamily="34" charset="-128"/>
                    <a:cs typeface="Arial"/>
                    <a:sym typeface="Arial"/>
                  </a:rPr>
                  <a:t>CO2</a:t>
                </a:r>
                <a:r>
                  <a:rPr kumimoji="1" lang="ja-JP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Noto Sans JP" panose="020B0200000000000000" pitchFamily="34" charset="-128"/>
                    <a:ea typeface="Noto Sans JP" panose="020B0200000000000000" pitchFamily="34" charset="-128"/>
                    <a:cs typeface="Arial"/>
                    <a:sym typeface="Arial"/>
                  </a:rPr>
                  <a:t>排出量</a:t>
                </a:r>
                <a:endParaRPr kumimoji="1" lang="en-US" altLang="ja-JP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Noto Sans JP" panose="020B0200000000000000" pitchFamily="34" charset="-128"/>
                  <a:ea typeface="Noto Sans JP" panose="020B0200000000000000" pitchFamily="34" charset="-128"/>
                  <a:cs typeface="Arial"/>
                  <a:sym typeface="Arial"/>
                </a:endParaRPr>
              </a:p>
              <a:p>
                <a:pPr marL="0" marR="0" lvl="0" indent="0" algn="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ja-JP" altLang="en-US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Noto Sans JP" panose="020B0200000000000000" pitchFamily="34" charset="-128"/>
                    <a:ea typeface="Noto Sans JP" panose="020B0200000000000000" pitchFamily="34" charset="-128"/>
                    <a:cs typeface="Arial"/>
                    <a:sym typeface="Arial"/>
                  </a:rPr>
                  <a:t>（</a:t>
                </a:r>
                <a:r>
                  <a:rPr kumimoji="1" lang="en-US" altLang="ja-JP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Noto Sans JP" panose="020B0200000000000000" pitchFamily="34" charset="-128"/>
                    <a:ea typeface="Noto Sans JP" panose="020B0200000000000000" pitchFamily="34" charset="-128"/>
                    <a:cs typeface="Arial"/>
                    <a:sym typeface="Arial"/>
                  </a:rPr>
                  <a:t>2013</a:t>
                </a:r>
                <a:r>
                  <a:rPr kumimoji="1" lang="ja-JP" altLang="en-US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Noto Sans JP" panose="020B0200000000000000" pitchFamily="34" charset="-128"/>
                    <a:ea typeface="Noto Sans JP" panose="020B0200000000000000" pitchFamily="34" charset="-128"/>
                    <a:cs typeface="Arial"/>
                    <a:sym typeface="Arial"/>
                  </a:rPr>
                  <a:t>年比）</a:t>
                </a:r>
              </a:p>
            </p:txBody>
          </p:sp>
          <p:sp>
            <p:nvSpPr>
              <p:cNvPr id="12" name="矢印: 左 14">
                <a:extLst>
                  <a:ext uri="{FF2B5EF4-FFF2-40B4-BE49-F238E27FC236}">
                    <a16:creationId xmlns:a16="http://schemas.microsoft.com/office/drawing/2014/main" id="{88DDDCC3-8B13-99AA-42EE-BFDC9BE3D259}"/>
                  </a:ext>
                </a:extLst>
              </p:cNvPr>
              <p:cNvSpPr/>
              <p:nvPr/>
            </p:nvSpPr>
            <p:spPr>
              <a:xfrm>
                <a:off x="8864103" y="4862352"/>
                <a:ext cx="972000" cy="254794"/>
              </a:xfrm>
              <a:prstGeom prst="leftArrow">
                <a:avLst/>
              </a:prstGeom>
              <a:solidFill>
                <a:sysClr val="windowText" lastClr="000000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Noto Sans JP" panose="020B0200000000000000" pitchFamily="34" charset="-128"/>
                  <a:ea typeface="Noto Sans JP" panose="020B0200000000000000" pitchFamily="34" charset="-128"/>
                  <a:cs typeface="Arial"/>
                  <a:sym typeface="Arial"/>
                </a:endParaRPr>
              </a:p>
            </p:txBody>
          </p:sp>
          <p:sp>
            <p:nvSpPr>
              <p:cNvPr id="13" name="矢印: 下 15">
                <a:extLst>
                  <a:ext uri="{FF2B5EF4-FFF2-40B4-BE49-F238E27FC236}">
                    <a16:creationId xmlns:a16="http://schemas.microsoft.com/office/drawing/2014/main" id="{C3781AA7-F81C-B62B-502F-928B01C831A1}"/>
                  </a:ext>
                </a:extLst>
              </p:cNvPr>
              <p:cNvSpPr/>
              <p:nvPr/>
            </p:nvSpPr>
            <p:spPr>
              <a:xfrm>
                <a:off x="6905625" y="2474858"/>
                <a:ext cx="266699" cy="1440002"/>
              </a:xfrm>
              <a:prstGeom prst="downArrow">
                <a:avLst/>
              </a:prstGeom>
              <a:solidFill>
                <a:sysClr val="windowText" lastClr="000000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Noto Sans JP" panose="020B0200000000000000" pitchFamily="34" charset="-128"/>
                  <a:ea typeface="Noto Sans JP" panose="020B0200000000000000" pitchFamily="34" charset="-128"/>
                  <a:cs typeface="Arial"/>
                  <a:sym typeface="Arial"/>
                </a:endParaRPr>
              </a:p>
            </p:txBody>
          </p:sp>
          <p:sp>
            <p:nvSpPr>
              <p:cNvPr id="14" name="テキスト ボックス 16">
                <a:extLst>
                  <a:ext uri="{FF2B5EF4-FFF2-40B4-BE49-F238E27FC236}">
                    <a16:creationId xmlns:a16="http://schemas.microsoft.com/office/drawing/2014/main" id="{65C8899A-BCFC-99E8-391D-504714783CAD}"/>
                  </a:ext>
                </a:extLst>
              </p:cNvPr>
              <p:cNvSpPr txBox="1"/>
              <p:nvPr/>
            </p:nvSpPr>
            <p:spPr>
              <a:xfrm>
                <a:off x="7172324" y="2914133"/>
                <a:ext cx="1723549" cy="49244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ja-JP" altLang="en-US" sz="1200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Noto Sans JP" panose="020B0200000000000000" pitchFamily="34" charset="-128"/>
                    <a:ea typeface="Noto Sans JP" panose="020B0200000000000000" pitchFamily="34" charset="-128"/>
                    <a:cs typeface="Arial"/>
                    <a:sym typeface="Arial"/>
                  </a:rPr>
                  <a:t>電力脱炭素化・電化等</a:t>
                </a:r>
                <a:endParaRPr kumimoji="1" lang="en-US" altLang="ja-JP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Noto Sans JP" panose="020B0200000000000000" pitchFamily="34" charset="-128"/>
                  <a:ea typeface="Noto Sans JP" panose="020B0200000000000000" pitchFamily="34" charset="-128"/>
                  <a:cs typeface="Arial"/>
                  <a:sym typeface="Arial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ja-JP" altLang="en-US" sz="1400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Noto Sans JP" panose="020B0200000000000000" pitchFamily="34" charset="-128"/>
                    <a:ea typeface="Noto Sans JP" panose="020B0200000000000000" pitchFamily="34" charset="-128"/>
                    <a:cs typeface="Arial"/>
                    <a:sym typeface="Arial"/>
                  </a:rPr>
                  <a:t>▲</a:t>
                </a:r>
                <a:r>
                  <a:rPr kumimoji="1" lang="en-US" altLang="ja-JP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Noto Sans JP" panose="020B0200000000000000" pitchFamily="34" charset="-128"/>
                    <a:ea typeface="Noto Sans JP" panose="020B0200000000000000" pitchFamily="34" charset="-128"/>
                    <a:cs typeface="Arial"/>
                    <a:sym typeface="Arial"/>
                  </a:rPr>
                  <a:t>46%</a:t>
                </a:r>
                <a:endParaRPr kumimoji="1" lang="ja-JP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Noto Sans JP" panose="020B0200000000000000" pitchFamily="34" charset="-128"/>
                  <a:ea typeface="Noto Sans JP" panose="020B0200000000000000" pitchFamily="34" charset="-128"/>
                  <a:cs typeface="Arial"/>
                  <a:sym typeface="Arial"/>
                </a:endParaRPr>
              </a:p>
            </p:txBody>
          </p:sp>
          <p:sp>
            <p:nvSpPr>
              <p:cNvPr id="15" name="テキスト ボックス 17">
                <a:extLst>
                  <a:ext uri="{FF2B5EF4-FFF2-40B4-BE49-F238E27FC236}">
                    <a16:creationId xmlns:a16="http://schemas.microsoft.com/office/drawing/2014/main" id="{24AD2F20-10D2-E1DC-841C-EF39E894F62B}"/>
                  </a:ext>
                </a:extLst>
              </p:cNvPr>
              <p:cNvSpPr txBox="1"/>
              <p:nvPr/>
            </p:nvSpPr>
            <p:spPr>
              <a:xfrm>
                <a:off x="8810182" y="4146280"/>
                <a:ext cx="1784463" cy="6617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ja-JP" altLang="en-US" sz="12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Noto Sans JP" panose="020B0200000000000000" pitchFamily="34" charset="-128"/>
                    <a:ea typeface="Noto Sans JP" panose="020B0200000000000000" pitchFamily="34" charset="-128"/>
                    <a:cs typeface="Arial"/>
                    <a:sym typeface="Arial"/>
                  </a:rPr>
                  <a:t>エネルギー利用効率化</a:t>
                </a:r>
                <a:endParaRPr kumimoji="1" lang="en-US" altLang="ja-JP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Noto Sans JP" panose="020B0200000000000000" pitchFamily="34" charset="-128"/>
                  <a:ea typeface="Noto Sans JP" panose="020B0200000000000000" pitchFamily="34" charset="-128"/>
                  <a:cs typeface="Arial"/>
                  <a:sym typeface="Arial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ja-JP" altLang="en-US" sz="11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Noto Sans JP" panose="020B0200000000000000" pitchFamily="34" charset="-128"/>
                    <a:ea typeface="Noto Sans JP" panose="020B0200000000000000" pitchFamily="34" charset="-128"/>
                    <a:cs typeface="Arial"/>
                    <a:sym typeface="Arial"/>
                  </a:rPr>
                  <a:t>（</a:t>
                </a:r>
                <a:r>
                  <a:rPr kumimoji="1" lang="en-US" altLang="ja-JP" sz="11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Noto Sans JP" panose="020B0200000000000000" pitchFamily="34" charset="-128"/>
                    <a:ea typeface="Noto Sans JP" panose="020B0200000000000000" pitchFamily="34" charset="-128"/>
                    <a:cs typeface="Arial"/>
                    <a:sym typeface="Arial"/>
                  </a:rPr>
                  <a:t>DX</a:t>
                </a:r>
                <a:r>
                  <a:rPr kumimoji="1" lang="ja-JP" altLang="en-US" sz="11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Noto Sans JP" panose="020B0200000000000000" pitchFamily="34" charset="-128"/>
                    <a:ea typeface="Noto Sans JP" panose="020B0200000000000000" pitchFamily="34" charset="-128"/>
                    <a:cs typeface="Arial"/>
                    <a:sym typeface="Arial"/>
                  </a:rPr>
                  <a:t>・電化・省エネ等）</a:t>
                </a:r>
                <a:endParaRPr kumimoji="1" lang="en-US" altLang="ja-JP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Noto Sans JP" panose="020B0200000000000000" pitchFamily="34" charset="-128"/>
                  <a:ea typeface="Noto Sans JP" panose="020B0200000000000000" pitchFamily="34" charset="-128"/>
                  <a:cs typeface="Arial"/>
                  <a:sym typeface="Arial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ja-JP" altLang="en-US" sz="1400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Noto Sans JP" panose="020B0200000000000000" pitchFamily="34" charset="-128"/>
                    <a:ea typeface="Noto Sans JP" panose="020B0200000000000000" pitchFamily="34" charset="-128"/>
                    <a:cs typeface="Arial"/>
                    <a:sym typeface="Arial"/>
                  </a:rPr>
                  <a:t>▲</a:t>
                </a:r>
                <a:r>
                  <a:rPr kumimoji="1" lang="en-US" altLang="ja-JP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Noto Sans JP" panose="020B0200000000000000" pitchFamily="34" charset="-128"/>
                    <a:ea typeface="Noto Sans JP" panose="020B0200000000000000" pitchFamily="34" charset="-128"/>
                    <a:cs typeface="Arial"/>
                    <a:sym typeface="Arial"/>
                  </a:rPr>
                  <a:t>27%</a:t>
                </a:r>
                <a:endParaRPr kumimoji="1" lang="ja-JP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Noto Sans JP" panose="020B0200000000000000" pitchFamily="34" charset="-128"/>
                  <a:ea typeface="Noto Sans JP" panose="020B0200000000000000" pitchFamily="34" charset="-128"/>
                  <a:cs typeface="Arial"/>
                  <a:sym typeface="Arial"/>
                </a:endParaRPr>
              </a:p>
            </p:txBody>
          </p:sp>
          <p:sp>
            <p:nvSpPr>
              <p:cNvPr id="16" name="テキスト ボックス 18">
                <a:extLst>
                  <a:ext uri="{FF2B5EF4-FFF2-40B4-BE49-F238E27FC236}">
                    <a16:creationId xmlns:a16="http://schemas.microsoft.com/office/drawing/2014/main" id="{067F935C-5324-2A49-27DB-0D515E6AD6D3}"/>
                  </a:ext>
                </a:extLst>
              </p:cNvPr>
              <p:cNvSpPr txBox="1"/>
              <p:nvPr/>
            </p:nvSpPr>
            <p:spPr>
              <a:xfrm>
                <a:off x="7521195" y="5240112"/>
                <a:ext cx="223651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ja-JP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Noto Sans JP" panose="020B0200000000000000" pitchFamily="34" charset="-128"/>
                    <a:ea typeface="Noto Sans JP" panose="020B0200000000000000" pitchFamily="34" charset="-128"/>
                    <a:cs typeface="Arial"/>
                    <a:sym typeface="Arial"/>
                  </a:rPr>
                  <a:t>エネルギー消費量</a:t>
                </a:r>
              </a:p>
            </p:txBody>
          </p:sp>
          <p:sp>
            <p:nvSpPr>
              <p:cNvPr id="17" name="テキスト ボックス 19">
                <a:extLst>
                  <a:ext uri="{FF2B5EF4-FFF2-40B4-BE49-F238E27FC236}">
                    <a16:creationId xmlns:a16="http://schemas.microsoft.com/office/drawing/2014/main" id="{7994BFA0-FA43-5854-AABA-5FFAE75A6E6C}"/>
                  </a:ext>
                </a:extLst>
              </p:cNvPr>
              <p:cNvSpPr txBox="1"/>
              <p:nvPr/>
            </p:nvSpPr>
            <p:spPr>
              <a:xfrm rot="16200000">
                <a:off x="5818405" y="3447612"/>
                <a:ext cx="1467068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ja-JP" alt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Noto Sans JP" panose="020B0200000000000000" pitchFamily="34" charset="-128"/>
                    <a:ea typeface="Noto Sans JP" panose="020B0200000000000000" pitchFamily="34" charset="-128"/>
                    <a:cs typeface="Arial"/>
                    <a:sym typeface="Arial"/>
                  </a:rPr>
                  <a:t>排出原単位</a:t>
                </a:r>
                <a:endParaRPr kumimoji="1" lang="ja-JP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Noto Sans JP" panose="020B0200000000000000" pitchFamily="34" charset="-128"/>
                  <a:ea typeface="Noto Sans JP" panose="020B0200000000000000" pitchFamily="34" charset="-128"/>
                  <a:cs typeface="Arial"/>
                  <a:sym typeface="Arial"/>
                </a:endParaRPr>
              </a:p>
            </p:txBody>
          </p:sp>
          <p:sp>
            <p:nvSpPr>
              <p:cNvPr id="19" name="テキスト ボックス 21">
                <a:extLst>
                  <a:ext uri="{FF2B5EF4-FFF2-40B4-BE49-F238E27FC236}">
                    <a16:creationId xmlns:a16="http://schemas.microsoft.com/office/drawing/2014/main" id="{F30166AF-A6C1-33F0-4311-A7A389A33883}"/>
                  </a:ext>
                </a:extLst>
              </p:cNvPr>
              <p:cNvSpPr txBox="1"/>
              <p:nvPr/>
            </p:nvSpPr>
            <p:spPr>
              <a:xfrm>
                <a:off x="9369183" y="1996597"/>
                <a:ext cx="114005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ja-JP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50000"/>
                        <a:lumOff val="50000"/>
                      </a:prstClr>
                    </a:solidFill>
                    <a:effectLst/>
                    <a:uLnTx/>
                    <a:uFillTx/>
                    <a:latin typeface="Noto Sans JP" panose="020B0200000000000000" pitchFamily="34" charset="-128"/>
                    <a:ea typeface="Noto Sans JP" panose="020B0200000000000000" pitchFamily="34" charset="-128"/>
                    <a:cs typeface="Arial"/>
                    <a:sym typeface="Arial"/>
                  </a:rPr>
                  <a:t>2013</a:t>
                </a:r>
                <a:r>
                  <a:rPr kumimoji="1" lang="ja-JP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50000"/>
                        <a:lumOff val="50000"/>
                      </a:prstClr>
                    </a:solidFill>
                    <a:effectLst/>
                    <a:uLnTx/>
                    <a:uFillTx/>
                    <a:latin typeface="Noto Sans JP" panose="020B0200000000000000" pitchFamily="34" charset="-128"/>
                    <a:ea typeface="Noto Sans JP" panose="020B0200000000000000" pitchFamily="34" charset="-128"/>
                    <a:cs typeface="Arial"/>
                    <a:sym typeface="Arial"/>
                  </a:rPr>
                  <a:t>年排出量</a:t>
                </a:r>
              </a:p>
            </p:txBody>
          </p:sp>
          <p:sp>
            <p:nvSpPr>
              <p:cNvPr id="20" name="二等辺三角形 22">
                <a:extLst>
                  <a:ext uri="{FF2B5EF4-FFF2-40B4-BE49-F238E27FC236}">
                    <a16:creationId xmlns:a16="http://schemas.microsoft.com/office/drawing/2014/main" id="{1E936DA7-1224-1DBB-276E-998DBC128BBE}"/>
                  </a:ext>
                </a:extLst>
              </p:cNvPr>
              <p:cNvSpPr/>
              <p:nvPr/>
            </p:nvSpPr>
            <p:spPr>
              <a:xfrm rot="5400000">
                <a:off x="5639312" y="3555985"/>
                <a:ext cx="616172" cy="285750"/>
              </a:xfrm>
              <a:prstGeom prst="triangle">
                <a:avLst/>
              </a:prstGeom>
              <a:solidFill>
                <a:srgbClr val="70AD47">
                  <a:lumMod val="60000"/>
                  <a:lumOff val="40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Noto Sans JP" panose="020B0200000000000000" pitchFamily="34" charset="-128"/>
                  <a:ea typeface="Noto Sans JP" panose="020B0200000000000000" pitchFamily="34" charset="-128"/>
                  <a:cs typeface="Arial"/>
                  <a:sym typeface="Arial"/>
                </a:endParaRPr>
              </a:p>
            </p:txBody>
          </p:sp>
        </p:grpSp>
        <p:sp>
          <p:nvSpPr>
            <p:cNvPr id="24" name="テキスト ボックス 26">
              <a:extLst>
                <a:ext uri="{FF2B5EF4-FFF2-40B4-BE49-F238E27FC236}">
                  <a16:creationId xmlns:a16="http://schemas.microsoft.com/office/drawing/2014/main" id="{76C16EF7-F3E0-A13B-B05C-E471E8323FF2}"/>
                </a:ext>
              </a:extLst>
            </p:cNvPr>
            <p:cNvSpPr txBox="1"/>
            <p:nvPr/>
          </p:nvSpPr>
          <p:spPr>
            <a:xfrm>
              <a:off x="7115395" y="1572416"/>
              <a:ext cx="304811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2000" b="1" i="0" u="sng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Noto Sans JP" panose="020B0200000000000000" pitchFamily="34" charset="-128"/>
                  <a:ea typeface="Noto Sans JP" panose="020B0200000000000000" pitchFamily="34" charset="-128"/>
                  <a:cs typeface="Arial"/>
                  <a:sym typeface="Arial"/>
                </a:rPr>
                <a:t>2035</a:t>
              </a:r>
              <a:r>
                <a:rPr kumimoji="1" lang="ja-JP" altLang="en-US" sz="2000" b="1" i="0" u="sng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Noto Sans JP" panose="020B0200000000000000" pitchFamily="34" charset="-128"/>
                  <a:ea typeface="Noto Sans JP" panose="020B0200000000000000" pitchFamily="34" charset="-128"/>
                  <a:cs typeface="Arial"/>
                  <a:sym typeface="Arial"/>
                </a:rPr>
                <a:t>年に向けた変化</a:t>
              </a:r>
              <a:endParaRPr kumimoji="1" lang="ja-JP" altLang="en-US" sz="20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JP" panose="020B0200000000000000" pitchFamily="34" charset="-128"/>
                <a:ea typeface="Noto Sans JP" panose="020B0200000000000000" pitchFamily="34" charset="-128"/>
                <a:cs typeface="Arial"/>
                <a:sym typeface="Arial"/>
              </a:endParaRPr>
            </a:p>
          </p:txBody>
        </p:sp>
      </p:grpSp>
      <p:sp>
        <p:nvSpPr>
          <p:cNvPr id="26" name="Google Shape;162;g2c616aa2893_2_25">
            <a:extLst>
              <a:ext uri="{FF2B5EF4-FFF2-40B4-BE49-F238E27FC236}">
                <a16:creationId xmlns:a16="http://schemas.microsoft.com/office/drawing/2014/main" id="{AE8B7068-86ED-EFF0-F899-71A10B6F9734}"/>
              </a:ext>
            </a:extLst>
          </p:cNvPr>
          <p:cNvSpPr txBox="1"/>
          <p:nvPr/>
        </p:nvSpPr>
        <p:spPr>
          <a:xfrm>
            <a:off x="786785" y="290447"/>
            <a:ext cx="10606975" cy="9693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45D6D"/>
              </a:buClr>
              <a:buSzPts val="3200"/>
              <a:buFont typeface="Arial"/>
              <a:buNone/>
              <a:tabLst/>
              <a:defRPr/>
            </a:pPr>
            <a:r>
              <a:rPr kumimoji="0" lang="ja-JP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245D6D"/>
                </a:solidFill>
                <a:effectLst/>
                <a:uLnTx/>
                <a:uFillTx/>
                <a:latin typeface="Noto Sans JP" panose="020B0200000000000000" pitchFamily="34" charset="-128"/>
                <a:ea typeface="Noto Sans JP" panose="020B0200000000000000" pitchFamily="34" charset="-128"/>
                <a:cs typeface="Arial"/>
                <a:sym typeface="Arial"/>
              </a:rPr>
              <a:t>排出削減の考え方：</a:t>
            </a:r>
            <a:endParaRPr kumimoji="0" lang="en-US" altLang="ja-JP" sz="2800" b="1" i="0" u="none" strike="noStrike" kern="0" cap="none" spc="0" normalizeH="0" baseline="0" noProof="0" dirty="0">
              <a:ln>
                <a:noFill/>
              </a:ln>
              <a:solidFill>
                <a:srgbClr val="245D6D"/>
              </a:solidFill>
              <a:effectLst/>
              <a:uLnTx/>
              <a:uFillTx/>
              <a:latin typeface="Noto Sans JP" panose="020B0200000000000000" pitchFamily="34" charset="-128"/>
              <a:ea typeface="Noto Sans JP" panose="020B0200000000000000" pitchFamily="34" charset="-128"/>
              <a:cs typeface="Arial"/>
              <a:sym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45D6D"/>
              </a:buClr>
              <a:buSzPts val="3200"/>
              <a:buFont typeface="Arial"/>
              <a:buNone/>
              <a:tabLst/>
              <a:defRPr/>
            </a:pPr>
            <a:r>
              <a:rPr kumimoji="0" lang="ja-JP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245D6D"/>
                </a:solidFill>
                <a:effectLst/>
                <a:uLnTx/>
                <a:uFillTx/>
                <a:latin typeface="Noto Sans JP" panose="020B0200000000000000" pitchFamily="34" charset="-128"/>
                <a:ea typeface="Noto Sans JP" panose="020B0200000000000000" pitchFamily="34" charset="-128"/>
                <a:cs typeface="Arial"/>
                <a:sym typeface="Arial"/>
              </a:rPr>
              <a:t>「エネルギー利用効率化」</a:t>
            </a:r>
            <a:r>
              <a:rPr kumimoji="0" lang="en-US" altLang="ja-JP" sz="2800" b="1" i="0" u="none" strike="noStrike" kern="0" cap="none" spc="0" normalizeH="0" baseline="0" noProof="0" dirty="0">
                <a:ln>
                  <a:noFill/>
                </a:ln>
                <a:solidFill>
                  <a:srgbClr val="245D6D"/>
                </a:solidFill>
                <a:effectLst/>
                <a:uLnTx/>
                <a:uFillTx/>
                <a:latin typeface="Noto Sans JP" panose="020B0200000000000000" pitchFamily="34" charset="-128"/>
                <a:ea typeface="Noto Sans JP" panose="020B0200000000000000" pitchFamily="34" charset="-128"/>
                <a:cs typeface="Arial"/>
                <a:sym typeface="Arial"/>
              </a:rPr>
              <a:t> × </a:t>
            </a:r>
            <a:r>
              <a:rPr kumimoji="0" lang="ja-JP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245D6D"/>
                </a:solidFill>
                <a:effectLst/>
                <a:uLnTx/>
                <a:uFillTx/>
                <a:latin typeface="Noto Sans JP" panose="020B0200000000000000" pitchFamily="34" charset="-128"/>
                <a:ea typeface="Noto Sans JP" panose="020B0200000000000000" pitchFamily="34" charset="-128"/>
                <a:cs typeface="Arial"/>
                <a:sym typeface="Arial"/>
              </a:rPr>
              <a:t>「エネルギー転換」</a:t>
            </a:r>
            <a:endParaRPr kumimoji="0" lang="ja-JP" altLang="en-US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oto Sans JP" panose="020B0200000000000000" pitchFamily="34" charset="-128"/>
              <a:ea typeface="Noto Sans JP" panose="020B0200000000000000" pitchFamily="34" charset="-128"/>
              <a:cs typeface="Arial"/>
              <a:sym typeface="Arial"/>
            </a:endParaRPr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740E2A96-2D23-6311-0754-46118DE2F56C}"/>
              </a:ext>
            </a:extLst>
          </p:cNvPr>
          <p:cNvSpPr txBox="1"/>
          <p:nvPr/>
        </p:nvSpPr>
        <p:spPr>
          <a:xfrm>
            <a:off x="2766725" y="1056601"/>
            <a:ext cx="413005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2000" b="1" i="0" u="none" strike="noStrike" kern="0" cap="none" spc="0" normalizeH="0" baseline="0" noProof="0" dirty="0">
                <a:ln>
                  <a:noFill/>
                </a:ln>
                <a:solidFill>
                  <a:srgbClr val="245D6D"/>
                </a:solidFill>
                <a:effectLst/>
                <a:uLnTx/>
                <a:uFillTx/>
                <a:latin typeface="Noto Sans JP" panose="020B0200000000000000" pitchFamily="34" charset="-128"/>
                <a:ea typeface="Noto Sans JP" panose="020B0200000000000000" pitchFamily="34" charset="-128"/>
                <a:cs typeface="Arial"/>
                <a:sym typeface="Arial"/>
              </a:rPr>
              <a:t>(</a:t>
            </a:r>
            <a:r>
              <a:rPr kumimoji="0" lang="ja-JP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245D6D"/>
                </a:solidFill>
                <a:effectLst/>
                <a:uLnTx/>
                <a:uFillTx/>
                <a:latin typeface="Noto Sans JP" panose="020B0200000000000000" pitchFamily="34" charset="-128"/>
                <a:ea typeface="Noto Sans JP" panose="020B0200000000000000" pitchFamily="34" charset="-128"/>
                <a:cs typeface="Arial"/>
                <a:sym typeface="Arial"/>
              </a:rPr>
              <a:t>エネルギー消費量の削減）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6ABB5261-8428-60AB-3907-C0EA3DB3D59D}"/>
              </a:ext>
            </a:extLst>
          </p:cNvPr>
          <p:cNvSpPr txBox="1"/>
          <p:nvPr/>
        </p:nvSpPr>
        <p:spPr>
          <a:xfrm>
            <a:off x="7309407" y="1045256"/>
            <a:ext cx="261025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2000" b="1" i="0" u="none" strike="noStrike" kern="0" cap="none" spc="0" normalizeH="0" baseline="0" noProof="0" dirty="0">
                <a:ln>
                  <a:noFill/>
                </a:ln>
                <a:solidFill>
                  <a:srgbClr val="245D6D"/>
                </a:solidFill>
                <a:effectLst/>
                <a:uLnTx/>
                <a:uFillTx/>
                <a:latin typeface="Noto Sans JP" panose="020B0200000000000000" pitchFamily="34" charset="-128"/>
                <a:ea typeface="Noto Sans JP" panose="020B0200000000000000" pitchFamily="34" charset="-128"/>
                <a:cs typeface="Arial"/>
                <a:sym typeface="Arial"/>
              </a:rPr>
              <a:t>(</a:t>
            </a:r>
            <a:r>
              <a:rPr kumimoji="0" lang="ja-JP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245D6D"/>
                </a:solidFill>
                <a:effectLst/>
                <a:uLnTx/>
                <a:uFillTx/>
                <a:latin typeface="Noto Sans JP" panose="020B0200000000000000" pitchFamily="34" charset="-128"/>
                <a:ea typeface="Noto Sans JP" panose="020B0200000000000000" pitchFamily="34" charset="-128"/>
                <a:cs typeface="Arial"/>
                <a:sym typeface="Arial"/>
              </a:rPr>
              <a:t>排出原単位の削減</a:t>
            </a:r>
            <a:r>
              <a:rPr kumimoji="0" lang="en-US" altLang="ja-JP" sz="2000" b="1" i="0" u="none" strike="noStrike" kern="0" cap="none" spc="0" normalizeH="0" baseline="0" noProof="0" dirty="0">
                <a:ln>
                  <a:noFill/>
                </a:ln>
                <a:solidFill>
                  <a:srgbClr val="245D6D"/>
                </a:solidFill>
                <a:effectLst/>
                <a:uLnTx/>
                <a:uFillTx/>
                <a:latin typeface="Noto Sans JP" panose="020B0200000000000000" pitchFamily="34" charset="-128"/>
                <a:ea typeface="Noto Sans JP" panose="020B0200000000000000" pitchFamily="34" charset="-128"/>
                <a:cs typeface="Arial"/>
                <a:sym typeface="Arial"/>
              </a:rPr>
              <a:t>)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F613EE1F-ED58-707D-C9FB-C8AEF79286EB}"/>
              </a:ext>
            </a:extLst>
          </p:cNvPr>
          <p:cNvSpPr/>
          <p:nvPr/>
        </p:nvSpPr>
        <p:spPr>
          <a:xfrm>
            <a:off x="6920005" y="4326918"/>
            <a:ext cx="2016000" cy="1224000"/>
          </a:xfrm>
          <a:prstGeom prst="rect">
            <a:avLst/>
          </a:prstGeom>
          <a:solidFill>
            <a:srgbClr val="70AD4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oto Sans JP" panose="020B0200000000000000" pitchFamily="34" charset="-128"/>
                <a:ea typeface="Noto Sans JP" panose="020B0200000000000000" pitchFamily="34" charset="-128"/>
                <a:cs typeface="Arial"/>
                <a:sym typeface="Arial"/>
              </a:rPr>
              <a:t>2035</a:t>
            </a:r>
            <a:r>
              <a:rPr kumimoji="1" lang="ja-JP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oto Sans JP" panose="020B0200000000000000" pitchFamily="34" charset="-128"/>
                <a:ea typeface="Noto Sans JP" panose="020B0200000000000000" pitchFamily="34" charset="-128"/>
                <a:cs typeface="Arial"/>
                <a:sym typeface="Arial"/>
              </a:rPr>
              <a:t>年</a:t>
            </a:r>
            <a:endParaRPr kumimoji="1" lang="en-US" altLang="ja-JP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oto Sans JP" panose="020B0200000000000000" pitchFamily="34" charset="-128"/>
              <a:ea typeface="Noto Sans JP" panose="020B0200000000000000" pitchFamily="34" charset="-128"/>
              <a:cs typeface="Arial"/>
              <a:sym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oto Sans JP" panose="020B0200000000000000" pitchFamily="34" charset="-128"/>
                <a:ea typeface="Noto Sans JP" panose="020B0200000000000000" pitchFamily="34" charset="-128"/>
                <a:cs typeface="Arial"/>
                <a:sym typeface="Arial"/>
              </a:rPr>
              <a:t>▲</a:t>
            </a:r>
            <a:r>
              <a:rPr kumimoji="1" lang="en-US" altLang="ja-JP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oto Sans JP" panose="020B0200000000000000" pitchFamily="34" charset="-128"/>
                <a:ea typeface="Noto Sans JP" panose="020B0200000000000000" pitchFamily="34" charset="-128"/>
                <a:cs typeface="Arial"/>
                <a:sym typeface="Arial"/>
              </a:rPr>
              <a:t>76%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oto Sans JP" panose="020B0200000000000000" pitchFamily="34" charset="-128"/>
                <a:ea typeface="Noto Sans JP" panose="020B0200000000000000" pitchFamily="34" charset="-128"/>
                <a:cs typeface="Arial"/>
                <a:sym typeface="Arial"/>
              </a:rPr>
              <a:t>（</a:t>
            </a:r>
            <a:r>
              <a:rPr kumimoji="1" lang="en-US" altLang="ja-JP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oto Sans JP" panose="020B0200000000000000" pitchFamily="34" charset="-128"/>
                <a:ea typeface="Noto Sans JP" panose="020B0200000000000000" pitchFamily="34" charset="-128"/>
                <a:cs typeface="Arial"/>
                <a:sym typeface="Arial"/>
              </a:rPr>
              <a:t>2013</a:t>
            </a:r>
            <a:r>
              <a:rPr kumimoji="1" lang="ja-JP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oto Sans JP" panose="020B0200000000000000" pitchFamily="34" charset="-128"/>
                <a:ea typeface="Noto Sans JP" panose="020B0200000000000000" pitchFamily="34" charset="-128"/>
                <a:cs typeface="Arial"/>
                <a:sym typeface="Arial"/>
              </a:rPr>
              <a:t>年比）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1108080-44E6-D73D-A198-8764E97FD979}"/>
              </a:ext>
            </a:extLst>
          </p:cNvPr>
          <p:cNvSpPr txBox="1"/>
          <p:nvPr/>
        </p:nvSpPr>
        <p:spPr>
          <a:xfrm>
            <a:off x="6288065" y="6073973"/>
            <a:ext cx="522290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JP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Noto Sans JP" panose="020B0200000000000000" pitchFamily="34" charset="-128"/>
                <a:ea typeface="Noto Sans JP" panose="020B0200000000000000" pitchFamily="34" charset="-128"/>
                <a:cs typeface="+mn-cs"/>
              </a:rPr>
              <a:t>(1.5℃ロードマップでのエネルギー消費量と排出源単位の変化)</a:t>
            </a:r>
          </a:p>
        </p:txBody>
      </p:sp>
    </p:spTree>
    <p:extLst>
      <p:ext uri="{BB962C8B-B14F-4D97-AF65-F5344CB8AC3E}">
        <p14:creationId xmlns:p14="http://schemas.microsoft.com/office/powerpoint/2010/main" val="42097235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blank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210</Words>
  <Application>Microsoft Macintosh PowerPoint</Application>
  <PresentationFormat>Widescreen</PresentationFormat>
  <Paragraphs>56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Noto Sans JP</vt:lpstr>
      <vt:lpstr>Aptos</vt:lpstr>
      <vt:lpstr>Aptos Display</vt:lpstr>
      <vt:lpstr>Arial</vt:lpstr>
      <vt:lpstr>Office Theme</vt:lpstr>
      <vt:lpstr>blank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ikuru iwata</dc:creator>
  <cp:lastModifiedBy>ikuru iwata</cp:lastModifiedBy>
  <cp:revision>3</cp:revision>
  <dcterms:created xsi:type="dcterms:W3CDTF">2026-06-10T04:40:57Z</dcterms:created>
  <dcterms:modified xsi:type="dcterms:W3CDTF">2026-06-10T06:44:31Z</dcterms:modified>
</cp:coreProperties>
</file>