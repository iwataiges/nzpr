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4" r:id="rId1"/>
  </p:sldMasterIdLst>
  <p:notesMasterIdLst>
    <p:notesMasterId r:id="rId11"/>
  </p:notesMasterIdLst>
  <p:sldIdLst>
    <p:sldId id="340" r:id="rId2"/>
    <p:sldId id="343" r:id="rId3"/>
    <p:sldId id="342" r:id="rId4"/>
    <p:sldId id="341" r:id="rId5"/>
    <p:sldId id="336" r:id="rId6"/>
    <p:sldId id="338" r:id="rId7"/>
    <p:sldId id="317" r:id="rId8"/>
    <p:sldId id="318" r:id="rId9"/>
    <p:sldId id="319" r:id="rId10"/>
  </p:sldIdLst>
  <p:sldSz cx="9144000" cy="5143500" type="screen16x9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69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kihisa Kuriyama" initials="AK" lastIdx="1" clrIdx="0">
    <p:extLst>
      <p:ext uri="{19B8F6BF-5375-455C-9EA6-DF929625EA0E}">
        <p15:presenceInfo xmlns:p15="http://schemas.microsoft.com/office/powerpoint/2012/main" userId="Akihisa Kuriyama" providerId="None"/>
      </p:ext>
    </p:extLst>
  </p:cmAuthor>
  <p:cmAuthor id="2" name="y-tanaka" initials="y" lastIdx="7" clrIdx="1">
    <p:extLst>
      <p:ext uri="{19B8F6BF-5375-455C-9EA6-DF929625EA0E}">
        <p15:presenceInfo xmlns:p15="http://schemas.microsoft.com/office/powerpoint/2012/main" userId="S-1-5-21-2125205520-1435969219-619646970-1081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5B8340"/>
    <a:srgbClr val="C13532"/>
    <a:srgbClr val="385D8A"/>
    <a:srgbClr val="604A7B"/>
    <a:srgbClr val="E6F0FF"/>
    <a:srgbClr val="EEEEEE"/>
    <a:srgbClr val="FFFFFF"/>
    <a:srgbClr val="EBF1DE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中間スタイル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63" autoAdjust="0"/>
    <p:restoredTop sz="96327"/>
  </p:normalViewPr>
  <p:slideViewPr>
    <p:cSldViewPr snapToGrid="0">
      <p:cViewPr varScale="1">
        <p:scale>
          <a:sx n="164" d="100"/>
          <a:sy n="164" d="100"/>
        </p:scale>
        <p:origin x="784" y="168"/>
      </p:cViewPr>
      <p:guideLst>
        <p:guide orient="horz" pos="1620"/>
        <p:guide pos="26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80A8AD-3768-4DA5-981B-52B5E1DCB1BF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45E22-7B80-46D8-AA8B-1027AA374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4642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Jー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5531865-1B5C-4DAB-90C9-467038492C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02807259-78E4-4F77-9949-252E5DFAFA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976351"/>
            <a:ext cx="7937381" cy="685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r>
              <a:rPr lang="en-US" altLang="ja-JP" dirty="0"/>
              <a:t>Presentation Title</a:t>
            </a:r>
            <a:endParaRPr kumimoji="1" lang="ja-JP" altLang="en-US" dirty="0"/>
          </a:p>
        </p:txBody>
      </p:sp>
      <p:sp>
        <p:nvSpPr>
          <p:cNvPr id="10" name="テキスト プレースホルダー 17">
            <a:extLst>
              <a:ext uri="{FF2B5EF4-FFF2-40B4-BE49-F238E27FC236}">
                <a16:creationId xmlns:a16="http://schemas.microsoft.com/office/drawing/2014/main" id="{5B6A0752-EF8A-438E-B483-37F417DEB9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1497" y="4677693"/>
            <a:ext cx="6759441" cy="29786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ja-JP" dirty="0"/>
              <a:t>Name Title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0020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-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03B804B-AA51-4977-928B-AFFBE2C841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90CEBD5F-E9F5-4381-A8AE-4DF116CBD3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976351"/>
            <a:ext cx="7937381" cy="685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r>
              <a:rPr lang="en-US" altLang="ja-JP" dirty="0"/>
              <a:t>Presentation Title</a:t>
            </a:r>
            <a:endParaRPr kumimoji="1" lang="ja-JP" altLang="en-US" dirty="0"/>
          </a:p>
        </p:txBody>
      </p:sp>
      <p:sp>
        <p:nvSpPr>
          <p:cNvPr id="6" name="テキスト プレースホルダー 17">
            <a:extLst>
              <a:ext uri="{FF2B5EF4-FFF2-40B4-BE49-F238E27FC236}">
                <a16:creationId xmlns:a16="http://schemas.microsoft.com/office/drawing/2014/main" id="{04EC0833-954B-439E-B9CE-0843BA895B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59874" y="4677693"/>
            <a:ext cx="6681064" cy="29786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ja-JP" dirty="0"/>
              <a:t>Name Title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59561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age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895723E-1891-4669-B586-8559F65A70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スライド番号プレースホルダー 14">
            <a:extLst>
              <a:ext uri="{FF2B5EF4-FFF2-40B4-BE49-F238E27FC236}">
                <a16:creationId xmlns:a16="http://schemas.microsoft.com/office/drawing/2014/main" id="{BF0C8C00-7A16-4B46-869C-5323D69C71BD}"/>
              </a:ext>
            </a:extLst>
          </p:cNvPr>
          <p:cNvSpPr txBox="1">
            <a:spLocks/>
          </p:cNvSpPr>
          <p:nvPr userDrawn="1"/>
        </p:nvSpPr>
        <p:spPr>
          <a:xfrm>
            <a:off x="8732632" y="4888361"/>
            <a:ext cx="373961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0029D90-C963-4255-B7AF-03DECCB7808F}" type="slidenum">
              <a:rPr lang="ja-JP" altLang="en-US" sz="900" smtClean="0">
                <a:solidFill>
                  <a:srgbClr val="4C4944"/>
                </a:solidFill>
              </a:rPr>
              <a:pPr algn="ctr"/>
              <a:t>‹#›</a:t>
            </a:fld>
            <a:endParaRPr lang="ja-JP" altLang="en-US" sz="900" dirty="0">
              <a:solidFill>
                <a:srgbClr val="4C49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298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572">
          <p15:clr>
            <a:srgbClr val="FBAE40"/>
          </p15:clr>
        </p15:guide>
        <p15:guide id="4" orient="horz" pos="102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age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1A568868-27A7-4523-BA21-16207EC1A2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スライド番号プレースホルダー 14">
            <a:extLst>
              <a:ext uri="{FF2B5EF4-FFF2-40B4-BE49-F238E27FC236}">
                <a16:creationId xmlns:a16="http://schemas.microsoft.com/office/drawing/2014/main" id="{BF0C8C00-7A16-4B46-869C-5323D69C71BD}"/>
              </a:ext>
            </a:extLst>
          </p:cNvPr>
          <p:cNvSpPr txBox="1">
            <a:spLocks/>
          </p:cNvSpPr>
          <p:nvPr userDrawn="1"/>
        </p:nvSpPr>
        <p:spPr>
          <a:xfrm>
            <a:off x="8732632" y="4888361"/>
            <a:ext cx="373961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0029D90-C963-4255-B7AF-03DECCB7808F}" type="slidenum">
              <a:rPr lang="ja-JP" altLang="en-US" sz="900" smtClean="0">
                <a:solidFill>
                  <a:srgbClr val="4C4944"/>
                </a:solidFill>
              </a:rPr>
              <a:pPr algn="ctr"/>
              <a:t>‹#›</a:t>
            </a:fld>
            <a:endParaRPr lang="ja-JP" altLang="en-US" sz="900" dirty="0">
              <a:solidFill>
                <a:srgbClr val="4C49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17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age-non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A24B189-520E-4A1C-AFEC-7E17E320E7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684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age-non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B63D94A-0A3F-421E-81AB-238E60E113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852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A4FF2B20-882B-4A39-9D5C-49DBE1310E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064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647431E-9BC2-4D6B-83B5-220492E71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911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34296"/>
            <a:ext cx="9144000" cy="216001"/>
          </a:xfrm>
          <a:prstGeom prst="rect">
            <a:avLst/>
          </a:prstGeom>
        </p:spPr>
      </p:pic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604448" y="4889170"/>
            <a:ext cx="442392" cy="216000"/>
          </a:xfrm>
          <a:prstGeom prst="rect">
            <a:avLst/>
          </a:prstGeom>
        </p:spPr>
        <p:txBody>
          <a:bodyPr anchor="t"/>
          <a:lstStyle>
            <a:lvl1pPr algn="ctr">
              <a:defRPr sz="1200">
                <a:solidFill>
                  <a:schemeClr val="bg1"/>
                </a:solidFill>
                <a:latin typeface="Segoe UI" panose="020B0502040204020203" pitchFamily="34" charset="0"/>
                <a:ea typeface="HGPｺﾞｼｯｸM" panose="020B0600000000000000" pitchFamily="50" charset="-128"/>
                <a:cs typeface="Segoe UI" panose="020B0502040204020203" pitchFamily="34" charset="0"/>
              </a:defRPr>
            </a:lvl1pPr>
          </a:lstStyle>
          <a:p>
            <a:fld id="{1E12D505-A33E-4C6C-8BE1-D5F3423A3E0A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80E4508-112D-4575-BB76-2722CFC6579E}"/>
              </a:ext>
            </a:extLst>
          </p:cNvPr>
          <p:cNvSpPr/>
          <p:nvPr userDrawn="1"/>
        </p:nvSpPr>
        <p:spPr>
          <a:xfrm>
            <a:off x="7188386" y="4972468"/>
            <a:ext cx="1054564" cy="132703"/>
          </a:xfrm>
          <a:prstGeom prst="rect">
            <a:avLst/>
          </a:prstGeom>
          <a:solidFill>
            <a:srgbClr val="9317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5D993C7-B730-41C8-B650-93FFC5E87A8D}"/>
              </a:ext>
            </a:extLst>
          </p:cNvPr>
          <p:cNvSpPr txBox="1"/>
          <p:nvPr userDrawn="1"/>
        </p:nvSpPr>
        <p:spPr>
          <a:xfrm>
            <a:off x="7165024" y="4904076"/>
            <a:ext cx="9813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>
                <a:solidFill>
                  <a:schemeClr val="bg1"/>
                </a:solidFill>
                <a:latin typeface="+mj-lt"/>
              </a:rPr>
              <a:t>www.iges.or.jp</a:t>
            </a:r>
            <a:endParaRPr kumimoji="1" lang="ja-JP" altLang="en-US"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265D65F-2913-4545-B03D-A3E36966EBD3}"/>
              </a:ext>
            </a:extLst>
          </p:cNvPr>
          <p:cNvSpPr txBox="1"/>
          <p:nvPr userDrawn="1"/>
        </p:nvSpPr>
        <p:spPr>
          <a:xfrm>
            <a:off x="8180124" y="51208"/>
            <a:ext cx="1021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chemeClr val="accent2"/>
                </a:solidFill>
              </a:rPr>
              <a:t>confidential</a:t>
            </a:r>
            <a:endParaRPr kumimoji="1" lang="ja-JP" altLang="en-US" sz="12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7868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userDrawn="1">
  <p:cSld name="白紙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sldNum" idx="12"/>
          </p:nvPr>
        </p:nvSpPr>
        <p:spPr>
          <a:xfrm>
            <a:off x="688546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21087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25">
          <p15:clr>
            <a:srgbClr val="FBAE40"/>
          </p15:clr>
        </p15:guide>
        <p15:guide id="4" pos="7355">
          <p15:clr>
            <a:srgbClr val="FBAE40"/>
          </p15:clr>
        </p15:guide>
        <p15:guide id="5" orient="horz" pos="300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364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8006E-DD73-8BBA-214C-494B7526F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DEA2531C-FEE1-4771-8AC7-98584019B391}"/>
              </a:ext>
            </a:extLst>
          </p:cNvPr>
          <p:cNvSpPr/>
          <p:nvPr/>
        </p:nvSpPr>
        <p:spPr>
          <a:xfrm>
            <a:off x="2406244" y="943281"/>
            <a:ext cx="1512000" cy="54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①再エネ</a:t>
            </a: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設備（</a:t>
            </a:r>
            <a:r>
              <a:rPr lang="en-US" altLang="ja-JP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kW</a:t>
            </a: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）を増やす</a:t>
            </a:r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AFB90AA9-BD51-41CE-9FB5-5F18AD58D45B}"/>
              </a:ext>
            </a:extLst>
          </p:cNvPr>
          <p:cNvSpPr/>
          <p:nvPr/>
        </p:nvSpPr>
        <p:spPr>
          <a:xfrm>
            <a:off x="4203729" y="1479507"/>
            <a:ext cx="2196000" cy="30777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次世代技術の開発・普及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57" name="四角形: 角を丸くする 56">
            <a:extLst>
              <a:ext uri="{FF2B5EF4-FFF2-40B4-BE49-F238E27FC236}">
                <a16:creationId xmlns:a16="http://schemas.microsoft.com/office/drawing/2014/main" id="{79B19F3F-B5F9-472B-8541-D5D89211AEF7}"/>
              </a:ext>
            </a:extLst>
          </p:cNvPr>
          <p:cNvSpPr/>
          <p:nvPr/>
        </p:nvSpPr>
        <p:spPr>
          <a:xfrm>
            <a:off x="4203729" y="664052"/>
            <a:ext cx="2196000" cy="30777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設置場所の拡大と規制緩和</a:t>
            </a: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83C037D6-8FA0-41EA-B97E-6E83B96F7350}"/>
              </a:ext>
            </a:extLst>
          </p:cNvPr>
          <p:cNvSpPr/>
          <p:nvPr/>
        </p:nvSpPr>
        <p:spPr>
          <a:xfrm>
            <a:off x="4203729" y="1065927"/>
            <a:ext cx="2196000" cy="30777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インセンティブの最適化</a:t>
            </a:r>
            <a:endParaRPr lang="ja-JP" altLang="en-US" sz="1200" b="1" kern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cxnSp>
        <p:nvCxnSpPr>
          <p:cNvPr id="59" name="コネクタ: カギ線 58">
            <a:extLst>
              <a:ext uri="{FF2B5EF4-FFF2-40B4-BE49-F238E27FC236}">
                <a16:creationId xmlns:a16="http://schemas.microsoft.com/office/drawing/2014/main" id="{807FAAFE-F2FA-4E9C-80FF-FDC5AF61E02B}"/>
              </a:ext>
            </a:extLst>
          </p:cNvPr>
          <p:cNvCxnSpPr>
            <a:cxnSpLocks/>
            <a:stCxn id="56" idx="1"/>
            <a:endCxn id="53" idx="3"/>
          </p:cNvCxnSpPr>
          <p:nvPr/>
        </p:nvCxnSpPr>
        <p:spPr>
          <a:xfrm rot="10800000">
            <a:off x="3918245" y="1213282"/>
            <a:ext cx="285485" cy="420115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コネクタ: カギ線 59">
            <a:extLst>
              <a:ext uri="{FF2B5EF4-FFF2-40B4-BE49-F238E27FC236}">
                <a16:creationId xmlns:a16="http://schemas.microsoft.com/office/drawing/2014/main" id="{A23836DE-AB62-4DB0-967A-ECE7D29AFFEC}"/>
              </a:ext>
            </a:extLst>
          </p:cNvPr>
          <p:cNvCxnSpPr>
            <a:cxnSpLocks/>
            <a:stCxn id="57" idx="1"/>
            <a:endCxn id="53" idx="3"/>
          </p:cNvCxnSpPr>
          <p:nvPr/>
        </p:nvCxnSpPr>
        <p:spPr>
          <a:xfrm rot="10800000" flipV="1">
            <a:off x="3918245" y="817941"/>
            <a:ext cx="285485" cy="395340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コネクタ: カギ線 60">
            <a:extLst>
              <a:ext uri="{FF2B5EF4-FFF2-40B4-BE49-F238E27FC236}">
                <a16:creationId xmlns:a16="http://schemas.microsoft.com/office/drawing/2014/main" id="{9B192DCF-97F8-43F4-8551-5F051EE958C7}"/>
              </a:ext>
            </a:extLst>
          </p:cNvPr>
          <p:cNvCxnSpPr>
            <a:cxnSpLocks/>
            <a:stCxn id="58" idx="1"/>
            <a:endCxn id="53" idx="3"/>
          </p:cNvCxnSpPr>
          <p:nvPr/>
        </p:nvCxnSpPr>
        <p:spPr>
          <a:xfrm rot="10800000">
            <a:off x="3918245" y="1213282"/>
            <a:ext cx="285485" cy="6535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4819A9CC-499F-4DE1-BBCC-27919B2200D0}"/>
              </a:ext>
            </a:extLst>
          </p:cNvPr>
          <p:cNvSpPr/>
          <p:nvPr/>
        </p:nvSpPr>
        <p:spPr>
          <a:xfrm>
            <a:off x="2406244" y="2273825"/>
            <a:ext cx="1512000" cy="540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②再エネの　　　最大限活用</a:t>
            </a:r>
            <a:endParaRPr kumimoji="0" lang="en-US" altLang="ja-JP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（</a:t>
            </a:r>
            <a:r>
              <a:rPr kumimoji="0" lang="en-US" altLang="ja-JP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kWh</a:t>
            </a: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を増やす）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0CA1EE8A-4206-4EC3-9B5B-21E20A470CA8}"/>
              </a:ext>
            </a:extLst>
          </p:cNvPr>
          <p:cNvSpPr/>
          <p:nvPr/>
        </p:nvSpPr>
        <p:spPr>
          <a:xfrm>
            <a:off x="4203730" y="2163294"/>
            <a:ext cx="2196000" cy="252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出力制御回避と柔軟性確保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64" name="四角形: 角を丸くする 63">
            <a:extLst>
              <a:ext uri="{FF2B5EF4-FFF2-40B4-BE49-F238E27FC236}">
                <a16:creationId xmlns:a16="http://schemas.microsoft.com/office/drawing/2014/main" id="{72756C50-771E-436F-8305-F1D7D300CADE}"/>
              </a:ext>
            </a:extLst>
          </p:cNvPr>
          <p:cNvSpPr/>
          <p:nvPr/>
        </p:nvSpPr>
        <p:spPr>
          <a:xfrm>
            <a:off x="4211478" y="2669039"/>
            <a:ext cx="2196000" cy="307777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系統インフラと需要適地誘導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cxnSp>
        <p:nvCxnSpPr>
          <p:cNvPr id="66" name="コネクタ: カギ線 65">
            <a:extLst>
              <a:ext uri="{FF2B5EF4-FFF2-40B4-BE49-F238E27FC236}">
                <a16:creationId xmlns:a16="http://schemas.microsoft.com/office/drawing/2014/main" id="{11B53EA4-9A67-43E5-883F-5712123AE437}"/>
              </a:ext>
            </a:extLst>
          </p:cNvPr>
          <p:cNvCxnSpPr>
            <a:cxnSpLocks/>
            <a:stCxn id="63" idx="1"/>
          </p:cNvCxnSpPr>
          <p:nvPr/>
        </p:nvCxnSpPr>
        <p:spPr>
          <a:xfrm rot="10800000" flipV="1">
            <a:off x="3918244" y="2289294"/>
            <a:ext cx="285486" cy="277778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コネクタ: カギ線 67">
            <a:extLst>
              <a:ext uri="{FF2B5EF4-FFF2-40B4-BE49-F238E27FC236}">
                <a16:creationId xmlns:a16="http://schemas.microsoft.com/office/drawing/2014/main" id="{C393DC3B-6536-4A77-BFFC-0E0B9F4A72B7}"/>
              </a:ext>
            </a:extLst>
          </p:cNvPr>
          <p:cNvCxnSpPr>
            <a:cxnSpLocks/>
          </p:cNvCxnSpPr>
          <p:nvPr/>
        </p:nvCxnSpPr>
        <p:spPr>
          <a:xfrm rot="10800000">
            <a:off x="3918245" y="2571070"/>
            <a:ext cx="285485" cy="21600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BD42E3D6-18E8-4066-9239-54F66053C7B6}"/>
              </a:ext>
            </a:extLst>
          </p:cNvPr>
          <p:cNvSpPr/>
          <p:nvPr/>
        </p:nvSpPr>
        <p:spPr>
          <a:xfrm>
            <a:off x="2406244" y="3454063"/>
            <a:ext cx="1512000" cy="43030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③社会受容性の　向上</a:t>
            </a:r>
          </a:p>
        </p:txBody>
      </p:sp>
      <p:sp>
        <p:nvSpPr>
          <p:cNvPr id="72" name="四角形: 角を丸くする 71">
            <a:extLst>
              <a:ext uri="{FF2B5EF4-FFF2-40B4-BE49-F238E27FC236}">
                <a16:creationId xmlns:a16="http://schemas.microsoft.com/office/drawing/2014/main" id="{7B66C2B5-3227-4FAB-8C5A-7B7FE1F01D66}"/>
              </a:ext>
            </a:extLst>
          </p:cNvPr>
          <p:cNvSpPr/>
          <p:nvPr/>
        </p:nvSpPr>
        <p:spPr>
          <a:xfrm>
            <a:off x="4195515" y="3302146"/>
            <a:ext cx="2196000" cy="3077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地域共生・合意形成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73" name="四角形: 角を丸くする 72">
            <a:extLst>
              <a:ext uri="{FF2B5EF4-FFF2-40B4-BE49-F238E27FC236}">
                <a16:creationId xmlns:a16="http://schemas.microsoft.com/office/drawing/2014/main" id="{58C8FCDD-E2F2-4E9F-85AF-25C233BDBA06}"/>
              </a:ext>
            </a:extLst>
          </p:cNvPr>
          <p:cNvSpPr/>
          <p:nvPr/>
        </p:nvSpPr>
        <p:spPr>
          <a:xfrm>
            <a:off x="4196955" y="3729351"/>
            <a:ext cx="2196000" cy="3077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lang="ja-JP" altLang="en-US" sz="1200" b="1" kern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事業規律・保安対策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cxnSp>
        <p:nvCxnSpPr>
          <p:cNvPr id="74" name="コネクタ: カギ線 73">
            <a:extLst>
              <a:ext uri="{FF2B5EF4-FFF2-40B4-BE49-F238E27FC236}">
                <a16:creationId xmlns:a16="http://schemas.microsoft.com/office/drawing/2014/main" id="{00C9495B-7057-4171-A3FE-B5EAF3EA42A3}"/>
              </a:ext>
            </a:extLst>
          </p:cNvPr>
          <p:cNvCxnSpPr>
            <a:cxnSpLocks/>
            <a:stCxn id="72" idx="1"/>
            <a:endCxn id="71" idx="3"/>
          </p:cNvCxnSpPr>
          <p:nvPr/>
        </p:nvCxnSpPr>
        <p:spPr>
          <a:xfrm rot="10800000" flipV="1">
            <a:off x="3918245" y="3456035"/>
            <a:ext cx="277271" cy="213182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コネクタ: カギ線 74">
            <a:extLst>
              <a:ext uri="{FF2B5EF4-FFF2-40B4-BE49-F238E27FC236}">
                <a16:creationId xmlns:a16="http://schemas.microsoft.com/office/drawing/2014/main" id="{D13D6759-37C9-4674-BA2C-7E37C9A67831}"/>
              </a:ext>
            </a:extLst>
          </p:cNvPr>
          <p:cNvCxnSpPr>
            <a:cxnSpLocks/>
            <a:stCxn id="73" idx="1"/>
            <a:endCxn id="71" idx="3"/>
          </p:cNvCxnSpPr>
          <p:nvPr/>
        </p:nvCxnSpPr>
        <p:spPr>
          <a:xfrm rot="10800000">
            <a:off x="3918245" y="3669218"/>
            <a:ext cx="278711" cy="214023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1309581B-549D-426C-973B-E08A17279E94}"/>
              </a:ext>
            </a:extLst>
          </p:cNvPr>
          <p:cNvSpPr/>
          <p:nvPr/>
        </p:nvSpPr>
        <p:spPr>
          <a:xfrm>
            <a:off x="2406243" y="4391822"/>
            <a:ext cx="1512000" cy="430307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④廃棄・　　　　リサイクル対策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77" name="四角形: 角を丸くする 76">
            <a:extLst>
              <a:ext uri="{FF2B5EF4-FFF2-40B4-BE49-F238E27FC236}">
                <a16:creationId xmlns:a16="http://schemas.microsoft.com/office/drawing/2014/main" id="{F370BA22-3205-44D8-8AD3-C59E2BDF6687}"/>
              </a:ext>
            </a:extLst>
          </p:cNvPr>
          <p:cNvSpPr/>
          <p:nvPr/>
        </p:nvSpPr>
        <p:spPr>
          <a:xfrm>
            <a:off x="4219225" y="4453087"/>
            <a:ext cx="2196000" cy="307777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lang="ja-JP" altLang="en-US" sz="1200" b="1" kern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リサイクル制度整備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BCAD39E1-77C7-41E9-AF1A-D872C9730973}"/>
              </a:ext>
            </a:extLst>
          </p:cNvPr>
          <p:cNvSpPr/>
          <p:nvPr/>
        </p:nvSpPr>
        <p:spPr>
          <a:xfrm>
            <a:off x="90381" y="2747025"/>
            <a:ext cx="815422" cy="43030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再エネ拡大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0B8AD3C8-A004-4890-8A7D-CEAAC7D63185}"/>
              </a:ext>
            </a:extLst>
          </p:cNvPr>
          <p:cNvSpPr/>
          <p:nvPr/>
        </p:nvSpPr>
        <p:spPr>
          <a:xfrm>
            <a:off x="1166985" y="1644529"/>
            <a:ext cx="1008000" cy="43030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経済合理性の向上</a:t>
            </a:r>
          </a:p>
        </p:txBody>
      </p:sp>
      <p:cxnSp>
        <p:nvCxnSpPr>
          <p:cNvPr id="35" name="コネクタ: カギ線 34">
            <a:extLst>
              <a:ext uri="{FF2B5EF4-FFF2-40B4-BE49-F238E27FC236}">
                <a16:creationId xmlns:a16="http://schemas.microsoft.com/office/drawing/2014/main" id="{97611D8C-8AC2-42B8-A827-16E9C7C7035A}"/>
              </a:ext>
            </a:extLst>
          </p:cNvPr>
          <p:cNvCxnSpPr>
            <a:cxnSpLocks/>
            <a:stCxn id="53" idx="1"/>
            <a:endCxn id="34" idx="3"/>
          </p:cNvCxnSpPr>
          <p:nvPr/>
        </p:nvCxnSpPr>
        <p:spPr>
          <a:xfrm rot="10800000" flipV="1">
            <a:off x="2174986" y="1213281"/>
            <a:ext cx="231259" cy="64640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コネクタ: カギ線 37">
            <a:extLst>
              <a:ext uri="{FF2B5EF4-FFF2-40B4-BE49-F238E27FC236}">
                <a16:creationId xmlns:a16="http://schemas.microsoft.com/office/drawing/2014/main" id="{4E73A2ED-B26F-44BB-B2E0-98DB54DF7015}"/>
              </a:ext>
            </a:extLst>
          </p:cNvPr>
          <p:cNvCxnSpPr>
            <a:cxnSpLocks/>
            <a:stCxn id="62" idx="1"/>
            <a:endCxn id="34" idx="3"/>
          </p:cNvCxnSpPr>
          <p:nvPr/>
        </p:nvCxnSpPr>
        <p:spPr>
          <a:xfrm rot="10800000">
            <a:off x="2174986" y="1859683"/>
            <a:ext cx="231259" cy="68414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コネクタ: カギ線 40">
            <a:extLst>
              <a:ext uri="{FF2B5EF4-FFF2-40B4-BE49-F238E27FC236}">
                <a16:creationId xmlns:a16="http://schemas.microsoft.com/office/drawing/2014/main" id="{D4555F59-8C0B-4ABD-9896-88F28E8535B4}"/>
              </a:ext>
            </a:extLst>
          </p:cNvPr>
          <p:cNvCxnSpPr>
            <a:cxnSpLocks/>
            <a:stCxn id="34" idx="1"/>
            <a:endCxn id="33" idx="3"/>
          </p:cNvCxnSpPr>
          <p:nvPr/>
        </p:nvCxnSpPr>
        <p:spPr>
          <a:xfrm rot="10800000" flipV="1">
            <a:off x="905803" y="1859683"/>
            <a:ext cx="261182" cy="110249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コネクタ: カギ線 43">
            <a:extLst>
              <a:ext uri="{FF2B5EF4-FFF2-40B4-BE49-F238E27FC236}">
                <a16:creationId xmlns:a16="http://schemas.microsoft.com/office/drawing/2014/main" id="{93F543DB-A090-41CD-AD24-4F69439FCFB0}"/>
              </a:ext>
            </a:extLst>
          </p:cNvPr>
          <p:cNvCxnSpPr>
            <a:cxnSpLocks/>
            <a:stCxn id="71" idx="1"/>
            <a:endCxn id="85" idx="3"/>
          </p:cNvCxnSpPr>
          <p:nvPr/>
        </p:nvCxnSpPr>
        <p:spPr>
          <a:xfrm rot="10800000" flipV="1">
            <a:off x="2166770" y="3669217"/>
            <a:ext cx="239474" cy="44909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コネクタ: カギ線 46">
            <a:extLst>
              <a:ext uri="{FF2B5EF4-FFF2-40B4-BE49-F238E27FC236}">
                <a16:creationId xmlns:a16="http://schemas.microsoft.com/office/drawing/2014/main" id="{5CAF0E6F-156D-4DD1-9726-9A07667729D1}"/>
              </a:ext>
            </a:extLst>
          </p:cNvPr>
          <p:cNvCxnSpPr>
            <a:cxnSpLocks/>
            <a:stCxn id="76" idx="1"/>
            <a:endCxn id="85" idx="3"/>
          </p:cNvCxnSpPr>
          <p:nvPr/>
        </p:nvCxnSpPr>
        <p:spPr>
          <a:xfrm rot="10800000">
            <a:off x="2166771" y="4118314"/>
            <a:ext cx="239473" cy="48866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49ABE66-8C9A-4AA0-95F7-5D153D7712B9}"/>
              </a:ext>
            </a:extLst>
          </p:cNvPr>
          <p:cNvSpPr txBox="1"/>
          <p:nvPr/>
        </p:nvSpPr>
        <p:spPr>
          <a:xfrm>
            <a:off x="6372179" y="688567"/>
            <a:ext cx="24416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太陽光（建物・営農）、風力発電等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DC1F9564-D5E0-43C4-805B-82BB7D47A276}"/>
              </a:ext>
            </a:extLst>
          </p:cNvPr>
          <p:cNvSpPr txBox="1"/>
          <p:nvPr/>
        </p:nvSpPr>
        <p:spPr>
          <a:xfrm>
            <a:off x="6372179" y="1103063"/>
            <a:ext cx="23391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CP</a:t>
            </a:r>
            <a:r>
              <a:rPr lang="ja-JP" altLang="en-US" sz="1100">
                <a:latin typeface="Noto Sans JP" panose="020B0200000000000000" pitchFamily="34" charset="-128"/>
                <a:ea typeface="Noto Sans JP" panose="020B0200000000000000" pitchFamily="34" charset="-128"/>
              </a:rPr>
              <a:t>、予見性確保、調達環境整備等</a:t>
            </a:r>
            <a:endParaRPr kumimoji="1" lang="ja-JP" altLang="en-US" sz="11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DE658325-F803-4174-8E9E-AE142AC2E87D}"/>
              </a:ext>
            </a:extLst>
          </p:cNvPr>
          <p:cNvSpPr txBox="1"/>
          <p:nvPr/>
        </p:nvSpPr>
        <p:spPr>
          <a:xfrm>
            <a:off x="6372179" y="1414420"/>
            <a:ext cx="18774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>
                <a:latin typeface="Noto Sans JP" panose="020B0200000000000000" pitchFamily="34" charset="-128"/>
                <a:ea typeface="Noto Sans JP" panose="020B0200000000000000" pitchFamily="34" charset="-128"/>
              </a:rPr>
              <a:t>ペロブスカイト</a:t>
            </a:r>
            <a:r>
              <a:rPr lang="ja-JP" altLang="en-US" sz="1100">
                <a:latin typeface="Noto Sans JP" panose="020B0200000000000000" pitchFamily="34" charset="-128"/>
                <a:ea typeface="Noto Sans JP" panose="020B0200000000000000" pitchFamily="34" charset="-128"/>
              </a:rPr>
              <a:t>太陽電池</a:t>
            </a:r>
            <a:r>
              <a:rPr kumimoji="1" lang="ja-JP" altLang="en-US" sz="1100">
                <a:latin typeface="Noto Sans JP" panose="020B0200000000000000" pitchFamily="34" charset="-128"/>
                <a:ea typeface="Noto Sans JP" panose="020B0200000000000000" pitchFamily="34" charset="-128"/>
              </a:rPr>
              <a:t>、</a:t>
            </a:r>
            <a:endParaRPr kumimoji="1" lang="en-US" altLang="ja-JP" sz="11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kumimoji="1" lang="ja-JP" altLang="en-US" sz="1100">
                <a:latin typeface="Noto Sans JP" panose="020B0200000000000000" pitchFamily="34" charset="-128"/>
                <a:ea typeface="Noto Sans JP" panose="020B0200000000000000" pitchFamily="34" charset="-128"/>
              </a:rPr>
              <a:t>浮体式洋上風力発電等</a:t>
            </a:r>
            <a:endParaRPr kumimoji="1" lang="ja-JP" altLang="en-US" sz="11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85" name="四角形: 角を丸くする 84">
            <a:extLst>
              <a:ext uri="{FF2B5EF4-FFF2-40B4-BE49-F238E27FC236}">
                <a16:creationId xmlns:a16="http://schemas.microsoft.com/office/drawing/2014/main" id="{1C441C1B-A25C-4584-8471-23CF8DC5C31E}"/>
              </a:ext>
            </a:extLst>
          </p:cNvPr>
          <p:cNvSpPr/>
          <p:nvPr/>
        </p:nvSpPr>
        <p:spPr>
          <a:xfrm>
            <a:off x="1158770" y="3903159"/>
            <a:ext cx="1008000" cy="43030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社会受容性の向上</a:t>
            </a:r>
          </a:p>
        </p:txBody>
      </p:sp>
      <p:cxnSp>
        <p:nvCxnSpPr>
          <p:cNvPr id="86" name="コネクタ: カギ線 85">
            <a:extLst>
              <a:ext uri="{FF2B5EF4-FFF2-40B4-BE49-F238E27FC236}">
                <a16:creationId xmlns:a16="http://schemas.microsoft.com/office/drawing/2014/main" id="{81DE23C9-4E9C-4344-AF0F-76325560B67E}"/>
              </a:ext>
            </a:extLst>
          </p:cNvPr>
          <p:cNvCxnSpPr>
            <a:cxnSpLocks/>
            <a:stCxn id="85" idx="1"/>
            <a:endCxn id="33" idx="3"/>
          </p:cNvCxnSpPr>
          <p:nvPr/>
        </p:nvCxnSpPr>
        <p:spPr>
          <a:xfrm rot="10800000">
            <a:off x="905804" y="2962179"/>
            <a:ext cx="252967" cy="1156134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AA43CFB6-F238-4D9D-A84C-ADCE52B6815B}"/>
              </a:ext>
            </a:extLst>
          </p:cNvPr>
          <p:cNvSpPr txBox="1"/>
          <p:nvPr/>
        </p:nvSpPr>
        <p:spPr>
          <a:xfrm>
            <a:off x="6372179" y="2161130"/>
            <a:ext cx="22060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>
                <a:latin typeface="Noto Sans JP" panose="020B0200000000000000" pitchFamily="34" charset="-128"/>
                <a:ea typeface="Noto Sans JP" panose="020B0200000000000000" pitchFamily="34" charset="-128"/>
              </a:rPr>
              <a:t>優先給電ルール、蓄電池、</a:t>
            </a:r>
            <a:r>
              <a:rPr kumimoji="1" lang="en-US" altLang="ja-JP" sz="11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DR</a:t>
            </a:r>
            <a:r>
              <a:rPr kumimoji="1" lang="ja-JP" altLang="en-US" sz="1100">
                <a:latin typeface="Noto Sans JP" panose="020B0200000000000000" pitchFamily="34" charset="-128"/>
                <a:ea typeface="Noto Sans JP" panose="020B0200000000000000" pitchFamily="34" charset="-128"/>
              </a:rPr>
              <a:t>等</a:t>
            </a:r>
            <a:endParaRPr kumimoji="1" lang="ja-JP" altLang="en-US" sz="11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85DCFFC9-D82B-46EF-BB2B-44FCB35B8489}"/>
              </a:ext>
            </a:extLst>
          </p:cNvPr>
          <p:cNvSpPr txBox="1"/>
          <p:nvPr/>
        </p:nvSpPr>
        <p:spPr>
          <a:xfrm>
            <a:off x="6372179" y="2687949"/>
            <a:ext cx="2628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>
                <a:latin typeface="Noto Sans JP" panose="020B0200000000000000" pitchFamily="34" charset="-128"/>
                <a:ea typeface="Noto Sans JP" panose="020B0200000000000000" pitchFamily="34" charset="-128"/>
              </a:rPr>
              <a:t>送配電網整備、産業立地誘導措置等</a:t>
            </a:r>
            <a:endParaRPr kumimoji="1" lang="ja-JP" altLang="en-US" sz="11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79BD5D69-02B6-4B24-BB5F-1418B5589C4F}"/>
              </a:ext>
            </a:extLst>
          </p:cNvPr>
          <p:cNvSpPr txBox="1"/>
          <p:nvPr/>
        </p:nvSpPr>
        <p:spPr>
          <a:xfrm>
            <a:off x="6372179" y="3323447"/>
            <a:ext cx="2700000" cy="28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>
                <a:latin typeface="Noto Sans JP" panose="020B0200000000000000" pitchFamily="34" charset="-128"/>
                <a:ea typeface="Noto Sans JP" panose="020B0200000000000000" pitchFamily="34" charset="-128"/>
              </a:rPr>
              <a:t>利益還元スキーム、規制の整合性確保等</a:t>
            </a:r>
            <a:endParaRPr kumimoji="1" lang="ja-JP" altLang="en-US" sz="11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63B3F883-CAEE-4027-A629-BAF1C1282197}"/>
              </a:ext>
            </a:extLst>
          </p:cNvPr>
          <p:cNvSpPr txBox="1"/>
          <p:nvPr/>
        </p:nvSpPr>
        <p:spPr>
          <a:xfrm>
            <a:off x="6372179" y="3754047"/>
            <a:ext cx="2628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>
                <a:latin typeface="Noto Sans JP" panose="020B0200000000000000" pitchFamily="34" charset="-128"/>
                <a:ea typeface="Noto Sans JP" panose="020B0200000000000000" pitchFamily="34" charset="-128"/>
              </a:rPr>
              <a:t>放置案件対応、適切な開発・管理等</a:t>
            </a:r>
            <a:endParaRPr kumimoji="1" lang="ja-JP" altLang="en-US" sz="11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A9EFF48A-61D5-4267-9580-725FB101D2D1}"/>
              </a:ext>
            </a:extLst>
          </p:cNvPr>
          <p:cNvSpPr txBox="1"/>
          <p:nvPr/>
        </p:nvSpPr>
        <p:spPr>
          <a:xfrm>
            <a:off x="6372179" y="4369143"/>
            <a:ext cx="262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>
                <a:latin typeface="Noto Sans JP" panose="020B0200000000000000" pitchFamily="34" charset="-128"/>
                <a:ea typeface="Noto Sans JP" panose="020B0200000000000000" pitchFamily="34" charset="-128"/>
              </a:rPr>
              <a:t>太陽光パネルリサイクル法案、</a:t>
            </a:r>
            <a:r>
              <a:rPr kumimoji="1" lang="ja-JP" altLang="en-US" sz="1100">
                <a:latin typeface="Noto Sans JP" panose="020B0200000000000000" pitchFamily="34" charset="-128"/>
                <a:ea typeface="Noto Sans JP" panose="020B0200000000000000" pitchFamily="34" charset="-128"/>
              </a:rPr>
              <a:t>廃棄</a:t>
            </a:r>
            <a:r>
              <a:rPr kumimoji="1" lang="ja-JP" altLang="en-US" sz="11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等</a:t>
            </a:r>
            <a:r>
              <a:rPr kumimoji="1" lang="ja-JP" altLang="en-US" sz="1100">
                <a:latin typeface="Noto Sans JP" panose="020B0200000000000000" pitchFamily="34" charset="-128"/>
                <a:ea typeface="Noto Sans JP" panose="020B0200000000000000" pitchFamily="34" charset="-128"/>
              </a:rPr>
              <a:t>積立制度、循環ネットワーク等</a:t>
            </a:r>
            <a:endParaRPr kumimoji="1" lang="ja-JP" altLang="en-US" sz="11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C0B8A66-9129-5F85-51F5-4D62955E42D0}"/>
              </a:ext>
            </a:extLst>
          </p:cNvPr>
          <p:cNvCxnSpPr>
            <a:cxnSpLocks/>
            <a:stCxn id="76" idx="3"/>
            <a:endCxn id="77" idx="1"/>
          </p:cNvCxnSpPr>
          <p:nvPr/>
        </p:nvCxnSpPr>
        <p:spPr>
          <a:xfrm>
            <a:off x="3918243" y="4606976"/>
            <a:ext cx="30098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100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8C640-7C5B-2286-4F7E-F32E3DD25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25C7AE10-18BD-A0FA-64C6-A9CCC7944FF6}"/>
              </a:ext>
            </a:extLst>
          </p:cNvPr>
          <p:cNvSpPr/>
          <p:nvPr/>
        </p:nvSpPr>
        <p:spPr>
          <a:xfrm>
            <a:off x="2483734" y="943281"/>
            <a:ext cx="1512000" cy="54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①再エネ</a:t>
            </a: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設備（</a:t>
            </a:r>
            <a:r>
              <a:rPr lang="en-US" altLang="ja-JP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kW</a:t>
            </a: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）を増やす</a:t>
            </a:r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8FD4CC25-792A-3273-6508-569DA57CE4D0}"/>
              </a:ext>
            </a:extLst>
          </p:cNvPr>
          <p:cNvSpPr/>
          <p:nvPr/>
        </p:nvSpPr>
        <p:spPr>
          <a:xfrm>
            <a:off x="4281219" y="1479507"/>
            <a:ext cx="2196000" cy="30777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インセンティブの最適化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57" name="四角形: 角を丸くする 56">
            <a:extLst>
              <a:ext uri="{FF2B5EF4-FFF2-40B4-BE49-F238E27FC236}">
                <a16:creationId xmlns:a16="http://schemas.microsoft.com/office/drawing/2014/main" id="{F883B813-F443-B094-8234-8BBED661C0DF}"/>
              </a:ext>
            </a:extLst>
          </p:cNvPr>
          <p:cNvSpPr/>
          <p:nvPr/>
        </p:nvSpPr>
        <p:spPr>
          <a:xfrm>
            <a:off x="4281219" y="664052"/>
            <a:ext cx="2196000" cy="30777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設置場所の拡大と規制緩和</a:t>
            </a: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AA40CBD9-D189-72CA-D986-8A280774053C}"/>
              </a:ext>
            </a:extLst>
          </p:cNvPr>
          <p:cNvSpPr/>
          <p:nvPr/>
        </p:nvSpPr>
        <p:spPr>
          <a:xfrm>
            <a:off x="4281219" y="1065927"/>
            <a:ext cx="2196000" cy="30777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次世代技術の開発・普及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cxnSp>
        <p:nvCxnSpPr>
          <p:cNvPr id="59" name="コネクタ: カギ線 58">
            <a:extLst>
              <a:ext uri="{FF2B5EF4-FFF2-40B4-BE49-F238E27FC236}">
                <a16:creationId xmlns:a16="http://schemas.microsoft.com/office/drawing/2014/main" id="{F57ADD7A-6169-1231-4839-5DB8096EF59A}"/>
              </a:ext>
            </a:extLst>
          </p:cNvPr>
          <p:cNvCxnSpPr>
            <a:cxnSpLocks/>
            <a:stCxn id="56" idx="1"/>
            <a:endCxn id="53" idx="3"/>
          </p:cNvCxnSpPr>
          <p:nvPr/>
        </p:nvCxnSpPr>
        <p:spPr>
          <a:xfrm rot="10800000">
            <a:off x="3995735" y="1213282"/>
            <a:ext cx="285485" cy="420115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コネクタ: カギ線 59">
            <a:extLst>
              <a:ext uri="{FF2B5EF4-FFF2-40B4-BE49-F238E27FC236}">
                <a16:creationId xmlns:a16="http://schemas.microsoft.com/office/drawing/2014/main" id="{7F5A55B3-626A-0DB1-C645-4E4F01066486}"/>
              </a:ext>
            </a:extLst>
          </p:cNvPr>
          <p:cNvCxnSpPr>
            <a:cxnSpLocks/>
            <a:stCxn id="57" idx="1"/>
            <a:endCxn id="53" idx="3"/>
          </p:cNvCxnSpPr>
          <p:nvPr/>
        </p:nvCxnSpPr>
        <p:spPr>
          <a:xfrm rot="10800000" flipV="1">
            <a:off x="3995735" y="817941"/>
            <a:ext cx="285485" cy="395340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コネクタ: カギ線 60">
            <a:extLst>
              <a:ext uri="{FF2B5EF4-FFF2-40B4-BE49-F238E27FC236}">
                <a16:creationId xmlns:a16="http://schemas.microsoft.com/office/drawing/2014/main" id="{8A8241FE-7851-EE04-1B6E-CA81F6D78CB9}"/>
              </a:ext>
            </a:extLst>
          </p:cNvPr>
          <p:cNvCxnSpPr>
            <a:cxnSpLocks/>
            <a:stCxn id="58" idx="1"/>
            <a:endCxn id="53" idx="3"/>
          </p:cNvCxnSpPr>
          <p:nvPr/>
        </p:nvCxnSpPr>
        <p:spPr>
          <a:xfrm rot="10800000">
            <a:off x="3995735" y="1213282"/>
            <a:ext cx="285485" cy="6535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6C384D34-F1A5-1DB8-1488-90DB73BF534A}"/>
              </a:ext>
            </a:extLst>
          </p:cNvPr>
          <p:cNvSpPr/>
          <p:nvPr/>
        </p:nvSpPr>
        <p:spPr>
          <a:xfrm>
            <a:off x="2483734" y="2273825"/>
            <a:ext cx="1512000" cy="540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②再エネの　　　最大限活用</a:t>
            </a:r>
            <a:endParaRPr kumimoji="0" lang="en-US" altLang="ja-JP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（</a:t>
            </a:r>
            <a:r>
              <a:rPr kumimoji="0" lang="en-US" altLang="ja-JP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kWh</a:t>
            </a: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を増やす）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DAC154A9-CF92-4E6B-2AE8-BFFB1D4117CC}"/>
              </a:ext>
            </a:extLst>
          </p:cNvPr>
          <p:cNvSpPr/>
          <p:nvPr/>
        </p:nvSpPr>
        <p:spPr>
          <a:xfrm>
            <a:off x="4281220" y="1977315"/>
            <a:ext cx="2196000" cy="307777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系統の増強と運用改善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64" name="四角形: 角を丸くする 63">
            <a:extLst>
              <a:ext uri="{FF2B5EF4-FFF2-40B4-BE49-F238E27FC236}">
                <a16:creationId xmlns:a16="http://schemas.microsoft.com/office/drawing/2014/main" id="{FCEA910D-3C3A-1058-6072-726342345E93}"/>
              </a:ext>
            </a:extLst>
          </p:cNvPr>
          <p:cNvSpPr/>
          <p:nvPr/>
        </p:nvSpPr>
        <p:spPr>
          <a:xfrm>
            <a:off x="4281219" y="2390069"/>
            <a:ext cx="2196000" cy="307777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柔軟性確保・余剰電力の活用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65" name="四角形: 角を丸くする 64">
            <a:extLst>
              <a:ext uri="{FF2B5EF4-FFF2-40B4-BE49-F238E27FC236}">
                <a16:creationId xmlns:a16="http://schemas.microsoft.com/office/drawing/2014/main" id="{99533AE1-ABC3-A7B3-3F14-0643EA8EC09E}"/>
              </a:ext>
            </a:extLst>
          </p:cNvPr>
          <p:cNvSpPr/>
          <p:nvPr/>
        </p:nvSpPr>
        <p:spPr>
          <a:xfrm>
            <a:off x="4281219" y="2803659"/>
            <a:ext cx="2196000" cy="307777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電力</a:t>
            </a: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取引</a:t>
            </a:r>
            <a:r>
              <a:rPr kumimoji="0" lang="en-US" altLang="ja-JP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/</a:t>
            </a: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市場</a:t>
            </a: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の</a:t>
            </a: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最適化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cxnSp>
        <p:nvCxnSpPr>
          <p:cNvPr id="66" name="コネクタ: カギ線 65">
            <a:extLst>
              <a:ext uri="{FF2B5EF4-FFF2-40B4-BE49-F238E27FC236}">
                <a16:creationId xmlns:a16="http://schemas.microsoft.com/office/drawing/2014/main" id="{132D767E-487C-7148-A1CE-5F29709DC765}"/>
              </a:ext>
            </a:extLst>
          </p:cNvPr>
          <p:cNvCxnSpPr>
            <a:cxnSpLocks/>
            <a:stCxn id="63" idx="1"/>
            <a:endCxn id="62" idx="3"/>
          </p:cNvCxnSpPr>
          <p:nvPr/>
        </p:nvCxnSpPr>
        <p:spPr>
          <a:xfrm rot="10800000" flipV="1">
            <a:off x="3995734" y="2131203"/>
            <a:ext cx="285486" cy="412621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コネクタ: カギ線 66">
            <a:extLst>
              <a:ext uri="{FF2B5EF4-FFF2-40B4-BE49-F238E27FC236}">
                <a16:creationId xmlns:a16="http://schemas.microsoft.com/office/drawing/2014/main" id="{2A39BC4D-D299-3A0C-E06E-F357D9376070}"/>
              </a:ext>
            </a:extLst>
          </p:cNvPr>
          <p:cNvCxnSpPr>
            <a:cxnSpLocks/>
            <a:stCxn id="64" idx="1"/>
            <a:endCxn id="62" idx="3"/>
          </p:cNvCxnSpPr>
          <p:nvPr/>
        </p:nvCxnSpPr>
        <p:spPr>
          <a:xfrm rot="10800000">
            <a:off x="3995735" y="2543826"/>
            <a:ext cx="285485" cy="133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コネクタ: カギ線 67">
            <a:extLst>
              <a:ext uri="{FF2B5EF4-FFF2-40B4-BE49-F238E27FC236}">
                <a16:creationId xmlns:a16="http://schemas.microsoft.com/office/drawing/2014/main" id="{EAFD157D-01F4-D990-7B4E-CCB3F17313C5}"/>
              </a:ext>
            </a:extLst>
          </p:cNvPr>
          <p:cNvCxnSpPr>
            <a:cxnSpLocks/>
            <a:stCxn id="65" idx="1"/>
            <a:endCxn id="62" idx="3"/>
          </p:cNvCxnSpPr>
          <p:nvPr/>
        </p:nvCxnSpPr>
        <p:spPr>
          <a:xfrm rot="10800000">
            <a:off x="3995735" y="2543826"/>
            <a:ext cx="285485" cy="41372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818C92E5-B3D0-8230-E3A5-1092BE41B28A}"/>
              </a:ext>
            </a:extLst>
          </p:cNvPr>
          <p:cNvSpPr/>
          <p:nvPr/>
        </p:nvSpPr>
        <p:spPr>
          <a:xfrm>
            <a:off x="2483734" y="3454063"/>
            <a:ext cx="1512000" cy="43030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③社会受容性の　向上</a:t>
            </a:r>
          </a:p>
        </p:txBody>
      </p:sp>
      <p:sp>
        <p:nvSpPr>
          <p:cNvPr id="72" name="四角形: 角を丸くする 71">
            <a:extLst>
              <a:ext uri="{FF2B5EF4-FFF2-40B4-BE49-F238E27FC236}">
                <a16:creationId xmlns:a16="http://schemas.microsoft.com/office/drawing/2014/main" id="{8EB9A204-433D-5F11-ED21-9B8161C3140E}"/>
              </a:ext>
            </a:extLst>
          </p:cNvPr>
          <p:cNvSpPr/>
          <p:nvPr/>
        </p:nvSpPr>
        <p:spPr>
          <a:xfrm>
            <a:off x="4273005" y="3302146"/>
            <a:ext cx="2196000" cy="3077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不適切事例への対策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73" name="四角形: 角を丸くする 72">
            <a:extLst>
              <a:ext uri="{FF2B5EF4-FFF2-40B4-BE49-F238E27FC236}">
                <a16:creationId xmlns:a16="http://schemas.microsoft.com/office/drawing/2014/main" id="{AD99BE16-EACE-8B3D-9D7B-F4EE4F5BE9B6}"/>
              </a:ext>
            </a:extLst>
          </p:cNvPr>
          <p:cNvSpPr/>
          <p:nvPr/>
        </p:nvSpPr>
        <p:spPr>
          <a:xfrm>
            <a:off x="4281219" y="3729351"/>
            <a:ext cx="2196000" cy="3077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適切事例の普及支援</a:t>
            </a:r>
          </a:p>
        </p:txBody>
      </p:sp>
      <p:cxnSp>
        <p:nvCxnSpPr>
          <p:cNvPr id="74" name="コネクタ: カギ線 73">
            <a:extLst>
              <a:ext uri="{FF2B5EF4-FFF2-40B4-BE49-F238E27FC236}">
                <a16:creationId xmlns:a16="http://schemas.microsoft.com/office/drawing/2014/main" id="{A3762F73-AB6F-FA8A-9963-2951B5B2D442}"/>
              </a:ext>
            </a:extLst>
          </p:cNvPr>
          <p:cNvCxnSpPr>
            <a:cxnSpLocks/>
            <a:stCxn id="72" idx="1"/>
            <a:endCxn id="71" idx="3"/>
          </p:cNvCxnSpPr>
          <p:nvPr/>
        </p:nvCxnSpPr>
        <p:spPr>
          <a:xfrm rot="10800000" flipV="1">
            <a:off x="3995735" y="3456035"/>
            <a:ext cx="277271" cy="213182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コネクタ: カギ線 74">
            <a:extLst>
              <a:ext uri="{FF2B5EF4-FFF2-40B4-BE49-F238E27FC236}">
                <a16:creationId xmlns:a16="http://schemas.microsoft.com/office/drawing/2014/main" id="{D37DD387-B708-88FE-AE7A-F3ECFFC4749D}"/>
              </a:ext>
            </a:extLst>
          </p:cNvPr>
          <p:cNvCxnSpPr>
            <a:cxnSpLocks/>
            <a:stCxn id="73" idx="1"/>
            <a:endCxn id="71" idx="3"/>
          </p:cNvCxnSpPr>
          <p:nvPr/>
        </p:nvCxnSpPr>
        <p:spPr>
          <a:xfrm rot="10800000">
            <a:off x="3995735" y="3669218"/>
            <a:ext cx="285485" cy="214023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ECB9910F-FA40-79C1-19D2-41EDF13C45BF}"/>
              </a:ext>
            </a:extLst>
          </p:cNvPr>
          <p:cNvSpPr/>
          <p:nvPr/>
        </p:nvSpPr>
        <p:spPr>
          <a:xfrm>
            <a:off x="2483733" y="4391822"/>
            <a:ext cx="1512000" cy="430307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④廃棄・　　　　リサイクル対策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77" name="四角形: 角を丸くする 76">
            <a:extLst>
              <a:ext uri="{FF2B5EF4-FFF2-40B4-BE49-F238E27FC236}">
                <a16:creationId xmlns:a16="http://schemas.microsoft.com/office/drawing/2014/main" id="{7BFC269E-806A-6EAC-D485-B22B19D2D1E5}"/>
              </a:ext>
            </a:extLst>
          </p:cNvPr>
          <p:cNvSpPr/>
          <p:nvPr/>
        </p:nvSpPr>
        <p:spPr>
          <a:xfrm>
            <a:off x="4281218" y="4229171"/>
            <a:ext cx="2196000" cy="307777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費用積立の義務化</a:t>
            </a:r>
          </a:p>
        </p:txBody>
      </p:sp>
      <p:sp>
        <p:nvSpPr>
          <p:cNvPr id="78" name="四角形: 角を丸くする 77">
            <a:extLst>
              <a:ext uri="{FF2B5EF4-FFF2-40B4-BE49-F238E27FC236}">
                <a16:creationId xmlns:a16="http://schemas.microsoft.com/office/drawing/2014/main" id="{C77B858D-22DB-6F13-36F1-545929FF59CD}"/>
              </a:ext>
            </a:extLst>
          </p:cNvPr>
          <p:cNvSpPr/>
          <p:nvPr/>
        </p:nvSpPr>
        <p:spPr>
          <a:xfrm>
            <a:off x="4281218" y="4656200"/>
            <a:ext cx="2196000" cy="307777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リサイクルの推進</a:t>
            </a:r>
          </a:p>
        </p:txBody>
      </p:sp>
      <p:cxnSp>
        <p:nvCxnSpPr>
          <p:cNvPr id="79" name="コネクタ: カギ線 78">
            <a:extLst>
              <a:ext uri="{FF2B5EF4-FFF2-40B4-BE49-F238E27FC236}">
                <a16:creationId xmlns:a16="http://schemas.microsoft.com/office/drawing/2014/main" id="{9DBD4A77-DF34-D75F-60EB-0E8E7EC6ACEB}"/>
              </a:ext>
            </a:extLst>
          </p:cNvPr>
          <p:cNvCxnSpPr>
            <a:cxnSpLocks/>
            <a:stCxn id="77" idx="1"/>
            <a:endCxn id="76" idx="3"/>
          </p:cNvCxnSpPr>
          <p:nvPr/>
        </p:nvCxnSpPr>
        <p:spPr>
          <a:xfrm rot="10800000" flipV="1">
            <a:off x="3995734" y="4383060"/>
            <a:ext cx="285485" cy="223916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コネクタ: カギ線 79">
            <a:extLst>
              <a:ext uri="{FF2B5EF4-FFF2-40B4-BE49-F238E27FC236}">
                <a16:creationId xmlns:a16="http://schemas.microsoft.com/office/drawing/2014/main" id="{0A356008-E7DC-9338-0A43-4871F4F12C0A}"/>
              </a:ext>
            </a:extLst>
          </p:cNvPr>
          <p:cNvCxnSpPr>
            <a:cxnSpLocks/>
            <a:stCxn id="78" idx="1"/>
            <a:endCxn id="76" idx="3"/>
          </p:cNvCxnSpPr>
          <p:nvPr/>
        </p:nvCxnSpPr>
        <p:spPr>
          <a:xfrm rot="10800000">
            <a:off x="3995734" y="4606977"/>
            <a:ext cx="285485" cy="203113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23">
            <a:extLst>
              <a:ext uri="{FF2B5EF4-FFF2-40B4-BE49-F238E27FC236}">
                <a16:creationId xmlns:a16="http://schemas.microsoft.com/office/drawing/2014/main" id="{4C1924BF-3EEE-9709-D6EE-67A0A6C4650D}"/>
              </a:ext>
            </a:extLst>
          </p:cNvPr>
          <p:cNvSpPr txBox="1"/>
          <p:nvPr/>
        </p:nvSpPr>
        <p:spPr>
          <a:xfrm>
            <a:off x="1113883" y="145485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85783">
              <a:buClr>
                <a:srgbClr val="000000"/>
              </a:buClr>
              <a:defRPr/>
            </a:pPr>
            <a:r>
              <a:rPr kumimoji="0" lang="ja-JP" altLang="en-US" sz="2400" kern="0" dirty="0">
                <a:solidFill>
                  <a:prstClr val="black"/>
                </a:solidFill>
                <a:latin typeface="Noto Sans JP Medium" panose="020B0200000000000000" pitchFamily="34" charset="-128"/>
                <a:ea typeface="Noto Sans JP Medium" panose="020B0200000000000000" pitchFamily="34" charset="-128"/>
                <a:cs typeface="Arial"/>
                <a:sym typeface="Arial"/>
              </a:rPr>
              <a:t>再エネ拡大の課題と必要な変化</a:t>
            </a:r>
            <a:endParaRPr kumimoji="0" lang="en-JP" sz="2400" kern="0" dirty="0">
              <a:solidFill>
                <a:prstClr val="black"/>
              </a:solidFill>
              <a:latin typeface="Noto Sans JP Medium" panose="020B0200000000000000" pitchFamily="34" charset="-128"/>
              <a:ea typeface="Noto Sans JP Medium" panose="020B0200000000000000" pitchFamily="34" charset="-128"/>
              <a:cs typeface="Arial"/>
              <a:sym typeface="Arial"/>
            </a:endParaRP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59E9400A-1DF3-E331-9E26-76790279EFD8}"/>
              </a:ext>
            </a:extLst>
          </p:cNvPr>
          <p:cNvSpPr/>
          <p:nvPr/>
        </p:nvSpPr>
        <p:spPr>
          <a:xfrm>
            <a:off x="167871" y="2747025"/>
            <a:ext cx="815422" cy="43030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再エネ拡大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B947F0E2-F5ED-CD9C-7E41-6A29F849553D}"/>
              </a:ext>
            </a:extLst>
          </p:cNvPr>
          <p:cNvSpPr/>
          <p:nvPr/>
        </p:nvSpPr>
        <p:spPr>
          <a:xfrm>
            <a:off x="1244475" y="1644529"/>
            <a:ext cx="1008000" cy="43030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経済合理性の向上</a:t>
            </a:r>
          </a:p>
        </p:txBody>
      </p:sp>
      <p:cxnSp>
        <p:nvCxnSpPr>
          <p:cNvPr id="35" name="コネクタ: カギ線 34">
            <a:extLst>
              <a:ext uri="{FF2B5EF4-FFF2-40B4-BE49-F238E27FC236}">
                <a16:creationId xmlns:a16="http://schemas.microsoft.com/office/drawing/2014/main" id="{8568913D-FBB1-964F-3B3E-2CF23B5B61A2}"/>
              </a:ext>
            </a:extLst>
          </p:cNvPr>
          <p:cNvCxnSpPr>
            <a:cxnSpLocks/>
            <a:stCxn id="53" idx="1"/>
            <a:endCxn id="34" idx="3"/>
          </p:cNvCxnSpPr>
          <p:nvPr/>
        </p:nvCxnSpPr>
        <p:spPr>
          <a:xfrm rot="10800000" flipV="1">
            <a:off x="2252476" y="1213281"/>
            <a:ext cx="231259" cy="64640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コネクタ: カギ線 37">
            <a:extLst>
              <a:ext uri="{FF2B5EF4-FFF2-40B4-BE49-F238E27FC236}">
                <a16:creationId xmlns:a16="http://schemas.microsoft.com/office/drawing/2014/main" id="{1DD15CA9-7FBD-6C99-3E4B-F91B0BE54185}"/>
              </a:ext>
            </a:extLst>
          </p:cNvPr>
          <p:cNvCxnSpPr>
            <a:cxnSpLocks/>
            <a:stCxn id="62" idx="1"/>
            <a:endCxn id="34" idx="3"/>
          </p:cNvCxnSpPr>
          <p:nvPr/>
        </p:nvCxnSpPr>
        <p:spPr>
          <a:xfrm rot="10800000">
            <a:off x="2252476" y="1859683"/>
            <a:ext cx="231259" cy="68414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コネクタ: カギ線 40">
            <a:extLst>
              <a:ext uri="{FF2B5EF4-FFF2-40B4-BE49-F238E27FC236}">
                <a16:creationId xmlns:a16="http://schemas.microsoft.com/office/drawing/2014/main" id="{92567387-2764-7994-8675-EFB4EA6779EA}"/>
              </a:ext>
            </a:extLst>
          </p:cNvPr>
          <p:cNvCxnSpPr>
            <a:cxnSpLocks/>
            <a:stCxn id="34" idx="1"/>
            <a:endCxn id="33" idx="3"/>
          </p:cNvCxnSpPr>
          <p:nvPr/>
        </p:nvCxnSpPr>
        <p:spPr>
          <a:xfrm rot="10800000" flipV="1">
            <a:off x="983293" y="1859683"/>
            <a:ext cx="261182" cy="110249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コネクタ: カギ線 43">
            <a:extLst>
              <a:ext uri="{FF2B5EF4-FFF2-40B4-BE49-F238E27FC236}">
                <a16:creationId xmlns:a16="http://schemas.microsoft.com/office/drawing/2014/main" id="{6E10D52D-F890-A779-EF11-1DEAD48BC6D7}"/>
              </a:ext>
            </a:extLst>
          </p:cNvPr>
          <p:cNvCxnSpPr>
            <a:cxnSpLocks/>
            <a:stCxn id="71" idx="1"/>
            <a:endCxn id="85" idx="3"/>
          </p:cNvCxnSpPr>
          <p:nvPr/>
        </p:nvCxnSpPr>
        <p:spPr>
          <a:xfrm rot="10800000" flipV="1">
            <a:off x="2244260" y="3669217"/>
            <a:ext cx="239474" cy="44909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コネクタ: カギ線 46">
            <a:extLst>
              <a:ext uri="{FF2B5EF4-FFF2-40B4-BE49-F238E27FC236}">
                <a16:creationId xmlns:a16="http://schemas.microsoft.com/office/drawing/2014/main" id="{08D3B848-9E16-07B1-3121-1ECFB71FFB5F}"/>
              </a:ext>
            </a:extLst>
          </p:cNvPr>
          <p:cNvCxnSpPr>
            <a:cxnSpLocks/>
            <a:stCxn id="76" idx="1"/>
            <a:endCxn id="85" idx="3"/>
          </p:cNvCxnSpPr>
          <p:nvPr/>
        </p:nvCxnSpPr>
        <p:spPr>
          <a:xfrm rot="10800000">
            <a:off x="2244261" y="4118314"/>
            <a:ext cx="239473" cy="48866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51985E2-D398-0C31-FF2D-ED860F779268}"/>
              </a:ext>
            </a:extLst>
          </p:cNvPr>
          <p:cNvSpPr txBox="1"/>
          <p:nvPr/>
        </p:nvSpPr>
        <p:spPr>
          <a:xfrm>
            <a:off x="6468666" y="688567"/>
            <a:ext cx="2646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太陽光（建物・営農）、風力発電等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FB1C864A-7D49-2303-4DB5-09A75FCB00C1}"/>
              </a:ext>
            </a:extLst>
          </p:cNvPr>
          <p:cNvSpPr txBox="1"/>
          <p:nvPr/>
        </p:nvSpPr>
        <p:spPr>
          <a:xfrm>
            <a:off x="6477218" y="1498270"/>
            <a:ext cx="12634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CP</a:t>
            </a:r>
            <a:r>
              <a:rPr lang="ja-JP" altLang="en-US" sz="1200" dirty="0"/>
              <a:t>、</a:t>
            </a:r>
            <a:r>
              <a:rPr lang="en-US" altLang="ja-JP" sz="1200" dirty="0"/>
              <a:t>GX-ETS</a:t>
            </a:r>
            <a:r>
              <a:rPr lang="ja-JP" altLang="en-US" sz="1200" dirty="0"/>
              <a:t>等</a:t>
            </a:r>
            <a:endParaRPr kumimoji="1" lang="ja-JP" altLang="en-US" sz="1200" dirty="0"/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26DC70FF-9A21-5AE9-0604-7511CC9A72AD}"/>
              </a:ext>
            </a:extLst>
          </p:cNvPr>
          <p:cNvSpPr txBox="1"/>
          <p:nvPr/>
        </p:nvSpPr>
        <p:spPr>
          <a:xfrm>
            <a:off x="6468665" y="1096705"/>
            <a:ext cx="2185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ペロブスカイト、洋上風力等</a:t>
            </a:r>
          </a:p>
        </p:txBody>
      </p:sp>
      <p:sp>
        <p:nvSpPr>
          <p:cNvPr id="85" name="四角形: 角を丸くする 84">
            <a:extLst>
              <a:ext uri="{FF2B5EF4-FFF2-40B4-BE49-F238E27FC236}">
                <a16:creationId xmlns:a16="http://schemas.microsoft.com/office/drawing/2014/main" id="{20B64632-1B4C-2338-958D-2C2F3509BD7F}"/>
              </a:ext>
            </a:extLst>
          </p:cNvPr>
          <p:cNvSpPr/>
          <p:nvPr/>
        </p:nvSpPr>
        <p:spPr>
          <a:xfrm>
            <a:off x="1236260" y="3903159"/>
            <a:ext cx="1008000" cy="43030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社会受容性の向上</a:t>
            </a:r>
          </a:p>
        </p:txBody>
      </p:sp>
      <p:cxnSp>
        <p:nvCxnSpPr>
          <p:cNvPr id="86" name="コネクタ: カギ線 85">
            <a:extLst>
              <a:ext uri="{FF2B5EF4-FFF2-40B4-BE49-F238E27FC236}">
                <a16:creationId xmlns:a16="http://schemas.microsoft.com/office/drawing/2014/main" id="{E5FE0884-A150-6EBC-D454-95FC7EA368E4}"/>
              </a:ext>
            </a:extLst>
          </p:cNvPr>
          <p:cNvCxnSpPr>
            <a:cxnSpLocks/>
            <a:stCxn id="85" idx="1"/>
            <a:endCxn id="33" idx="3"/>
          </p:cNvCxnSpPr>
          <p:nvPr/>
        </p:nvCxnSpPr>
        <p:spPr>
          <a:xfrm rot="10800000">
            <a:off x="983294" y="2962179"/>
            <a:ext cx="252967" cy="1156134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E59D9D06-0D15-1A37-BA0B-0F29D7A44CAB}"/>
              </a:ext>
            </a:extLst>
          </p:cNvPr>
          <p:cNvSpPr txBox="1"/>
          <p:nvPr/>
        </p:nvSpPr>
        <p:spPr>
          <a:xfrm>
            <a:off x="6477218" y="2021646"/>
            <a:ext cx="2646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出力制御の回避、優先給電ルール等</a:t>
            </a: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02F1D1B4-4690-52AF-5B72-53022C2E27DC}"/>
              </a:ext>
            </a:extLst>
          </p:cNvPr>
          <p:cNvSpPr txBox="1"/>
          <p:nvPr/>
        </p:nvSpPr>
        <p:spPr>
          <a:xfrm>
            <a:off x="6487454" y="2417897"/>
            <a:ext cx="18774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需要側リソースの活用等</a:t>
            </a: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E723993B-4AE2-EC4C-36BB-FCFB2C246FAC}"/>
              </a:ext>
            </a:extLst>
          </p:cNvPr>
          <p:cNvSpPr txBox="1"/>
          <p:nvPr/>
        </p:nvSpPr>
        <p:spPr>
          <a:xfrm>
            <a:off x="6468665" y="2788689"/>
            <a:ext cx="2566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CPPA</a:t>
            </a:r>
            <a:r>
              <a:rPr kumimoji="1" lang="ja-JP" altLang="en-US" sz="1200" dirty="0"/>
              <a:t>、非化石証書、市場要件見直し等</a:t>
            </a: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D5362389-0C90-FE9C-65BB-6A6B488721D3}"/>
              </a:ext>
            </a:extLst>
          </p:cNvPr>
          <p:cNvSpPr txBox="1"/>
          <p:nvPr/>
        </p:nvSpPr>
        <p:spPr>
          <a:xfrm>
            <a:off x="6457418" y="3338947"/>
            <a:ext cx="2566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放置案件対応、事業集約の推進等</a:t>
            </a:r>
            <a:endParaRPr kumimoji="1" lang="ja-JP" altLang="en-US" sz="1200" dirty="0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11D4028E-CCDA-54EE-720B-282F2F0EE4A1}"/>
              </a:ext>
            </a:extLst>
          </p:cNvPr>
          <p:cNvSpPr txBox="1"/>
          <p:nvPr/>
        </p:nvSpPr>
        <p:spPr>
          <a:xfrm>
            <a:off x="6457418" y="3754047"/>
            <a:ext cx="2566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地域共生モデル、情報公開</a:t>
            </a:r>
            <a:r>
              <a:rPr kumimoji="1" lang="en-US" altLang="ja-JP" sz="1200" dirty="0"/>
              <a:t>PF</a:t>
            </a:r>
            <a:r>
              <a:rPr kumimoji="1" lang="ja-JP" altLang="en-US" sz="1200" dirty="0"/>
              <a:t>等</a:t>
            </a: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B6D8F401-9B48-45F7-7CA8-773E71BD4D06}"/>
              </a:ext>
            </a:extLst>
          </p:cNvPr>
          <p:cNvSpPr txBox="1"/>
          <p:nvPr/>
        </p:nvSpPr>
        <p:spPr>
          <a:xfrm>
            <a:off x="6457418" y="4260655"/>
            <a:ext cx="2566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廃棄等積立制度等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0A9EB557-E6E6-96A8-A86A-232AF56F6D66}"/>
              </a:ext>
            </a:extLst>
          </p:cNvPr>
          <p:cNvSpPr txBox="1"/>
          <p:nvPr/>
        </p:nvSpPr>
        <p:spPr>
          <a:xfrm>
            <a:off x="6457418" y="4686978"/>
            <a:ext cx="2566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太陽光パネルリサイクル法案等</a:t>
            </a:r>
          </a:p>
        </p:txBody>
      </p:sp>
    </p:spTree>
    <p:extLst>
      <p:ext uri="{BB962C8B-B14F-4D97-AF65-F5344CB8AC3E}">
        <p14:creationId xmlns:p14="http://schemas.microsoft.com/office/powerpoint/2010/main" val="2587863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8006E-DD73-8BBA-214C-494B7526F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DEA2531C-FEE1-4771-8AC7-98584019B391}"/>
              </a:ext>
            </a:extLst>
          </p:cNvPr>
          <p:cNvSpPr/>
          <p:nvPr/>
        </p:nvSpPr>
        <p:spPr>
          <a:xfrm>
            <a:off x="817776" y="1826365"/>
            <a:ext cx="1371600" cy="43030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①再エネ</a:t>
            </a: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設備を　増やす</a:t>
            </a:r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AFB90AA9-BD51-41CE-9FB5-5F18AD58D45B}"/>
              </a:ext>
            </a:extLst>
          </p:cNvPr>
          <p:cNvSpPr/>
          <p:nvPr/>
        </p:nvSpPr>
        <p:spPr>
          <a:xfrm>
            <a:off x="2646576" y="2368853"/>
            <a:ext cx="2025000" cy="30777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インセンティブの最適化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57" name="四角形: 角を丸くする 56">
            <a:extLst>
              <a:ext uri="{FF2B5EF4-FFF2-40B4-BE49-F238E27FC236}">
                <a16:creationId xmlns:a16="http://schemas.microsoft.com/office/drawing/2014/main" id="{79B19F3F-B5F9-472B-8541-D5D89211AEF7}"/>
              </a:ext>
            </a:extLst>
          </p:cNvPr>
          <p:cNvSpPr/>
          <p:nvPr/>
        </p:nvSpPr>
        <p:spPr>
          <a:xfrm>
            <a:off x="2646576" y="1365508"/>
            <a:ext cx="2025000" cy="30777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設置場所の拡大と規制緩和</a:t>
            </a: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83C037D6-8FA0-41EA-B97E-6E83B96F7350}"/>
              </a:ext>
            </a:extLst>
          </p:cNvPr>
          <p:cNvSpPr/>
          <p:nvPr/>
        </p:nvSpPr>
        <p:spPr>
          <a:xfrm>
            <a:off x="2646576" y="1886380"/>
            <a:ext cx="2025000" cy="30777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次世代技術の開発・普及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cxnSp>
        <p:nvCxnSpPr>
          <p:cNvPr id="59" name="コネクタ: カギ線 58">
            <a:extLst>
              <a:ext uri="{FF2B5EF4-FFF2-40B4-BE49-F238E27FC236}">
                <a16:creationId xmlns:a16="http://schemas.microsoft.com/office/drawing/2014/main" id="{807FAAFE-F2FA-4E9C-80FF-FDC5AF61E02B}"/>
              </a:ext>
            </a:extLst>
          </p:cNvPr>
          <p:cNvCxnSpPr>
            <a:cxnSpLocks/>
            <a:stCxn id="56" idx="1"/>
            <a:endCxn id="53" idx="3"/>
          </p:cNvCxnSpPr>
          <p:nvPr/>
        </p:nvCxnSpPr>
        <p:spPr>
          <a:xfrm rot="10800000">
            <a:off x="2189376" y="2041519"/>
            <a:ext cx="457200" cy="481223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コネクタ: カギ線 59">
            <a:extLst>
              <a:ext uri="{FF2B5EF4-FFF2-40B4-BE49-F238E27FC236}">
                <a16:creationId xmlns:a16="http://schemas.microsoft.com/office/drawing/2014/main" id="{A23836DE-AB62-4DB0-967A-ECE7D29AFFEC}"/>
              </a:ext>
            </a:extLst>
          </p:cNvPr>
          <p:cNvCxnSpPr>
            <a:cxnSpLocks/>
            <a:stCxn id="57" idx="1"/>
            <a:endCxn id="53" idx="3"/>
          </p:cNvCxnSpPr>
          <p:nvPr/>
        </p:nvCxnSpPr>
        <p:spPr>
          <a:xfrm rot="10800000" flipV="1">
            <a:off x="2189376" y="1519396"/>
            <a:ext cx="457200" cy="522122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コネクタ: カギ線 60">
            <a:extLst>
              <a:ext uri="{FF2B5EF4-FFF2-40B4-BE49-F238E27FC236}">
                <a16:creationId xmlns:a16="http://schemas.microsoft.com/office/drawing/2014/main" id="{9B192DCF-97F8-43F4-8551-5F051EE958C7}"/>
              </a:ext>
            </a:extLst>
          </p:cNvPr>
          <p:cNvCxnSpPr>
            <a:cxnSpLocks/>
            <a:stCxn id="58" idx="1"/>
            <a:endCxn id="53" idx="3"/>
          </p:cNvCxnSpPr>
          <p:nvPr/>
        </p:nvCxnSpPr>
        <p:spPr>
          <a:xfrm rot="10800000" flipV="1">
            <a:off x="2189376" y="2040268"/>
            <a:ext cx="457200" cy="1250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4819A9CC-499F-4DE1-BBCC-27919B2200D0}"/>
              </a:ext>
            </a:extLst>
          </p:cNvPr>
          <p:cNvSpPr/>
          <p:nvPr/>
        </p:nvSpPr>
        <p:spPr>
          <a:xfrm>
            <a:off x="817776" y="3620371"/>
            <a:ext cx="1371600" cy="430307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②再エネの　　　最大限活用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0CA1EE8A-4206-4EC3-9B5B-21E20A470CA8}"/>
              </a:ext>
            </a:extLst>
          </p:cNvPr>
          <p:cNvSpPr/>
          <p:nvPr/>
        </p:nvSpPr>
        <p:spPr>
          <a:xfrm>
            <a:off x="2646577" y="2985658"/>
            <a:ext cx="2025000" cy="307777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系統の増強と運用改善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64" name="四角形: 角を丸くする 63">
            <a:extLst>
              <a:ext uri="{FF2B5EF4-FFF2-40B4-BE49-F238E27FC236}">
                <a16:creationId xmlns:a16="http://schemas.microsoft.com/office/drawing/2014/main" id="{72756C50-771E-436F-8305-F1D7D300CADE}"/>
              </a:ext>
            </a:extLst>
          </p:cNvPr>
          <p:cNvSpPr/>
          <p:nvPr/>
        </p:nvSpPr>
        <p:spPr>
          <a:xfrm>
            <a:off x="2646576" y="3461042"/>
            <a:ext cx="2025000" cy="307777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柔軟性の確保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65" name="四角形: 角を丸くする 64">
            <a:extLst>
              <a:ext uri="{FF2B5EF4-FFF2-40B4-BE49-F238E27FC236}">
                <a16:creationId xmlns:a16="http://schemas.microsoft.com/office/drawing/2014/main" id="{294D7579-9674-4EE0-A25A-D002E37F1281}"/>
              </a:ext>
            </a:extLst>
          </p:cNvPr>
          <p:cNvSpPr/>
          <p:nvPr/>
        </p:nvSpPr>
        <p:spPr>
          <a:xfrm>
            <a:off x="2646576" y="4381935"/>
            <a:ext cx="2025000" cy="307777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電力</a:t>
            </a: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取引</a:t>
            </a:r>
            <a:r>
              <a:rPr kumimoji="0" lang="en-US" altLang="ja-JP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/</a:t>
            </a: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市場</a:t>
            </a: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の</a:t>
            </a: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最適化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cxnSp>
        <p:nvCxnSpPr>
          <p:cNvPr id="66" name="コネクタ: カギ線 65">
            <a:extLst>
              <a:ext uri="{FF2B5EF4-FFF2-40B4-BE49-F238E27FC236}">
                <a16:creationId xmlns:a16="http://schemas.microsoft.com/office/drawing/2014/main" id="{11B53EA4-9A67-43E5-883F-5712123AE437}"/>
              </a:ext>
            </a:extLst>
          </p:cNvPr>
          <p:cNvCxnSpPr>
            <a:cxnSpLocks/>
            <a:stCxn id="63" idx="1"/>
            <a:endCxn id="62" idx="3"/>
          </p:cNvCxnSpPr>
          <p:nvPr/>
        </p:nvCxnSpPr>
        <p:spPr>
          <a:xfrm rot="10800000" flipV="1">
            <a:off x="2189377" y="3139546"/>
            <a:ext cx="457201" cy="695978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コネクタ: カギ線 66">
            <a:extLst>
              <a:ext uri="{FF2B5EF4-FFF2-40B4-BE49-F238E27FC236}">
                <a16:creationId xmlns:a16="http://schemas.microsoft.com/office/drawing/2014/main" id="{A730EF85-1635-4A72-B98D-7EA2F62A537F}"/>
              </a:ext>
            </a:extLst>
          </p:cNvPr>
          <p:cNvCxnSpPr>
            <a:cxnSpLocks/>
            <a:stCxn id="64" idx="1"/>
            <a:endCxn id="62" idx="3"/>
          </p:cNvCxnSpPr>
          <p:nvPr/>
        </p:nvCxnSpPr>
        <p:spPr>
          <a:xfrm rot="10800000" flipV="1">
            <a:off x="2189376" y="3614930"/>
            <a:ext cx="457200" cy="220595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コネクタ: カギ線 67">
            <a:extLst>
              <a:ext uri="{FF2B5EF4-FFF2-40B4-BE49-F238E27FC236}">
                <a16:creationId xmlns:a16="http://schemas.microsoft.com/office/drawing/2014/main" id="{C393DC3B-6536-4A77-BFFC-0E0B9F4A72B7}"/>
              </a:ext>
            </a:extLst>
          </p:cNvPr>
          <p:cNvCxnSpPr>
            <a:cxnSpLocks/>
            <a:stCxn id="65" idx="1"/>
            <a:endCxn id="62" idx="3"/>
          </p:cNvCxnSpPr>
          <p:nvPr/>
        </p:nvCxnSpPr>
        <p:spPr>
          <a:xfrm rot="10800000">
            <a:off x="2189376" y="3835525"/>
            <a:ext cx="457200" cy="700299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四角形: 角を丸くする 68">
            <a:extLst>
              <a:ext uri="{FF2B5EF4-FFF2-40B4-BE49-F238E27FC236}">
                <a16:creationId xmlns:a16="http://schemas.microsoft.com/office/drawing/2014/main" id="{E043138F-E42D-4C75-914B-8318AC70D735}"/>
              </a:ext>
            </a:extLst>
          </p:cNvPr>
          <p:cNvSpPr/>
          <p:nvPr/>
        </p:nvSpPr>
        <p:spPr>
          <a:xfrm>
            <a:off x="2646577" y="3931389"/>
            <a:ext cx="2025000" cy="307777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余剰電力の活用</a:t>
            </a:r>
          </a:p>
        </p:txBody>
      </p:sp>
      <p:cxnSp>
        <p:nvCxnSpPr>
          <p:cNvPr id="70" name="コネクタ: カギ線 69">
            <a:extLst>
              <a:ext uri="{FF2B5EF4-FFF2-40B4-BE49-F238E27FC236}">
                <a16:creationId xmlns:a16="http://schemas.microsoft.com/office/drawing/2014/main" id="{6DDF03EF-E777-42A8-9390-348EA8FE4F41}"/>
              </a:ext>
            </a:extLst>
          </p:cNvPr>
          <p:cNvCxnSpPr>
            <a:cxnSpLocks/>
            <a:stCxn id="69" idx="1"/>
            <a:endCxn id="62" idx="3"/>
          </p:cNvCxnSpPr>
          <p:nvPr/>
        </p:nvCxnSpPr>
        <p:spPr>
          <a:xfrm rot="10800000">
            <a:off x="2189377" y="3835526"/>
            <a:ext cx="457201" cy="24975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BD42E3D6-18E8-4066-9239-54F66053C7B6}"/>
              </a:ext>
            </a:extLst>
          </p:cNvPr>
          <p:cNvSpPr/>
          <p:nvPr/>
        </p:nvSpPr>
        <p:spPr>
          <a:xfrm>
            <a:off x="4898311" y="1769593"/>
            <a:ext cx="1371600" cy="43030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③社会受容性の向上</a:t>
            </a:r>
          </a:p>
        </p:txBody>
      </p:sp>
      <p:sp>
        <p:nvSpPr>
          <p:cNvPr id="72" name="四角形: 角を丸くする 71">
            <a:extLst>
              <a:ext uri="{FF2B5EF4-FFF2-40B4-BE49-F238E27FC236}">
                <a16:creationId xmlns:a16="http://schemas.microsoft.com/office/drawing/2014/main" id="{7B66C2B5-3227-4FAB-8C5A-7B7FE1F01D66}"/>
              </a:ext>
            </a:extLst>
          </p:cNvPr>
          <p:cNvSpPr/>
          <p:nvPr/>
        </p:nvSpPr>
        <p:spPr>
          <a:xfrm>
            <a:off x="6727111" y="1529774"/>
            <a:ext cx="2025000" cy="3077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不適切事例への対策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73" name="四角形: 角を丸くする 72">
            <a:extLst>
              <a:ext uri="{FF2B5EF4-FFF2-40B4-BE49-F238E27FC236}">
                <a16:creationId xmlns:a16="http://schemas.microsoft.com/office/drawing/2014/main" id="{58C8FCDD-E2F2-4E9F-85AF-25C233BDBA06}"/>
              </a:ext>
            </a:extLst>
          </p:cNvPr>
          <p:cNvSpPr/>
          <p:nvPr/>
        </p:nvSpPr>
        <p:spPr>
          <a:xfrm>
            <a:off x="6727111" y="2138826"/>
            <a:ext cx="2025000" cy="3077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適切事例の普及支援</a:t>
            </a:r>
          </a:p>
        </p:txBody>
      </p:sp>
      <p:cxnSp>
        <p:nvCxnSpPr>
          <p:cNvPr id="74" name="コネクタ: カギ線 73">
            <a:extLst>
              <a:ext uri="{FF2B5EF4-FFF2-40B4-BE49-F238E27FC236}">
                <a16:creationId xmlns:a16="http://schemas.microsoft.com/office/drawing/2014/main" id="{00C9495B-7057-4171-A3FE-B5EAF3EA42A3}"/>
              </a:ext>
            </a:extLst>
          </p:cNvPr>
          <p:cNvCxnSpPr>
            <a:cxnSpLocks/>
            <a:stCxn id="72" idx="1"/>
            <a:endCxn id="71" idx="3"/>
          </p:cNvCxnSpPr>
          <p:nvPr/>
        </p:nvCxnSpPr>
        <p:spPr>
          <a:xfrm rot="10800000" flipV="1">
            <a:off x="6269911" y="1683662"/>
            <a:ext cx="457200" cy="301085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コネクタ: カギ線 74">
            <a:extLst>
              <a:ext uri="{FF2B5EF4-FFF2-40B4-BE49-F238E27FC236}">
                <a16:creationId xmlns:a16="http://schemas.microsoft.com/office/drawing/2014/main" id="{D13D6759-37C9-4674-BA2C-7E37C9A67831}"/>
              </a:ext>
            </a:extLst>
          </p:cNvPr>
          <p:cNvCxnSpPr>
            <a:cxnSpLocks/>
            <a:stCxn id="73" idx="1"/>
            <a:endCxn id="71" idx="3"/>
          </p:cNvCxnSpPr>
          <p:nvPr/>
        </p:nvCxnSpPr>
        <p:spPr>
          <a:xfrm rot="10800000">
            <a:off x="6269911" y="1984747"/>
            <a:ext cx="457200" cy="307968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1309581B-549D-426C-973B-E08A17279E94}"/>
              </a:ext>
            </a:extLst>
          </p:cNvPr>
          <p:cNvSpPr/>
          <p:nvPr/>
        </p:nvSpPr>
        <p:spPr>
          <a:xfrm>
            <a:off x="4898311" y="3641797"/>
            <a:ext cx="1371600" cy="430307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④廃棄・リサイクル対策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77" name="四角形: 角を丸くする 76">
            <a:extLst>
              <a:ext uri="{FF2B5EF4-FFF2-40B4-BE49-F238E27FC236}">
                <a16:creationId xmlns:a16="http://schemas.microsoft.com/office/drawing/2014/main" id="{F370BA22-3205-44D8-8AD3-C59E2BDF6687}"/>
              </a:ext>
            </a:extLst>
          </p:cNvPr>
          <p:cNvSpPr/>
          <p:nvPr/>
        </p:nvSpPr>
        <p:spPr>
          <a:xfrm>
            <a:off x="6727111" y="3353886"/>
            <a:ext cx="2025000" cy="307777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費用積立の義務化</a:t>
            </a:r>
          </a:p>
        </p:txBody>
      </p:sp>
      <p:sp>
        <p:nvSpPr>
          <p:cNvPr id="78" name="四角形: 角を丸くする 77">
            <a:extLst>
              <a:ext uri="{FF2B5EF4-FFF2-40B4-BE49-F238E27FC236}">
                <a16:creationId xmlns:a16="http://schemas.microsoft.com/office/drawing/2014/main" id="{252CD36C-30B9-4916-83FF-ED26567629AF}"/>
              </a:ext>
            </a:extLst>
          </p:cNvPr>
          <p:cNvSpPr/>
          <p:nvPr/>
        </p:nvSpPr>
        <p:spPr>
          <a:xfrm>
            <a:off x="6727111" y="4025172"/>
            <a:ext cx="2025000" cy="307777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リサイクルの推進</a:t>
            </a:r>
          </a:p>
        </p:txBody>
      </p:sp>
      <p:cxnSp>
        <p:nvCxnSpPr>
          <p:cNvPr id="79" name="コネクタ: カギ線 78">
            <a:extLst>
              <a:ext uri="{FF2B5EF4-FFF2-40B4-BE49-F238E27FC236}">
                <a16:creationId xmlns:a16="http://schemas.microsoft.com/office/drawing/2014/main" id="{870397BD-335F-4567-BCBE-D84754E660A6}"/>
              </a:ext>
            </a:extLst>
          </p:cNvPr>
          <p:cNvCxnSpPr>
            <a:cxnSpLocks/>
            <a:stCxn id="77" idx="1"/>
            <a:endCxn id="76" idx="3"/>
          </p:cNvCxnSpPr>
          <p:nvPr/>
        </p:nvCxnSpPr>
        <p:spPr>
          <a:xfrm rot="10800000" flipV="1">
            <a:off x="6269911" y="3507774"/>
            <a:ext cx="457200" cy="349177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コネクタ: カギ線 79">
            <a:extLst>
              <a:ext uri="{FF2B5EF4-FFF2-40B4-BE49-F238E27FC236}">
                <a16:creationId xmlns:a16="http://schemas.microsoft.com/office/drawing/2014/main" id="{5695989C-90EA-49C2-B937-A52E88E8392B}"/>
              </a:ext>
            </a:extLst>
          </p:cNvPr>
          <p:cNvCxnSpPr>
            <a:cxnSpLocks/>
            <a:stCxn id="78" idx="1"/>
            <a:endCxn id="76" idx="3"/>
          </p:cNvCxnSpPr>
          <p:nvPr/>
        </p:nvCxnSpPr>
        <p:spPr>
          <a:xfrm rot="10800000">
            <a:off x="6269911" y="3856952"/>
            <a:ext cx="457200" cy="322109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Left Bracket 17">
            <a:extLst>
              <a:ext uri="{FF2B5EF4-FFF2-40B4-BE49-F238E27FC236}">
                <a16:creationId xmlns:a16="http://schemas.microsoft.com/office/drawing/2014/main" id="{ECB72362-EB4F-4B59-B5E7-A0F7539A300C}"/>
              </a:ext>
            </a:extLst>
          </p:cNvPr>
          <p:cNvSpPr/>
          <p:nvPr/>
        </p:nvSpPr>
        <p:spPr>
          <a:xfrm>
            <a:off x="609991" y="1358438"/>
            <a:ext cx="231689" cy="3324204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685783">
              <a:buClr>
                <a:srgbClr val="000000"/>
              </a:buClr>
              <a:defRPr/>
            </a:pPr>
            <a:endParaRPr kumimoji="0" lang="en-JP" sz="1350" kern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82" name="TextBox 18">
            <a:extLst>
              <a:ext uri="{FF2B5EF4-FFF2-40B4-BE49-F238E27FC236}">
                <a16:creationId xmlns:a16="http://schemas.microsoft.com/office/drawing/2014/main" id="{F831D652-B0EA-4B24-95D1-42BD165E8CF7}"/>
              </a:ext>
            </a:extLst>
          </p:cNvPr>
          <p:cNvSpPr txBox="1"/>
          <p:nvPr/>
        </p:nvSpPr>
        <p:spPr>
          <a:xfrm rot="16200000">
            <a:off x="-375286" y="2691726"/>
            <a:ext cx="156966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783">
              <a:buClr>
                <a:srgbClr val="000000"/>
              </a:buClr>
              <a:defRPr/>
            </a:pPr>
            <a:r>
              <a:rPr kumimoji="0" lang="en-JP" sz="135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経済合理性の向上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B6853C-AB57-1883-96FF-E52144E8A8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85460" y="4767263"/>
            <a:ext cx="2057400" cy="273844"/>
          </a:xfrm>
        </p:spPr>
        <p:txBody>
          <a:bodyPr/>
          <a:lstStyle/>
          <a:p>
            <a:pPr defTabSz="685800">
              <a:defRPr/>
            </a:pPr>
            <a:fld id="{00000000-1234-1234-1234-123412341234}" type="slidenum">
              <a:rPr kumimoji="0" lang="en-US" altLang="ja-JP" kern="0"/>
              <a:pPr defTabSz="685800">
                <a:defRPr/>
              </a:pPr>
              <a:t>3</a:t>
            </a:fld>
            <a:endParaRPr kumimoji="0" lang="ja-JP" altLang="en-US" kern="0"/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EE13D1D0-AE87-43A6-B184-C5F2A8428D4F}"/>
              </a:ext>
            </a:extLst>
          </p:cNvPr>
          <p:cNvSpPr txBox="1"/>
          <p:nvPr/>
        </p:nvSpPr>
        <p:spPr>
          <a:xfrm>
            <a:off x="620038" y="37761"/>
            <a:ext cx="7996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783">
              <a:buClr>
                <a:srgbClr val="000000"/>
              </a:buClr>
              <a:defRPr/>
            </a:pPr>
            <a:r>
              <a:rPr kumimoji="0" lang="en-JP" sz="2400" kern="0" dirty="0">
                <a:solidFill>
                  <a:prstClr val="black"/>
                </a:solidFill>
                <a:latin typeface="Noto Sans JP Medium" panose="020B0200000000000000" pitchFamily="34" charset="-128"/>
                <a:ea typeface="Noto Sans JP Medium" panose="020B0200000000000000" pitchFamily="34" charset="-128"/>
                <a:cs typeface="Arial"/>
                <a:sym typeface="Arial"/>
              </a:rPr>
              <a:t>どう変われば再エネが増えるか？ – 全体像</a:t>
            </a:r>
            <a:r>
              <a:rPr kumimoji="0" lang="ja-JP" altLang="en-US" sz="2400" kern="0" dirty="0">
                <a:solidFill>
                  <a:prstClr val="black"/>
                </a:solidFill>
                <a:latin typeface="Noto Sans JP Medium" panose="020B0200000000000000" pitchFamily="34" charset="-128"/>
                <a:ea typeface="Noto Sans JP Medium" panose="020B0200000000000000" pitchFamily="34" charset="-128"/>
                <a:cs typeface="Arial"/>
                <a:sym typeface="Arial"/>
              </a:rPr>
              <a:t>を整理</a:t>
            </a:r>
            <a:endParaRPr kumimoji="0" lang="en-JP" sz="2400" kern="0" dirty="0">
              <a:solidFill>
                <a:prstClr val="black"/>
              </a:solidFill>
              <a:latin typeface="Noto Sans JP Medium" panose="020B0200000000000000" pitchFamily="34" charset="-128"/>
              <a:ea typeface="Noto Sans JP Medium" panose="020B0200000000000000" pitchFamily="34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296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9878616-4FF0-4DAA-AAE2-550D07CF03BE}"/>
              </a:ext>
            </a:extLst>
          </p:cNvPr>
          <p:cNvSpPr txBox="1"/>
          <p:nvPr/>
        </p:nvSpPr>
        <p:spPr>
          <a:xfrm>
            <a:off x="295699" y="84734"/>
            <a:ext cx="449353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buClr>
                <a:srgbClr val="000000"/>
              </a:buClr>
              <a:defRPr/>
            </a:pPr>
            <a:r>
              <a:rPr lang="ja-JP" altLang="en-US" sz="2100" b="1" kern="0" dirty="0">
                <a:solidFill>
                  <a:srgbClr val="245D6D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再エネ拡大のための主要課題と対策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C50918D-9599-41B6-BF25-7CE53F3DEB8C}"/>
              </a:ext>
            </a:extLst>
          </p:cNvPr>
          <p:cNvSpPr/>
          <p:nvPr/>
        </p:nvSpPr>
        <p:spPr>
          <a:xfrm>
            <a:off x="437075" y="471777"/>
            <a:ext cx="1782937" cy="27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①再エネ</a:t>
            </a: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設備を増やす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CF72221E-36B8-4BC4-8FEF-57254EE8E0A4}"/>
              </a:ext>
            </a:extLst>
          </p:cNvPr>
          <p:cNvSpPr/>
          <p:nvPr/>
        </p:nvSpPr>
        <p:spPr>
          <a:xfrm>
            <a:off x="576121" y="3839435"/>
            <a:ext cx="1296000" cy="648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インセンティブの最適化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8CD3B974-C052-4F51-ADA7-D1880CC2DC36}"/>
              </a:ext>
            </a:extLst>
          </p:cNvPr>
          <p:cNvSpPr/>
          <p:nvPr/>
        </p:nvSpPr>
        <p:spPr>
          <a:xfrm>
            <a:off x="576121" y="1075635"/>
            <a:ext cx="1296000" cy="648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設置場所の拡大と規制緩和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5BE56D63-DBC2-477A-8742-2767D6168C67}"/>
              </a:ext>
            </a:extLst>
          </p:cNvPr>
          <p:cNvSpPr/>
          <p:nvPr/>
        </p:nvSpPr>
        <p:spPr>
          <a:xfrm>
            <a:off x="576121" y="2480269"/>
            <a:ext cx="1296000" cy="648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次世代技術の開発・普及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102DE81D-85B7-47C7-879D-DD5DD4299770}"/>
              </a:ext>
            </a:extLst>
          </p:cNvPr>
          <p:cNvSpPr/>
          <p:nvPr/>
        </p:nvSpPr>
        <p:spPr>
          <a:xfrm>
            <a:off x="2373375" y="3793432"/>
            <a:ext cx="3375000" cy="30777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5000" indent="-135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ja-JP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FIP/</a:t>
            </a:r>
            <a:r>
              <a:rPr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入札制度の活用とコスト低減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E5B2D1E-20F0-41EA-82CF-FDED9129CE7F}"/>
              </a:ext>
            </a:extLst>
          </p:cNvPr>
          <p:cNvSpPr/>
          <p:nvPr/>
        </p:nvSpPr>
        <p:spPr>
          <a:xfrm>
            <a:off x="2368123" y="4606153"/>
            <a:ext cx="3375000" cy="30777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5000" indent="-135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適切なカーボンプライシングの導入・運用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14E6BAA8-88EE-4951-B404-C98D7377004C}"/>
              </a:ext>
            </a:extLst>
          </p:cNvPr>
          <p:cNvSpPr/>
          <p:nvPr/>
        </p:nvSpPr>
        <p:spPr>
          <a:xfrm>
            <a:off x="2368123" y="3394143"/>
            <a:ext cx="3375000" cy="30777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5000" indent="-135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初期投資支援とインフレへの対応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F9D6B5D-AC18-4D05-8F3E-CB085A576B5F}"/>
              </a:ext>
            </a:extLst>
          </p:cNvPr>
          <p:cNvSpPr/>
          <p:nvPr/>
        </p:nvSpPr>
        <p:spPr>
          <a:xfrm>
            <a:off x="2372230" y="627396"/>
            <a:ext cx="3375000" cy="30777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5000" indent="-135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建築物への設置</a:t>
            </a:r>
            <a:r>
              <a:rPr kumimoji="0"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標準化</a:t>
            </a:r>
            <a:r>
              <a:rPr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と</a:t>
            </a:r>
            <a:r>
              <a:rPr lang="en-US" altLang="ja-JP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PPA</a:t>
            </a:r>
            <a:r>
              <a:rPr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モデル促進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B7DF8DBB-7198-4229-A7DE-417B3548892A}"/>
              </a:ext>
            </a:extLst>
          </p:cNvPr>
          <p:cNvSpPr/>
          <p:nvPr/>
        </p:nvSpPr>
        <p:spPr>
          <a:xfrm>
            <a:off x="2372230" y="2437400"/>
            <a:ext cx="3375000" cy="30777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5000" indent="-135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洋上風力サプライチェーンの構築・強化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C7885301-1954-403A-A2C0-C5BF518F5F49}"/>
              </a:ext>
            </a:extLst>
          </p:cNvPr>
          <p:cNvSpPr/>
          <p:nvPr/>
        </p:nvSpPr>
        <p:spPr>
          <a:xfrm>
            <a:off x="2368123" y="2850830"/>
            <a:ext cx="3375000" cy="30777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5000" indent="-135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革新技術（ペロブ等）の開発・社会実装加速</a:t>
            </a:r>
          </a:p>
        </p:txBody>
      </p: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80DF07B6-6AC2-478F-B874-6F4631696DB6}"/>
              </a:ext>
            </a:extLst>
          </p:cNvPr>
          <p:cNvCxnSpPr>
            <a:cxnSpLocks/>
            <a:stCxn id="9" idx="1"/>
            <a:endCxn id="6" idx="3"/>
          </p:cNvCxnSpPr>
          <p:nvPr/>
        </p:nvCxnSpPr>
        <p:spPr>
          <a:xfrm rot="10800000" flipV="1">
            <a:off x="1872122" y="3947321"/>
            <a:ext cx="501254" cy="216114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A6392809-D732-48E2-836A-D349FC2300A0}"/>
              </a:ext>
            </a:extLst>
          </p:cNvPr>
          <p:cNvCxnSpPr>
            <a:cxnSpLocks/>
            <a:stCxn id="10" idx="1"/>
            <a:endCxn id="6" idx="3"/>
          </p:cNvCxnSpPr>
          <p:nvPr/>
        </p:nvCxnSpPr>
        <p:spPr>
          <a:xfrm rot="10800000">
            <a:off x="1872121" y="4163435"/>
            <a:ext cx="496002" cy="596607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3480194C-BDDA-4CE0-98B4-079F342FF4BC}"/>
              </a:ext>
            </a:extLst>
          </p:cNvPr>
          <p:cNvCxnSpPr>
            <a:cxnSpLocks/>
            <a:stCxn id="11" idx="1"/>
            <a:endCxn id="6" idx="3"/>
          </p:cNvCxnSpPr>
          <p:nvPr/>
        </p:nvCxnSpPr>
        <p:spPr>
          <a:xfrm rot="10800000" flipV="1">
            <a:off x="1872121" y="3548031"/>
            <a:ext cx="496002" cy="615404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5477619C-4067-4C49-A799-B72F892F3AE5}"/>
              </a:ext>
            </a:extLst>
          </p:cNvPr>
          <p:cNvCxnSpPr>
            <a:cxnSpLocks/>
            <a:stCxn id="12" idx="1"/>
            <a:endCxn id="7" idx="3"/>
          </p:cNvCxnSpPr>
          <p:nvPr/>
        </p:nvCxnSpPr>
        <p:spPr>
          <a:xfrm rot="10800000" flipV="1">
            <a:off x="1872121" y="781285"/>
            <a:ext cx="500109" cy="61835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コネクタ: カギ線 29">
            <a:extLst>
              <a:ext uri="{FF2B5EF4-FFF2-40B4-BE49-F238E27FC236}">
                <a16:creationId xmlns:a16="http://schemas.microsoft.com/office/drawing/2014/main" id="{971DE13F-A796-48FD-B6F4-02D1876F028D}"/>
              </a:ext>
            </a:extLst>
          </p:cNvPr>
          <p:cNvCxnSpPr>
            <a:cxnSpLocks/>
            <a:stCxn id="88" idx="1"/>
            <a:endCxn id="7" idx="3"/>
          </p:cNvCxnSpPr>
          <p:nvPr/>
        </p:nvCxnSpPr>
        <p:spPr>
          <a:xfrm rot="10800000">
            <a:off x="1872121" y="1399636"/>
            <a:ext cx="500109" cy="19437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5D2ABDF2-09EF-4BA2-B054-92F4DE3F2024}"/>
              </a:ext>
            </a:extLst>
          </p:cNvPr>
          <p:cNvCxnSpPr>
            <a:cxnSpLocks/>
            <a:stCxn id="15" idx="1"/>
            <a:endCxn id="8" idx="3"/>
          </p:cNvCxnSpPr>
          <p:nvPr/>
        </p:nvCxnSpPr>
        <p:spPr>
          <a:xfrm rot="10800000" flipV="1">
            <a:off x="1872121" y="2591288"/>
            <a:ext cx="500109" cy="21298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コネクタ: カギ線 41">
            <a:extLst>
              <a:ext uri="{FF2B5EF4-FFF2-40B4-BE49-F238E27FC236}">
                <a16:creationId xmlns:a16="http://schemas.microsoft.com/office/drawing/2014/main" id="{55666C4A-B644-45EF-B56C-48F55E217A5E}"/>
              </a:ext>
            </a:extLst>
          </p:cNvPr>
          <p:cNvCxnSpPr>
            <a:cxnSpLocks/>
            <a:stCxn id="17" idx="1"/>
            <a:endCxn id="8" idx="3"/>
          </p:cNvCxnSpPr>
          <p:nvPr/>
        </p:nvCxnSpPr>
        <p:spPr>
          <a:xfrm rot="10800000">
            <a:off x="1872121" y="2804269"/>
            <a:ext cx="496002" cy="20045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コネクタ: カギ線 45">
            <a:extLst>
              <a:ext uri="{FF2B5EF4-FFF2-40B4-BE49-F238E27FC236}">
                <a16:creationId xmlns:a16="http://schemas.microsoft.com/office/drawing/2014/main" id="{FCA3C88B-BB11-48F7-B827-7C253E45D7E3}"/>
              </a:ext>
            </a:extLst>
          </p:cNvPr>
          <p:cNvCxnSpPr>
            <a:cxnSpLocks/>
            <a:stCxn id="6" idx="1"/>
            <a:endCxn id="5" idx="1"/>
          </p:cNvCxnSpPr>
          <p:nvPr/>
        </p:nvCxnSpPr>
        <p:spPr>
          <a:xfrm rot="10800000">
            <a:off x="437076" y="606777"/>
            <a:ext cx="139046" cy="3556658"/>
          </a:xfrm>
          <a:prstGeom prst="bentConnector3">
            <a:avLst>
              <a:gd name="adj1" fmla="val 22330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DB4CBC45-9C86-4883-B42F-715162DAC3FC}"/>
              </a:ext>
            </a:extLst>
          </p:cNvPr>
          <p:cNvCxnSpPr>
            <a:cxnSpLocks/>
            <a:stCxn id="7" idx="1"/>
            <a:endCxn id="5" idx="1"/>
          </p:cNvCxnSpPr>
          <p:nvPr/>
        </p:nvCxnSpPr>
        <p:spPr>
          <a:xfrm rot="10800000">
            <a:off x="437076" y="606777"/>
            <a:ext cx="139046" cy="792858"/>
          </a:xfrm>
          <a:prstGeom prst="bentConnector3">
            <a:avLst>
              <a:gd name="adj1" fmla="val 22330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3848B10E-509A-4A15-803C-CB5590D5D2A8}"/>
              </a:ext>
            </a:extLst>
          </p:cNvPr>
          <p:cNvCxnSpPr>
            <a:cxnSpLocks/>
            <a:stCxn id="8" idx="1"/>
            <a:endCxn id="5" idx="1"/>
          </p:cNvCxnSpPr>
          <p:nvPr/>
        </p:nvCxnSpPr>
        <p:spPr>
          <a:xfrm rot="10800000">
            <a:off x="437076" y="606778"/>
            <a:ext cx="139046" cy="2197492"/>
          </a:xfrm>
          <a:prstGeom prst="bentConnector3">
            <a:avLst>
              <a:gd name="adj1" fmla="val 22330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四角形: 角を丸くする 56">
            <a:extLst>
              <a:ext uri="{FF2B5EF4-FFF2-40B4-BE49-F238E27FC236}">
                <a16:creationId xmlns:a16="http://schemas.microsoft.com/office/drawing/2014/main" id="{B686631F-6473-4211-9047-8AE4FE909981}"/>
              </a:ext>
            </a:extLst>
          </p:cNvPr>
          <p:cNvSpPr/>
          <p:nvPr/>
        </p:nvSpPr>
        <p:spPr>
          <a:xfrm>
            <a:off x="2368123" y="1031306"/>
            <a:ext cx="3375000" cy="30777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5000" indent="-135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ポジティブゾーニング</a:t>
            </a:r>
            <a:endParaRPr lang="en-US" altLang="ja-JP" sz="1200" b="1" kern="0" dirty="0">
              <a:solidFill>
                <a:srgbClr val="FF0000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639BEED7-C240-420C-84C5-BC39D7540E45}"/>
              </a:ext>
            </a:extLst>
          </p:cNvPr>
          <p:cNvSpPr/>
          <p:nvPr/>
        </p:nvSpPr>
        <p:spPr>
          <a:xfrm>
            <a:off x="2373375" y="4199792"/>
            <a:ext cx="3375000" cy="30777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5000" indent="-135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サプライチェーン巻き込み</a:t>
            </a:r>
          </a:p>
        </p:txBody>
      </p:sp>
      <p:cxnSp>
        <p:nvCxnSpPr>
          <p:cNvPr id="59" name="コネクタ: カギ線 58">
            <a:extLst>
              <a:ext uri="{FF2B5EF4-FFF2-40B4-BE49-F238E27FC236}">
                <a16:creationId xmlns:a16="http://schemas.microsoft.com/office/drawing/2014/main" id="{72475A1F-7EBC-4F04-A879-A37DF0FE7744}"/>
              </a:ext>
            </a:extLst>
          </p:cNvPr>
          <p:cNvCxnSpPr>
            <a:cxnSpLocks/>
            <a:stCxn id="57" idx="1"/>
            <a:endCxn id="7" idx="3"/>
          </p:cNvCxnSpPr>
          <p:nvPr/>
        </p:nvCxnSpPr>
        <p:spPr>
          <a:xfrm rot="10800000" flipV="1">
            <a:off x="1872121" y="1185194"/>
            <a:ext cx="496002" cy="21444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コネクタ: カギ線 61">
            <a:extLst>
              <a:ext uri="{FF2B5EF4-FFF2-40B4-BE49-F238E27FC236}">
                <a16:creationId xmlns:a16="http://schemas.microsoft.com/office/drawing/2014/main" id="{03D76EA7-BB7E-4085-8D71-8797F572B000}"/>
              </a:ext>
            </a:extLst>
          </p:cNvPr>
          <p:cNvCxnSpPr>
            <a:cxnSpLocks/>
            <a:stCxn id="58" idx="1"/>
            <a:endCxn id="6" idx="3"/>
          </p:cNvCxnSpPr>
          <p:nvPr/>
        </p:nvCxnSpPr>
        <p:spPr>
          <a:xfrm rot="10800000">
            <a:off x="1872122" y="4163436"/>
            <a:ext cx="501254" cy="19024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四角形: 角を丸くする 87">
            <a:extLst>
              <a:ext uri="{FF2B5EF4-FFF2-40B4-BE49-F238E27FC236}">
                <a16:creationId xmlns:a16="http://schemas.microsoft.com/office/drawing/2014/main" id="{D15223D4-6066-45BD-8578-34C4BD052B4E}"/>
              </a:ext>
            </a:extLst>
          </p:cNvPr>
          <p:cNvSpPr/>
          <p:nvPr/>
        </p:nvSpPr>
        <p:spPr>
          <a:xfrm>
            <a:off x="2372230" y="1440117"/>
            <a:ext cx="3375000" cy="30777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5000" indent="-135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営農型太陽光の導入拡大</a:t>
            </a:r>
          </a:p>
        </p:txBody>
      </p:sp>
      <p:sp>
        <p:nvSpPr>
          <p:cNvPr id="92" name="四角形: 角を丸くする 91">
            <a:extLst>
              <a:ext uri="{FF2B5EF4-FFF2-40B4-BE49-F238E27FC236}">
                <a16:creationId xmlns:a16="http://schemas.microsoft.com/office/drawing/2014/main" id="{43344887-BD63-42EF-9C83-981A8F399CBB}"/>
              </a:ext>
            </a:extLst>
          </p:cNvPr>
          <p:cNvSpPr/>
          <p:nvPr/>
        </p:nvSpPr>
        <p:spPr>
          <a:xfrm>
            <a:off x="2380445" y="1853548"/>
            <a:ext cx="3375000" cy="30777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5000" indent="-135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規制と手続きの適正化</a:t>
            </a:r>
            <a:r>
              <a:rPr lang="ja-JP" altLang="en-US" sz="105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（アセス・系統接続等）</a:t>
            </a:r>
            <a:endParaRPr lang="ja-JP" altLang="en-US" sz="1200" b="1" kern="0" dirty="0">
              <a:solidFill>
                <a:srgbClr val="FF0000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cxnSp>
        <p:nvCxnSpPr>
          <p:cNvPr id="93" name="コネクタ: カギ線 92">
            <a:extLst>
              <a:ext uri="{FF2B5EF4-FFF2-40B4-BE49-F238E27FC236}">
                <a16:creationId xmlns:a16="http://schemas.microsoft.com/office/drawing/2014/main" id="{4E5F24F8-6B84-4440-B6A7-346CDAC2C04E}"/>
              </a:ext>
            </a:extLst>
          </p:cNvPr>
          <p:cNvCxnSpPr>
            <a:cxnSpLocks/>
            <a:stCxn id="92" idx="1"/>
            <a:endCxn id="7" idx="3"/>
          </p:cNvCxnSpPr>
          <p:nvPr/>
        </p:nvCxnSpPr>
        <p:spPr>
          <a:xfrm rot="10800000">
            <a:off x="1872121" y="1399635"/>
            <a:ext cx="508325" cy="60780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E43E4029-F82C-4F20-B212-FF389B291DA1}"/>
              </a:ext>
            </a:extLst>
          </p:cNvPr>
          <p:cNvSpPr txBox="1"/>
          <p:nvPr/>
        </p:nvSpPr>
        <p:spPr>
          <a:xfrm>
            <a:off x="5847227" y="609197"/>
            <a:ext cx="30572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 defTabSz="685800"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開発しやすい平地の適地が減少しており、新たな設置場所（屋根、農地等）の開拓が必須</a:t>
            </a:r>
            <a:endParaRPr lang="en-US" altLang="ja-JP" sz="1200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214313" indent="-214313" defTabSz="685800"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再エネ促進区域の設定が順調に進んでいない</a:t>
            </a:r>
            <a:endParaRPr lang="en-US" altLang="ja-JP" sz="1200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214313" indent="-214313" defTabSz="685800"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地域と共生し、かつ需要地に近い場所での電源確保が求められている</a:t>
            </a:r>
            <a:endParaRPr lang="en-US" altLang="ja-JP" sz="1200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214313" indent="-214313" defTabSz="685800"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手続きが過度な負担になる場合も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E3F65E5A-594C-4C3B-9136-367851BA741E}"/>
              </a:ext>
            </a:extLst>
          </p:cNvPr>
          <p:cNvSpPr txBox="1"/>
          <p:nvPr/>
        </p:nvSpPr>
        <p:spPr>
          <a:xfrm>
            <a:off x="5847227" y="2385106"/>
            <a:ext cx="3153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 defTabSz="685800"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洋上風力は大規模電源になり得るが、　コスト低減と国内産業基盤の強化が必要</a:t>
            </a:r>
          </a:p>
          <a:p>
            <a:pPr marL="214313" indent="-214313" defTabSz="685800"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ペロブは技術的優位性があり、シリコン製</a:t>
            </a:r>
            <a:r>
              <a:rPr lang="en-US" altLang="ja-JP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PV</a:t>
            </a: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では設置困難な場所への導入が可能</a:t>
            </a:r>
            <a:endParaRPr lang="en-US" altLang="ja-JP" sz="1200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14FC0CFE-6444-47A2-A24C-5B901FF2882C}"/>
              </a:ext>
            </a:extLst>
          </p:cNvPr>
          <p:cNvSpPr txBox="1"/>
          <p:nvPr/>
        </p:nvSpPr>
        <p:spPr>
          <a:xfrm>
            <a:off x="5847226" y="3541725"/>
            <a:ext cx="31117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 defTabSz="685800"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資材高騰や予見性の低さが、事業者の新規投資意欲を減退させている</a:t>
            </a:r>
            <a:endParaRPr lang="en-US" altLang="ja-JP" sz="1200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214313" indent="-214313" defTabSz="685800"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国民負担（再エネ賦課金）を抑制しつつ、再エネ電源の自立化とコスト競争力を高める必要がある</a:t>
            </a:r>
            <a:endParaRPr lang="en-US" altLang="ja-JP" sz="1200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FBB15153-1F11-4B51-B13F-4139BFF194D9}"/>
              </a:ext>
            </a:extLst>
          </p:cNvPr>
          <p:cNvSpPr txBox="1"/>
          <p:nvPr/>
        </p:nvSpPr>
        <p:spPr>
          <a:xfrm>
            <a:off x="6624617" y="336700"/>
            <a:ext cx="15002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buClr>
                <a:srgbClr val="000000"/>
              </a:buClr>
              <a:defRPr/>
            </a:pPr>
            <a:r>
              <a:rPr lang="ja-JP" altLang="en-US" sz="135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背景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3034A2CC-8C74-962F-F40C-98D67DC8A26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85460" y="4767263"/>
            <a:ext cx="2057400" cy="273844"/>
          </a:xfrm>
        </p:spPr>
        <p:txBody>
          <a:bodyPr/>
          <a:lstStyle/>
          <a:p>
            <a:pPr defTabSz="685800">
              <a:defRPr/>
            </a:pPr>
            <a:fld id="{00000000-1234-1234-1234-123412341234}" type="slidenum">
              <a:rPr kumimoji="0" lang="en-US" altLang="ja-JP" kern="0"/>
              <a:pPr defTabSz="685800">
                <a:defRPr/>
              </a:pPr>
              <a:t>4</a:t>
            </a:fld>
            <a:endParaRPr kumimoji="0" lang="ja-JP" altLang="en-US" kern="0"/>
          </a:p>
        </p:txBody>
      </p:sp>
    </p:spTree>
    <p:extLst>
      <p:ext uri="{BB962C8B-B14F-4D97-AF65-F5344CB8AC3E}">
        <p14:creationId xmlns:p14="http://schemas.microsoft.com/office/powerpoint/2010/main" val="620901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C50918D-9599-41B6-BF25-7CE53F3DEB8C}"/>
              </a:ext>
            </a:extLst>
          </p:cNvPr>
          <p:cNvSpPr/>
          <p:nvPr/>
        </p:nvSpPr>
        <p:spPr>
          <a:xfrm>
            <a:off x="415867" y="519345"/>
            <a:ext cx="1701000" cy="270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②再エネの最大限活用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CF72221E-36B8-4BC4-8FEF-57254EE8E0A4}"/>
              </a:ext>
            </a:extLst>
          </p:cNvPr>
          <p:cNvSpPr/>
          <p:nvPr/>
        </p:nvSpPr>
        <p:spPr>
          <a:xfrm>
            <a:off x="611473" y="937166"/>
            <a:ext cx="1296000" cy="648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系統の増強と　運用改善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8CD3B974-C052-4F51-ADA7-D1880CC2DC36}"/>
              </a:ext>
            </a:extLst>
          </p:cNvPr>
          <p:cNvSpPr/>
          <p:nvPr/>
        </p:nvSpPr>
        <p:spPr>
          <a:xfrm>
            <a:off x="611472" y="1766057"/>
            <a:ext cx="1296000" cy="648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柔軟性の確保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5BE56D63-DBC2-477A-8742-2767D6168C67}"/>
              </a:ext>
            </a:extLst>
          </p:cNvPr>
          <p:cNvSpPr/>
          <p:nvPr/>
        </p:nvSpPr>
        <p:spPr>
          <a:xfrm>
            <a:off x="611472" y="4016130"/>
            <a:ext cx="1296000" cy="648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電力</a:t>
            </a: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取引</a:t>
            </a:r>
            <a:r>
              <a:rPr kumimoji="0" lang="en-US" altLang="ja-JP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/</a:t>
            </a: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市場</a:t>
            </a: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の</a:t>
            </a: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最適化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102DE81D-85B7-47C7-879D-DD5DD4299770}"/>
              </a:ext>
            </a:extLst>
          </p:cNvPr>
          <p:cNvSpPr/>
          <p:nvPr/>
        </p:nvSpPr>
        <p:spPr>
          <a:xfrm>
            <a:off x="2308598" y="596547"/>
            <a:ext cx="3375000" cy="30777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系統の増強（拡大・迅速化）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E5B2D1E-20F0-41EA-82CF-FDED9129CE7F}"/>
              </a:ext>
            </a:extLst>
          </p:cNvPr>
          <p:cNvSpPr/>
          <p:nvPr/>
        </p:nvSpPr>
        <p:spPr>
          <a:xfrm>
            <a:off x="2308598" y="1379121"/>
            <a:ext cx="3375000" cy="30777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蓄電池・揚水の導入拡大・加速</a:t>
            </a:r>
            <a:endParaRPr lang="en-US" altLang="ja-JP" sz="1200" b="1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14E6BAA8-88EE-4951-B404-C98D7377004C}"/>
              </a:ext>
            </a:extLst>
          </p:cNvPr>
          <p:cNvSpPr/>
          <p:nvPr/>
        </p:nvSpPr>
        <p:spPr>
          <a:xfrm>
            <a:off x="2308598" y="960210"/>
            <a:ext cx="3375000" cy="30777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kumimoji="0"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運用容量の拡大</a:t>
            </a:r>
            <a:r>
              <a:rPr kumimoji="0" lang="en-US" altLang="ja-JP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(N-1</a:t>
            </a:r>
            <a:r>
              <a:rPr kumimoji="0"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電制・ﾀﾞｲﾅﾐｯｸﾚｰﾃｨﾝｸﾞ</a:t>
            </a:r>
            <a:r>
              <a:rPr kumimoji="0" lang="en-US" altLang="ja-JP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)</a:t>
            </a:r>
            <a:endParaRPr lang="ja-JP" altLang="en-US" sz="1200" b="1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F9D6B5D-AC18-4D05-8F3E-CB085A576B5F}"/>
              </a:ext>
            </a:extLst>
          </p:cNvPr>
          <p:cNvSpPr/>
          <p:nvPr/>
        </p:nvSpPr>
        <p:spPr>
          <a:xfrm>
            <a:off x="2308598" y="1733601"/>
            <a:ext cx="3375000" cy="30777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ja-JP" sz="120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DR(</a:t>
            </a:r>
            <a:r>
              <a:rPr lang="ja-JP" altLang="en-US" sz="120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デマンドレスポンス）の促進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B7DF8DBB-7198-4229-A7DE-417B3548892A}"/>
              </a:ext>
            </a:extLst>
          </p:cNvPr>
          <p:cNvSpPr/>
          <p:nvPr/>
        </p:nvSpPr>
        <p:spPr>
          <a:xfrm>
            <a:off x="2308598" y="4351051"/>
            <a:ext cx="3375000" cy="30777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kumimoji="0"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非化石価値取引改善（上下限価格見直し等）</a:t>
            </a:r>
            <a:endParaRPr lang="ja-JP" altLang="en-US" sz="1200" b="1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F87D004C-BF40-4498-8206-87AEE8434566}"/>
              </a:ext>
            </a:extLst>
          </p:cNvPr>
          <p:cNvSpPr/>
          <p:nvPr/>
        </p:nvSpPr>
        <p:spPr>
          <a:xfrm>
            <a:off x="2308598" y="4010388"/>
            <a:ext cx="3375000" cy="30777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中長期取引市場の導入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C7885301-1954-403A-A2C0-C5BF518F5F49}"/>
              </a:ext>
            </a:extLst>
          </p:cNvPr>
          <p:cNvSpPr/>
          <p:nvPr/>
        </p:nvSpPr>
        <p:spPr>
          <a:xfrm>
            <a:off x="2308598" y="3654216"/>
            <a:ext cx="3375000" cy="30777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同時市場（</a:t>
            </a:r>
            <a:r>
              <a:rPr lang="en-US" altLang="ja-JP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KW</a:t>
            </a:r>
            <a:r>
              <a:rPr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と</a:t>
            </a:r>
            <a:r>
              <a:rPr lang="en-US" altLang="ja-JP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ΔKW</a:t>
            </a:r>
            <a:r>
              <a:rPr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の一体取引）の導入</a:t>
            </a:r>
          </a:p>
        </p:txBody>
      </p: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80DF07B6-6AC2-478F-B874-6F4631696DB6}"/>
              </a:ext>
            </a:extLst>
          </p:cNvPr>
          <p:cNvCxnSpPr>
            <a:cxnSpLocks/>
            <a:stCxn id="9" idx="1"/>
            <a:endCxn id="6" idx="3"/>
          </p:cNvCxnSpPr>
          <p:nvPr/>
        </p:nvCxnSpPr>
        <p:spPr>
          <a:xfrm rot="10800000" flipV="1">
            <a:off x="1907474" y="750435"/>
            <a:ext cx="401125" cy="510731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A6392809-D732-48E2-836A-D349FC2300A0}"/>
              </a:ext>
            </a:extLst>
          </p:cNvPr>
          <p:cNvCxnSpPr>
            <a:cxnSpLocks/>
            <a:stCxn id="10" idx="1"/>
            <a:endCxn id="7" idx="3"/>
          </p:cNvCxnSpPr>
          <p:nvPr/>
        </p:nvCxnSpPr>
        <p:spPr>
          <a:xfrm rot="10800000" flipV="1">
            <a:off x="1907472" y="1533009"/>
            <a:ext cx="401126" cy="557047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3480194C-BDDA-4CE0-98B4-079F342FF4BC}"/>
              </a:ext>
            </a:extLst>
          </p:cNvPr>
          <p:cNvCxnSpPr>
            <a:cxnSpLocks/>
            <a:stCxn id="11" idx="1"/>
            <a:endCxn id="6" idx="3"/>
          </p:cNvCxnSpPr>
          <p:nvPr/>
        </p:nvCxnSpPr>
        <p:spPr>
          <a:xfrm rot="10800000" flipV="1">
            <a:off x="1907474" y="1114099"/>
            <a:ext cx="401125" cy="147068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5477619C-4067-4C49-A799-B72F892F3AE5}"/>
              </a:ext>
            </a:extLst>
          </p:cNvPr>
          <p:cNvCxnSpPr>
            <a:cxnSpLocks/>
            <a:stCxn id="12" idx="1"/>
            <a:endCxn id="7" idx="3"/>
          </p:cNvCxnSpPr>
          <p:nvPr/>
        </p:nvCxnSpPr>
        <p:spPr>
          <a:xfrm rot="10800000" flipV="1">
            <a:off x="1907472" y="1887489"/>
            <a:ext cx="401126" cy="20256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5D2ABDF2-09EF-4BA2-B054-92F4DE3F2024}"/>
              </a:ext>
            </a:extLst>
          </p:cNvPr>
          <p:cNvCxnSpPr>
            <a:cxnSpLocks/>
            <a:stCxn id="15" idx="1"/>
            <a:endCxn id="8" idx="3"/>
          </p:cNvCxnSpPr>
          <p:nvPr/>
        </p:nvCxnSpPr>
        <p:spPr>
          <a:xfrm rot="10800000">
            <a:off x="1907472" y="4340130"/>
            <a:ext cx="401126" cy="16481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EAD97B18-01F1-408A-896F-0D7600939245}"/>
              </a:ext>
            </a:extLst>
          </p:cNvPr>
          <p:cNvCxnSpPr>
            <a:cxnSpLocks/>
            <a:stCxn id="16" idx="1"/>
            <a:endCxn id="8" idx="3"/>
          </p:cNvCxnSpPr>
          <p:nvPr/>
        </p:nvCxnSpPr>
        <p:spPr>
          <a:xfrm rot="10800000" flipV="1">
            <a:off x="1907472" y="4164276"/>
            <a:ext cx="401126" cy="175854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コネクタ: カギ線 41">
            <a:extLst>
              <a:ext uri="{FF2B5EF4-FFF2-40B4-BE49-F238E27FC236}">
                <a16:creationId xmlns:a16="http://schemas.microsoft.com/office/drawing/2014/main" id="{55666C4A-B644-45EF-B56C-48F55E217A5E}"/>
              </a:ext>
            </a:extLst>
          </p:cNvPr>
          <p:cNvCxnSpPr>
            <a:cxnSpLocks/>
            <a:stCxn id="17" idx="1"/>
            <a:endCxn id="8" idx="3"/>
          </p:cNvCxnSpPr>
          <p:nvPr/>
        </p:nvCxnSpPr>
        <p:spPr>
          <a:xfrm rot="10800000" flipV="1">
            <a:off x="1907472" y="3808104"/>
            <a:ext cx="401126" cy="53202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コネクタ: カギ線 45">
            <a:extLst>
              <a:ext uri="{FF2B5EF4-FFF2-40B4-BE49-F238E27FC236}">
                <a16:creationId xmlns:a16="http://schemas.microsoft.com/office/drawing/2014/main" id="{FCA3C88B-BB11-48F7-B827-7C253E45D7E3}"/>
              </a:ext>
            </a:extLst>
          </p:cNvPr>
          <p:cNvCxnSpPr>
            <a:cxnSpLocks/>
            <a:stCxn id="6" idx="1"/>
            <a:endCxn id="5" idx="1"/>
          </p:cNvCxnSpPr>
          <p:nvPr/>
        </p:nvCxnSpPr>
        <p:spPr>
          <a:xfrm rot="10800000">
            <a:off x="415867" y="654346"/>
            <a:ext cx="195606" cy="606821"/>
          </a:xfrm>
          <a:prstGeom prst="bentConnector3">
            <a:avLst>
              <a:gd name="adj1" fmla="val 18765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DB4CBC45-9C86-4883-B42F-715162DAC3FC}"/>
              </a:ext>
            </a:extLst>
          </p:cNvPr>
          <p:cNvCxnSpPr>
            <a:cxnSpLocks/>
            <a:stCxn id="7" idx="1"/>
            <a:endCxn id="5" idx="1"/>
          </p:cNvCxnSpPr>
          <p:nvPr/>
        </p:nvCxnSpPr>
        <p:spPr>
          <a:xfrm rot="10800000">
            <a:off x="415868" y="654345"/>
            <a:ext cx="195605" cy="1435712"/>
          </a:xfrm>
          <a:prstGeom prst="bentConnector3">
            <a:avLst>
              <a:gd name="adj1" fmla="val 18765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3848B10E-509A-4A15-803C-CB5590D5D2A8}"/>
              </a:ext>
            </a:extLst>
          </p:cNvPr>
          <p:cNvCxnSpPr>
            <a:cxnSpLocks/>
            <a:stCxn id="8" idx="1"/>
            <a:endCxn id="5" idx="1"/>
          </p:cNvCxnSpPr>
          <p:nvPr/>
        </p:nvCxnSpPr>
        <p:spPr>
          <a:xfrm rot="10800000">
            <a:off x="415868" y="654345"/>
            <a:ext cx="195605" cy="3685785"/>
          </a:xfrm>
          <a:prstGeom prst="bentConnector3">
            <a:avLst>
              <a:gd name="adj1" fmla="val 18765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DBA41A10-943C-42EB-9D61-045BEA5B1B29}"/>
              </a:ext>
            </a:extLst>
          </p:cNvPr>
          <p:cNvSpPr/>
          <p:nvPr/>
        </p:nvSpPr>
        <p:spPr>
          <a:xfrm>
            <a:off x="2308598" y="2104072"/>
            <a:ext cx="3375000" cy="30777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アグリゲーション・需給調整市場への参加</a:t>
            </a:r>
          </a:p>
        </p:txBody>
      </p:sp>
      <p:cxnSp>
        <p:nvCxnSpPr>
          <p:cNvPr id="32" name="コネクタ: カギ線 31">
            <a:extLst>
              <a:ext uri="{FF2B5EF4-FFF2-40B4-BE49-F238E27FC236}">
                <a16:creationId xmlns:a16="http://schemas.microsoft.com/office/drawing/2014/main" id="{54EFCFE7-2E20-428E-A55C-F1A5D08AD0D3}"/>
              </a:ext>
            </a:extLst>
          </p:cNvPr>
          <p:cNvCxnSpPr>
            <a:cxnSpLocks/>
            <a:stCxn id="31" idx="1"/>
            <a:endCxn id="7" idx="3"/>
          </p:cNvCxnSpPr>
          <p:nvPr/>
        </p:nvCxnSpPr>
        <p:spPr>
          <a:xfrm rot="10800000">
            <a:off x="1907472" y="2090057"/>
            <a:ext cx="401126" cy="167904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四角形: 角を丸くする 77">
            <a:extLst>
              <a:ext uri="{FF2B5EF4-FFF2-40B4-BE49-F238E27FC236}">
                <a16:creationId xmlns:a16="http://schemas.microsoft.com/office/drawing/2014/main" id="{970BED5C-A8A7-465D-900E-E2D0189F4764}"/>
              </a:ext>
            </a:extLst>
          </p:cNvPr>
          <p:cNvSpPr/>
          <p:nvPr/>
        </p:nvSpPr>
        <p:spPr>
          <a:xfrm>
            <a:off x="2308598" y="2463192"/>
            <a:ext cx="3375000" cy="30777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火力の脱炭素化の促進</a:t>
            </a:r>
            <a:r>
              <a:rPr lang="en-US" altLang="ja-JP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/</a:t>
            </a:r>
            <a:r>
              <a:rPr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管理された廃止</a:t>
            </a:r>
          </a:p>
        </p:txBody>
      </p:sp>
      <p:cxnSp>
        <p:nvCxnSpPr>
          <p:cNvPr id="82" name="コネクタ: カギ線 81">
            <a:extLst>
              <a:ext uri="{FF2B5EF4-FFF2-40B4-BE49-F238E27FC236}">
                <a16:creationId xmlns:a16="http://schemas.microsoft.com/office/drawing/2014/main" id="{5BD6230D-4EA9-45E6-9D5F-1BEA350C2C23}"/>
              </a:ext>
            </a:extLst>
          </p:cNvPr>
          <p:cNvCxnSpPr>
            <a:cxnSpLocks/>
            <a:stCxn id="78" idx="1"/>
            <a:endCxn id="7" idx="3"/>
          </p:cNvCxnSpPr>
          <p:nvPr/>
        </p:nvCxnSpPr>
        <p:spPr>
          <a:xfrm rot="10800000">
            <a:off x="1907472" y="2090058"/>
            <a:ext cx="401126" cy="527024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四角形: 角を丸くする 95">
            <a:extLst>
              <a:ext uri="{FF2B5EF4-FFF2-40B4-BE49-F238E27FC236}">
                <a16:creationId xmlns:a16="http://schemas.microsoft.com/office/drawing/2014/main" id="{5D96CF09-DF16-43C5-936A-B74A44B00272}"/>
              </a:ext>
            </a:extLst>
          </p:cNvPr>
          <p:cNvSpPr/>
          <p:nvPr/>
        </p:nvSpPr>
        <p:spPr>
          <a:xfrm>
            <a:off x="2308598" y="4705531"/>
            <a:ext cx="3375000" cy="30777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適切なカーボンプライシングの価格への反映</a:t>
            </a:r>
          </a:p>
        </p:txBody>
      </p:sp>
      <p:cxnSp>
        <p:nvCxnSpPr>
          <p:cNvPr id="97" name="コネクタ: カギ線 96">
            <a:extLst>
              <a:ext uri="{FF2B5EF4-FFF2-40B4-BE49-F238E27FC236}">
                <a16:creationId xmlns:a16="http://schemas.microsoft.com/office/drawing/2014/main" id="{EA08686B-A1FE-47F6-B882-494DF2E08BCD}"/>
              </a:ext>
            </a:extLst>
          </p:cNvPr>
          <p:cNvCxnSpPr>
            <a:cxnSpLocks/>
            <a:stCxn id="96" idx="1"/>
            <a:endCxn id="8" idx="3"/>
          </p:cNvCxnSpPr>
          <p:nvPr/>
        </p:nvCxnSpPr>
        <p:spPr>
          <a:xfrm rot="10800000">
            <a:off x="1907472" y="4340130"/>
            <a:ext cx="401126" cy="51929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四角形: 角を丸くする 105">
            <a:extLst>
              <a:ext uri="{FF2B5EF4-FFF2-40B4-BE49-F238E27FC236}">
                <a16:creationId xmlns:a16="http://schemas.microsoft.com/office/drawing/2014/main" id="{E9E427BB-945E-48A4-8462-DBCA1DA55A2A}"/>
              </a:ext>
            </a:extLst>
          </p:cNvPr>
          <p:cNvSpPr/>
          <p:nvPr/>
        </p:nvSpPr>
        <p:spPr>
          <a:xfrm>
            <a:off x="611473" y="2908063"/>
            <a:ext cx="1296000" cy="648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余剰電力の活用</a:t>
            </a:r>
          </a:p>
        </p:txBody>
      </p:sp>
      <p:cxnSp>
        <p:nvCxnSpPr>
          <p:cNvPr id="107" name="コネクタ: カギ線 106">
            <a:extLst>
              <a:ext uri="{FF2B5EF4-FFF2-40B4-BE49-F238E27FC236}">
                <a16:creationId xmlns:a16="http://schemas.microsoft.com/office/drawing/2014/main" id="{E4FC414E-8435-46F0-844E-E16464F83FE0}"/>
              </a:ext>
            </a:extLst>
          </p:cNvPr>
          <p:cNvCxnSpPr>
            <a:cxnSpLocks/>
            <a:stCxn id="106" idx="1"/>
            <a:endCxn id="5" idx="1"/>
          </p:cNvCxnSpPr>
          <p:nvPr/>
        </p:nvCxnSpPr>
        <p:spPr>
          <a:xfrm rot="10800000">
            <a:off x="415867" y="654346"/>
            <a:ext cx="195606" cy="2577718"/>
          </a:xfrm>
          <a:prstGeom prst="bentConnector3">
            <a:avLst>
              <a:gd name="adj1" fmla="val 18765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四角形: 角を丸くする 110">
            <a:extLst>
              <a:ext uri="{FF2B5EF4-FFF2-40B4-BE49-F238E27FC236}">
                <a16:creationId xmlns:a16="http://schemas.microsoft.com/office/drawing/2014/main" id="{02460C35-B515-4BFA-B6E8-0DADF79C3741}"/>
              </a:ext>
            </a:extLst>
          </p:cNvPr>
          <p:cNvSpPr/>
          <p:nvPr/>
        </p:nvSpPr>
        <p:spPr>
          <a:xfrm>
            <a:off x="2308598" y="2900556"/>
            <a:ext cx="3375000" cy="30777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kumimoji="0" lang="ja-JP" altLang="en-US" sz="120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地域</a:t>
            </a:r>
            <a:r>
              <a:rPr kumimoji="0" lang="en-US" altLang="ja-JP" sz="120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/</a:t>
            </a:r>
            <a:r>
              <a:rPr kumimoji="0" lang="ja-JP" altLang="en-US" sz="120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サプライチェーン内の電力融通</a:t>
            </a:r>
            <a:r>
              <a:rPr kumimoji="0" lang="en-US" altLang="ja-JP" sz="120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/</a:t>
            </a:r>
            <a:r>
              <a:rPr kumimoji="0" lang="ja-JP" altLang="en-US" sz="120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最適化</a:t>
            </a:r>
            <a:endParaRPr lang="ja-JP" altLang="en-US" sz="1200" b="1" kern="0" dirty="0">
              <a:solidFill>
                <a:srgbClr val="FF0000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cxnSp>
        <p:nvCxnSpPr>
          <p:cNvPr id="112" name="コネクタ: カギ線 111">
            <a:extLst>
              <a:ext uri="{FF2B5EF4-FFF2-40B4-BE49-F238E27FC236}">
                <a16:creationId xmlns:a16="http://schemas.microsoft.com/office/drawing/2014/main" id="{C0BFCBD9-8419-458E-820A-0ADD824FA80C}"/>
              </a:ext>
            </a:extLst>
          </p:cNvPr>
          <p:cNvCxnSpPr>
            <a:cxnSpLocks/>
            <a:stCxn id="111" idx="1"/>
            <a:endCxn id="106" idx="3"/>
          </p:cNvCxnSpPr>
          <p:nvPr/>
        </p:nvCxnSpPr>
        <p:spPr>
          <a:xfrm rot="10800000" flipV="1">
            <a:off x="1907474" y="3054445"/>
            <a:ext cx="401125" cy="17761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四角形: 角を丸くする 124">
            <a:extLst>
              <a:ext uri="{FF2B5EF4-FFF2-40B4-BE49-F238E27FC236}">
                <a16:creationId xmlns:a16="http://schemas.microsoft.com/office/drawing/2014/main" id="{65B4C53B-CB81-4013-9FB2-B3DE813A436B}"/>
              </a:ext>
            </a:extLst>
          </p:cNvPr>
          <p:cNvSpPr/>
          <p:nvPr/>
        </p:nvSpPr>
        <p:spPr>
          <a:xfrm>
            <a:off x="2308598" y="3271485"/>
            <a:ext cx="3375000" cy="30777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kumimoji="0" lang="ja-JP" altLang="en-US" sz="120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セクターカップリング（</a:t>
            </a:r>
            <a:r>
              <a:rPr kumimoji="0" lang="en-US" altLang="ja-JP" sz="120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P2X/V2G</a:t>
            </a:r>
            <a:r>
              <a:rPr kumimoji="0" lang="ja-JP" altLang="en-US" sz="120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）</a:t>
            </a:r>
            <a:endParaRPr lang="ja-JP" altLang="en-US" sz="1200" b="1" kern="0" dirty="0">
              <a:solidFill>
                <a:srgbClr val="FF0000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cxnSp>
        <p:nvCxnSpPr>
          <p:cNvPr id="128" name="コネクタ: カギ線 127">
            <a:extLst>
              <a:ext uri="{FF2B5EF4-FFF2-40B4-BE49-F238E27FC236}">
                <a16:creationId xmlns:a16="http://schemas.microsoft.com/office/drawing/2014/main" id="{A75BFF28-5A27-41E7-A982-805528CE8978}"/>
              </a:ext>
            </a:extLst>
          </p:cNvPr>
          <p:cNvCxnSpPr>
            <a:cxnSpLocks/>
            <a:stCxn id="125" idx="1"/>
            <a:endCxn id="106" idx="3"/>
          </p:cNvCxnSpPr>
          <p:nvPr/>
        </p:nvCxnSpPr>
        <p:spPr>
          <a:xfrm rot="10800000">
            <a:off x="1907474" y="3232063"/>
            <a:ext cx="401125" cy="19331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FD87C567-3765-4AA3-A81C-45D9CC352ECA}"/>
              </a:ext>
            </a:extLst>
          </p:cNvPr>
          <p:cNvSpPr txBox="1"/>
          <p:nvPr/>
        </p:nvSpPr>
        <p:spPr>
          <a:xfrm>
            <a:off x="5743410" y="551213"/>
            <a:ext cx="31448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 defTabSz="685800"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再エネ適地と需要地が離れており、送電容量不足が導入のボトルネックに</a:t>
            </a:r>
            <a:endParaRPr lang="en-US" altLang="ja-JP" sz="1200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214313" indent="-214313" defTabSz="685800"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系統混雑による出力制御（発電停止）が頻発し、事業採算性を悪化させている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D6D0069-F3B1-40F4-AA86-F901CFE46DE1}"/>
              </a:ext>
            </a:extLst>
          </p:cNvPr>
          <p:cNvSpPr txBox="1"/>
          <p:nvPr/>
        </p:nvSpPr>
        <p:spPr>
          <a:xfrm>
            <a:off x="5743410" y="1407287"/>
            <a:ext cx="30032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 defTabSz="685800"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発電量が変動する再エネの導入拡大に対応し、需給バランスを維持できる</a:t>
            </a:r>
            <a:endParaRPr lang="en-US" altLang="ja-JP" sz="1200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214313" indent="-214313" defTabSz="685800"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出力制御を回避し、無駄なく電力を活用する必要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9E5D175A-DA41-48DB-90D5-F46053CA246E}"/>
              </a:ext>
            </a:extLst>
          </p:cNvPr>
          <p:cNvSpPr txBox="1"/>
          <p:nvPr/>
        </p:nvSpPr>
        <p:spPr>
          <a:xfrm>
            <a:off x="5743409" y="2832429"/>
            <a:ext cx="3271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 defTabSz="685800"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出力制御により捨てられている再エネ電力を有効活用し、脱炭素化の効率を高める</a:t>
            </a:r>
            <a:endParaRPr lang="en-US" altLang="ja-JP" sz="1200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214313" indent="-214313" defTabSz="685800"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再エネの出力抑制量を減らし、発電事業者の収益性を改善する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C6703C04-D487-4F64-A083-F94E00540633}"/>
              </a:ext>
            </a:extLst>
          </p:cNvPr>
          <p:cNvSpPr txBox="1"/>
          <p:nvPr/>
        </p:nvSpPr>
        <p:spPr>
          <a:xfrm>
            <a:off x="5743409" y="3654253"/>
            <a:ext cx="31548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 defTabSz="685800"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市場が分断されており、電力と調整力の取り合いなど非効率な運用が生じている</a:t>
            </a:r>
            <a:endParaRPr lang="en-US" altLang="ja-JP" sz="1200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214313" indent="-214313" defTabSz="685800"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再エネの環境価値が市場で十分に評価されておらず、投資回収の予見性が低い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CB2C2629-9CAB-45E8-9996-C9E4FF7AC99C}"/>
              </a:ext>
            </a:extLst>
          </p:cNvPr>
          <p:cNvSpPr txBox="1"/>
          <p:nvPr/>
        </p:nvSpPr>
        <p:spPr>
          <a:xfrm>
            <a:off x="6624617" y="364438"/>
            <a:ext cx="15002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buClr>
                <a:srgbClr val="000000"/>
              </a:buClr>
              <a:defRPr/>
            </a:pPr>
            <a:r>
              <a:rPr lang="ja-JP" altLang="en-US" sz="135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背景</a:t>
            </a:r>
          </a:p>
        </p:txBody>
      </p:sp>
      <p:sp>
        <p:nvSpPr>
          <p:cNvPr id="3" name="テキスト ボックス 1">
            <a:extLst>
              <a:ext uri="{FF2B5EF4-FFF2-40B4-BE49-F238E27FC236}">
                <a16:creationId xmlns:a16="http://schemas.microsoft.com/office/drawing/2014/main" id="{38ACD21E-8AF3-8483-BF52-4E47B2098488}"/>
              </a:ext>
            </a:extLst>
          </p:cNvPr>
          <p:cNvSpPr txBox="1"/>
          <p:nvPr/>
        </p:nvSpPr>
        <p:spPr>
          <a:xfrm>
            <a:off x="295699" y="84734"/>
            <a:ext cx="449353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buClr>
                <a:srgbClr val="000000"/>
              </a:buClr>
              <a:defRPr/>
            </a:pPr>
            <a:r>
              <a:rPr lang="ja-JP" altLang="en-US" sz="2100" b="1" kern="0" dirty="0">
                <a:solidFill>
                  <a:srgbClr val="245D6D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再エネ拡大のための主要課題と対策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A7FF91-3E4D-3FC9-BC71-4F1B85911B1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85460" y="4767263"/>
            <a:ext cx="2057400" cy="273844"/>
          </a:xfrm>
        </p:spPr>
        <p:txBody>
          <a:bodyPr/>
          <a:lstStyle/>
          <a:p>
            <a:pPr defTabSz="685800">
              <a:defRPr/>
            </a:pPr>
            <a:fld id="{00000000-1234-1234-1234-123412341234}" type="slidenum">
              <a:rPr kumimoji="0" lang="en-US" altLang="ja-JP" kern="0"/>
              <a:pPr defTabSz="685800">
                <a:defRPr/>
              </a:pPr>
              <a:t>5</a:t>
            </a:fld>
            <a:endParaRPr kumimoji="0" lang="ja-JP" altLang="en-US" kern="0"/>
          </a:p>
        </p:txBody>
      </p:sp>
    </p:spTree>
    <p:extLst>
      <p:ext uri="{BB962C8B-B14F-4D97-AF65-F5344CB8AC3E}">
        <p14:creationId xmlns:p14="http://schemas.microsoft.com/office/powerpoint/2010/main" val="2182125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C50918D-9599-41B6-BF25-7CE53F3DEB8C}"/>
              </a:ext>
            </a:extLst>
          </p:cNvPr>
          <p:cNvSpPr/>
          <p:nvPr/>
        </p:nvSpPr>
        <p:spPr>
          <a:xfrm>
            <a:off x="431297" y="528460"/>
            <a:ext cx="1755000" cy="27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③社会受容性の向上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CF72221E-36B8-4BC4-8FEF-57254EE8E0A4}"/>
              </a:ext>
            </a:extLst>
          </p:cNvPr>
          <p:cNvSpPr/>
          <p:nvPr/>
        </p:nvSpPr>
        <p:spPr>
          <a:xfrm>
            <a:off x="565382" y="999185"/>
            <a:ext cx="1296000" cy="648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不適切事例　　への対策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8CD3B974-C052-4F51-ADA7-D1880CC2DC36}"/>
              </a:ext>
            </a:extLst>
          </p:cNvPr>
          <p:cNvSpPr/>
          <p:nvPr/>
        </p:nvSpPr>
        <p:spPr>
          <a:xfrm>
            <a:off x="565382" y="2074865"/>
            <a:ext cx="1296000" cy="648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適切事例の　　普及支援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102DE81D-85B7-47C7-879D-DD5DD4299770}"/>
              </a:ext>
            </a:extLst>
          </p:cNvPr>
          <p:cNvSpPr/>
          <p:nvPr/>
        </p:nvSpPr>
        <p:spPr>
          <a:xfrm>
            <a:off x="2305272" y="744299"/>
            <a:ext cx="3456000" cy="307777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法令遵守と事前周知の徹底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E5B2D1E-20F0-41EA-82CF-FDED9129CE7F}"/>
              </a:ext>
            </a:extLst>
          </p:cNvPr>
          <p:cNvSpPr/>
          <p:nvPr/>
        </p:nvSpPr>
        <p:spPr>
          <a:xfrm>
            <a:off x="2305273" y="1175751"/>
            <a:ext cx="3456000" cy="307777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kumimoji="0"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不適切案件への厳格な措置 </a:t>
            </a:r>
            <a:r>
              <a:rPr kumimoji="0" lang="en-US" altLang="ja-JP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(</a:t>
            </a:r>
            <a:r>
              <a:rPr kumimoji="0"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現調</a:t>
            </a:r>
            <a:r>
              <a:rPr kumimoji="0" lang="en-US" altLang="ja-JP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/</a:t>
            </a:r>
            <a:r>
              <a:rPr kumimoji="0"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交付金停止</a:t>
            </a:r>
            <a:r>
              <a:rPr kumimoji="0" lang="en-US" altLang="ja-JP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)</a:t>
            </a:r>
            <a:endParaRPr lang="ja-JP" altLang="en-US" sz="1200" b="1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14E6BAA8-88EE-4951-B404-C98D7377004C}"/>
              </a:ext>
            </a:extLst>
          </p:cNvPr>
          <p:cNvSpPr/>
          <p:nvPr/>
        </p:nvSpPr>
        <p:spPr>
          <a:xfrm>
            <a:off x="2305273" y="1607203"/>
            <a:ext cx="3456000" cy="307777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kumimoji="0"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非</a:t>
            </a:r>
            <a:r>
              <a:rPr kumimoji="0" lang="en-US" altLang="ja-JP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FIT/</a:t>
            </a:r>
            <a:r>
              <a:rPr kumimoji="0"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非</a:t>
            </a:r>
            <a:r>
              <a:rPr kumimoji="0" lang="en-US" altLang="ja-JP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FIP</a:t>
            </a:r>
            <a:r>
              <a:rPr kumimoji="0"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事業を含む監視体制の構築</a:t>
            </a:r>
            <a:endParaRPr lang="ja-JP" altLang="en-US" sz="1200" b="1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F9D6B5D-AC18-4D05-8F3E-CB085A576B5F}"/>
              </a:ext>
            </a:extLst>
          </p:cNvPr>
          <p:cNvSpPr/>
          <p:nvPr/>
        </p:nvSpPr>
        <p:spPr>
          <a:xfrm>
            <a:off x="2305272" y="2038655"/>
            <a:ext cx="3456000" cy="307777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地域共生モデルの類型化・導入支援</a:t>
            </a:r>
          </a:p>
        </p:txBody>
      </p: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80DF07B6-6AC2-478F-B874-6F4631696DB6}"/>
              </a:ext>
            </a:extLst>
          </p:cNvPr>
          <p:cNvCxnSpPr>
            <a:cxnSpLocks/>
            <a:stCxn id="9" idx="1"/>
            <a:endCxn id="6" idx="3"/>
          </p:cNvCxnSpPr>
          <p:nvPr/>
        </p:nvCxnSpPr>
        <p:spPr>
          <a:xfrm rot="10800000" flipV="1">
            <a:off x="1861383" y="898187"/>
            <a:ext cx="443890" cy="424997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A6392809-D732-48E2-836A-D349FC2300A0}"/>
              </a:ext>
            </a:extLst>
          </p:cNvPr>
          <p:cNvCxnSpPr>
            <a:cxnSpLocks/>
            <a:stCxn id="10" idx="1"/>
            <a:endCxn id="6" idx="3"/>
          </p:cNvCxnSpPr>
          <p:nvPr/>
        </p:nvCxnSpPr>
        <p:spPr>
          <a:xfrm rot="10800000">
            <a:off x="1861382" y="1323184"/>
            <a:ext cx="443891" cy="6455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3480194C-BDDA-4CE0-98B4-079F342FF4BC}"/>
              </a:ext>
            </a:extLst>
          </p:cNvPr>
          <p:cNvCxnSpPr>
            <a:cxnSpLocks/>
            <a:stCxn id="11" idx="1"/>
            <a:endCxn id="6" idx="3"/>
          </p:cNvCxnSpPr>
          <p:nvPr/>
        </p:nvCxnSpPr>
        <p:spPr>
          <a:xfrm rot="10800000">
            <a:off x="1861382" y="1323185"/>
            <a:ext cx="443891" cy="437907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5477619C-4067-4C49-A799-B72F892F3AE5}"/>
              </a:ext>
            </a:extLst>
          </p:cNvPr>
          <p:cNvCxnSpPr>
            <a:cxnSpLocks/>
            <a:stCxn id="12" idx="1"/>
            <a:endCxn id="7" idx="3"/>
          </p:cNvCxnSpPr>
          <p:nvPr/>
        </p:nvCxnSpPr>
        <p:spPr>
          <a:xfrm rot="10800000" flipV="1">
            <a:off x="1861383" y="2192543"/>
            <a:ext cx="443890" cy="20632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コネクタ: カギ線 45">
            <a:extLst>
              <a:ext uri="{FF2B5EF4-FFF2-40B4-BE49-F238E27FC236}">
                <a16:creationId xmlns:a16="http://schemas.microsoft.com/office/drawing/2014/main" id="{FCA3C88B-BB11-48F7-B827-7C253E45D7E3}"/>
              </a:ext>
            </a:extLst>
          </p:cNvPr>
          <p:cNvCxnSpPr>
            <a:cxnSpLocks/>
            <a:stCxn id="6" idx="1"/>
            <a:endCxn id="5" idx="1"/>
          </p:cNvCxnSpPr>
          <p:nvPr/>
        </p:nvCxnSpPr>
        <p:spPr>
          <a:xfrm rot="10800000">
            <a:off x="431298" y="663461"/>
            <a:ext cx="134086" cy="659725"/>
          </a:xfrm>
          <a:prstGeom prst="bentConnector3">
            <a:avLst>
              <a:gd name="adj1" fmla="val 227866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DB4CBC45-9C86-4883-B42F-715162DAC3FC}"/>
              </a:ext>
            </a:extLst>
          </p:cNvPr>
          <p:cNvCxnSpPr>
            <a:cxnSpLocks/>
            <a:stCxn id="7" idx="1"/>
            <a:endCxn id="5" idx="1"/>
          </p:cNvCxnSpPr>
          <p:nvPr/>
        </p:nvCxnSpPr>
        <p:spPr>
          <a:xfrm rot="10800000">
            <a:off x="431298" y="663460"/>
            <a:ext cx="134086" cy="1735406"/>
          </a:xfrm>
          <a:prstGeom prst="bentConnector3">
            <a:avLst>
              <a:gd name="adj1" fmla="val 227866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32B0E73A-E1A1-40DB-825A-A86169E00FE4}"/>
              </a:ext>
            </a:extLst>
          </p:cNvPr>
          <p:cNvSpPr/>
          <p:nvPr/>
        </p:nvSpPr>
        <p:spPr>
          <a:xfrm>
            <a:off x="457674" y="2946692"/>
            <a:ext cx="1863000" cy="270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kumimoji="0"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④廃棄・リサイクル対策</a:t>
            </a:r>
            <a:endParaRPr lang="ja-JP" altLang="en-US" sz="1200" b="1" kern="0" dirty="0">
              <a:solidFill>
                <a:srgbClr val="FFFFFF"/>
              </a:solidFill>
              <a:latin typeface="Noto Sans JP" panose="020B0200000000000000" pitchFamily="34" charset="-128"/>
              <a:ea typeface="Noto Sans JP" panose="020B0200000000000000" pitchFamily="34" charset="-128"/>
              <a:sym typeface="Arial"/>
            </a:endParaRP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6B4D2755-A898-42EE-9E76-4EB812FF93FB}"/>
              </a:ext>
            </a:extLst>
          </p:cNvPr>
          <p:cNvSpPr/>
          <p:nvPr/>
        </p:nvSpPr>
        <p:spPr>
          <a:xfrm>
            <a:off x="552198" y="3362935"/>
            <a:ext cx="1296000" cy="648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費用積立の　　義務化</a:t>
            </a: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F8D01C10-86EA-4780-9737-153655713AC5}"/>
              </a:ext>
            </a:extLst>
          </p:cNvPr>
          <p:cNvSpPr/>
          <p:nvPr/>
        </p:nvSpPr>
        <p:spPr>
          <a:xfrm>
            <a:off x="552197" y="4189764"/>
            <a:ext cx="1296000" cy="648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FFFFFF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リサイクルの   推進</a:t>
            </a: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355163C8-E250-4592-9EF4-F8166FE309CD}"/>
              </a:ext>
            </a:extLst>
          </p:cNvPr>
          <p:cNvSpPr/>
          <p:nvPr/>
        </p:nvSpPr>
        <p:spPr>
          <a:xfrm>
            <a:off x="2292088" y="3296311"/>
            <a:ext cx="3456000" cy="30777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太陽光パネル外部積立制度の原則義務化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A008C495-F23A-4944-AA2D-E7D4C8C1B444}"/>
              </a:ext>
            </a:extLst>
          </p:cNvPr>
          <p:cNvSpPr/>
          <p:nvPr/>
        </p:nvSpPr>
        <p:spPr>
          <a:xfrm>
            <a:off x="2292089" y="3700641"/>
            <a:ext cx="3456000" cy="30777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風力発電設備の積立制度拡大</a:t>
            </a: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AC8550A4-F364-4BD9-8C52-4D67187770E4}"/>
              </a:ext>
            </a:extLst>
          </p:cNvPr>
          <p:cNvSpPr/>
          <p:nvPr/>
        </p:nvSpPr>
        <p:spPr>
          <a:xfrm>
            <a:off x="2292088" y="4104972"/>
            <a:ext cx="3456000" cy="30777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リサイクル技術開発支援と設備補助</a:t>
            </a: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8AF561F7-07D4-47AD-AC2A-5945D4675BD3}"/>
              </a:ext>
            </a:extLst>
          </p:cNvPr>
          <p:cNvSpPr/>
          <p:nvPr/>
        </p:nvSpPr>
        <p:spPr>
          <a:xfrm>
            <a:off x="2292089" y="4509301"/>
            <a:ext cx="3456000" cy="30777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リサイクル義務化法の早期成立</a:t>
            </a:r>
          </a:p>
        </p:txBody>
      </p:sp>
      <p:cxnSp>
        <p:nvCxnSpPr>
          <p:cNvPr id="44" name="コネクタ: カギ線 43">
            <a:extLst>
              <a:ext uri="{FF2B5EF4-FFF2-40B4-BE49-F238E27FC236}">
                <a16:creationId xmlns:a16="http://schemas.microsoft.com/office/drawing/2014/main" id="{753E9323-2E6F-4B1E-93BC-E69564B0D5C0}"/>
              </a:ext>
            </a:extLst>
          </p:cNvPr>
          <p:cNvCxnSpPr>
            <a:cxnSpLocks/>
            <a:stCxn id="37" idx="1"/>
            <a:endCxn id="34" idx="3"/>
          </p:cNvCxnSpPr>
          <p:nvPr/>
        </p:nvCxnSpPr>
        <p:spPr>
          <a:xfrm rot="10800000" flipV="1">
            <a:off x="1848199" y="3450199"/>
            <a:ext cx="443890" cy="236735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2FAB1C5A-709A-419B-A652-CE9B54BBA497}"/>
              </a:ext>
            </a:extLst>
          </p:cNvPr>
          <p:cNvCxnSpPr>
            <a:cxnSpLocks/>
            <a:stCxn id="38" idx="1"/>
            <a:endCxn id="34" idx="3"/>
          </p:cNvCxnSpPr>
          <p:nvPr/>
        </p:nvCxnSpPr>
        <p:spPr>
          <a:xfrm rot="10800000">
            <a:off x="1848198" y="3686935"/>
            <a:ext cx="443891" cy="167595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コネクタ: カギ線 47">
            <a:extLst>
              <a:ext uri="{FF2B5EF4-FFF2-40B4-BE49-F238E27FC236}">
                <a16:creationId xmlns:a16="http://schemas.microsoft.com/office/drawing/2014/main" id="{FD938DB4-2238-4285-AE21-8844697075DF}"/>
              </a:ext>
            </a:extLst>
          </p:cNvPr>
          <p:cNvCxnSpPr>
            <a:cxnSpLocks/>
            <a:stCxn id="41" idx="1"/>
            <a:endCxn id="35" idx="3"/>
          </p:cNvCxnSpPr>
          <p:nvPr/>
        </p:nvCxnSpPr>
        <p:spPr>
          <a:xfrm rot="10800000" flipV="1">
            <a:off x="1848197" y="4258860"/>
            <a:ext cx="443891" cy="254904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コネクタ: カギ線 49">
            <a:extLst>
              <a:ext uri="{FF2B5EF4-FFF2-40B4-BE49-F238E27FC236}">
                <a16:creationId xmlns:a16="http://schemas.microsoft.com/office/drawing/2014/main" id="{A58796A1-5A38-4BE4-99DC-E40E04785B69}"/>
              </a:ext>
            </a:extLst>
          </p:cNvPr>
          <p:cNvCxnSpPr>
            <a:cxnSpLocks/>
            <a:stCxn id="43" idx="1"/>
            <a:endCxn id="35" idx="3"/>
          </p:cNvCxnSpPr>
          <p:nvPr/>
        </p:nvCxnSpPr>
        <p:spPr>
          <a:xfrm rot="10800000">
            <a:off x="1848199" y="4513764"/>
            <a:ext cx="443891" cy="14942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コネクタ: カギ線 50">
            <a:extLst>
              <a:ext uri="{FF2B5EF4-FFF2-40B4-BE49-F238E27FC236}">
                <a16:creationId xmlns:a16="http://schemas.microsoft.com/office/drawing/2014/main" id="{14226049-6778-450E-B7C3-0CE8B4233DD7}"/>
              </a:ext>
            </a:extLst>
          </p:cNvPr>
          <p:cNvCxnSpPr>
            <a:cxnSpLocks/>
            <a:stCxn id="34" idx="1"/>
            <a:endCxn id="32" idx="1"/>
          </p:cNvCxnSpPr>
          <p:nvPr/>
        </p:nvCxnSpPr>
        <p:spPr>
          <a:xfrm rot="10800000">
            <a:off x="457674" y="3081692"/>
            <a:ext cx="94524" cy="605243"/>
          </a:xfrm>
          <a:prstGeom prst="bentConnector3">
            <a:avLst>
              <a:gd name="adj1" fmla="val 28138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A48DD1B3-3EEC-4A2B-A287-33AC08BE32CB}"/>
              </a:ext>
            </a:extLst>
          </p:cNvPr>
          <p:cNvCxnSpPr>
            <a:cxnSpLocks/>
            <a:stCxn id="35" idx="1"/>
            <a:endCxn id="32" idx="1"/>
          </p:cNvCxnSpPr>
          <p:nvPr/>
        </p:nvCxnSpPr>
        <p:spPr>
          <a:xfrm rot="10800000">
            <a:off x="457675" y="3081693"/>
            <a:ext cx="94523" cy="1432072"/>
          </a:xfrm>
          <a:prstGeom prst="bentConnector3">
            <a:avLst>
              <a:gd name="adj1" fmla="val 28138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コネクタ: カギ線 46">
            <a:extLst>
              <a:ext uri="{FF2B5EF4-FFF2-40B4-BE49-F238E27FC236}">
                <a16:creationId xmlns:a16="http://schemas.microsoft.com/office/drawing/2014/main" id="{F65F3084-F96A-4911-BAEE-49CDFC78B4EF}"/>
              </a:ext>
            </a:extLst>
          </p:cNvPr>
          <p:cNvCxnSpPr>
            <a:cxnSpLocks/>
            <a:stCxn id="52" idx="1"/>
            <a:endCxn id="7" idx="3"/>
          </p:cNvCxnSpPr>
          <p:nvPr/>
        </p:nvCxnSpPr>
        <p:spPr>
          <a:xfrm rot="10800000">
            <a:off x="1861383" y="2398867"/>
            <a:ext cx="443890" cy="22512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438982B3-53BB-456F-8CD9-DD372064838A}"/>
              </a:ext>
            </a:extLst>
          </p:cNvPr>
          <p:cNvSpPr/>
          <p:nvPr/>
        </p:nvSpPr>
        <p:spPr>
          <a:xfrm>
            <a:off x="2305272" y="2470105"/>
            <a:ext cx="3456000" cy="307777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 defTabSz="6858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sz="1200" b="1" kern="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sym typeface="Arial"/>
              </a:rPr>
              <a:t>再エネの（社会的）便益の可視化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86C8F1F-5AED-4E0E-AC69-418EB81B21A1}"/>
              </a:ext>
            </a:extLst>
          </p:cNvPr>
          <p:cNvSpPr txBox="1"/>
          <p:nvPr/>
        </p:nvSpPr>
        <p:spPr>
          <a:xfrm>
            <a:off x="5814934" y="727842"/>
            <a:ext cx="30032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 defTabSz="685800"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土砂流出や景観悪化などのトラブルが、再エネ全体への社会受容性（信頼）を低下させている</a:t>
            </a:r>
            <a:endParaRPr lang="en-US" altLang="ja-JP" sz="1200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214313" indent="-214313" defTabSz="685800"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安全や法令遵守が確保されない限り、持続的な導入拡大が困難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A8A4E4A-BE38-4AC9-BE3D-36818FAE1F70}"/>
              </a:ext>
            </a:extLst>
          </p:cNvPr>
          <p:cNvSpPr txBox="1"/>
          <p:nvPr/>
        </p:nvSpPr>
        <p:spPr>
          <a:xfrm>
            <a:off x="5814934" y="2015141"/>
            <a:ext cx="31004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 defTabSz="685800"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再エネが「迷惑施設」ではなく、地域に利益をもたらす存在と認識される必要</a:t>
            </a:r>
            <a:endParaRPr lang="en-US" altLang="ja-JP" sz="1200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214313" indent="-214313" defTabSz="685800"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優良な事業者が参入しやすい環境を作る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6F0B48DC-A898-4426-A0D1-EBACE5605B4C}"/>
              </a:ext>
            </a:extLst>
          </p:cNvPr>
          <p:cNvSpPr txBox="1"/>
          <p:nvPr/>
        </p:nvSpPr>
        <p:spPr>
          <a:xfrm>
            <a:off x="5814934" y="3304385"/>
            <a:ext cx="30032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 defTabSz="685800"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ja-JP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2030</a:t>
            </a: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年代後半にパネルの大量廃棄ピークが到来し、最終処分場の逼迫が懸念</a:t>
            </a:r>
            <a:endParaRPr lang="en-US" altLang="ja-JP" sz="1200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214313" indent="-214313" defTabSz="685800"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ja-JP" altLang="en-US" sz="1200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事業終了後の不法投棄や有害物質流出のリスクを未然に防ぐ必要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02634D1E-C2B6-4771-A6BB-D4F23228D613}"/>
              </a:ext>
            </a:extLst>
          </p:cNvPr>
          <p:cNvSpPr txBox="1"/>
          <p:nvPr/>
        </p:nvSpPr>
        <p:spPr>
          <a:xfrm>
            <a:off x="6624617" y="277354"/>
            <a:ext cx="15002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buClr>
                <a:srgbClr val="000000"/>
              </a:buClr>
              <a:defRPr/>
            </a:pPr>
            <a:r>
              <a:rPr lang="ja-JP" altLang="en-US" sz="1200" b="1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背景</a:t>
            </a:r>
          </a:p>
        </p:txBody>
      </p:sp>
      <p:sp>
        <p:nvSpPr>
          <p:cNvPr id="3" name="テキスト ボックス 1">
            <a:extLst>
              <a:ext uri="{FF2B5EF4-FFF2-40B4-BE49-F238E27FC236}">
                <a16:creationId xmlns:a16="http://schemas.microsoft.com/office/drawing/2014/main" id="{57C5625A-15B7-C51F-3B98-8B8DBB5E124E}"/>
              </a:ext>
            </a:extLst>
          </p:cNvPr>
          <p:cNvSpPr txBox="1"/>
          <p:nvPr/>
        </p:nvSpPr>
        <p:spPr>
          <a:xfrm>
            <a:off x="295699" y="84734"/>
            <a:ext cx="449353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buClr>
                <a:srgbClr val="000000"/>
              </a:buClr>
              <a:defRPr/>
            </a:pPr>
            <a:r>
              <a:rPr lang="ja-JP" altLang="en-US" sz="2100" b="1" kern="0" dirty="0">
                <a:solidFill>
                  <a:srgbClr val="245D6D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再エネ拡大のための主要課題と対策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350A50-D19F-841F-1F90-477F714FBE2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85460" y="4767263"/>
            <a:ext cx="2057400" cy="273844"/>
          </a:xfrm>
        </p:spPr>
        <p:txBody>
          <a:bodyPr/>
          <a:lstStyle/>
          <a:p>
            <a:pPr defTabSz="685800">
              <a:defRPr/>
            </a:pPr>
            <a:fld id="{00000000-1234-1234-1234-123412341234}" type="slidenum">
              <a:rPr kumimoji="0" lang="en-US" altLang="ja-JP" kern="0"/>
              <a:pPr defTabSz="685800">
                <a:defRPr/>
              </a:pPr>
              <a:t>6</a:t>
            </a:fld>
            <a:endParaRPr kumimoji="0" lang="ja-JP" altLang="en-US" kern="0"/>
          </a:p>
        </p:txBody>
      </p:sp>
    </p:spTree>
    <p:extLst>
      <p:ext uri="{BB962C8B-B14F-4D97-AF65-F5344CB8AC3E}">
        <p14:creationId xmlns:p14="http://schemas.microsoft.com/office/powerpoint/2010/main" val="1888090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763C07A7-0B52-4C50-BC92-AC729658E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70379"/>
              </p:ext>
            </p:extLst>
          </p:nvPr>
        </p:nvGraphicFramePr>
        <p:xfrm>
          <a:off x="338202" y="439542"/>
          <a:ext cx="8229601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414">
                  <a:extLst>
                    <a:ext uri="{9D8B030D-6E8A-4147-A177-3AD203B41FA5}">
                      <a16:colId xmlns:a16="http://schemas.microsoft.com/office/drawing/2014/main" val="3928810810"/>
                    </a:ext>
                  </a:extLst>
                </a:gridCol>
                <a:gridCol w="1697276">
                  <a:extLst>
                    <a:ext uri="{9D8B030D-6E8A-4147-A177-3AD203B41FA5}">
                      <a16:colId xmlns:a16="http://schemas.microsoft.com/office/drawing/2014/main" val="1994792143"/>
                    </a:ext>
                  </a:extLst>
                </a:gridCol>
                <a:gridCol w="2718149">
                  <a:extLst>
                    <a:ext uri="{9D8B030D-6E8A-4147-A177-3AD203B41FA5}">
                      <a16:colId xmlns:a16="http://schemas.microsoft.com/office/drawing/2014/main" val="1969516830"/>
                    </a:ext>
                  </a:extLst>
                </a:gridCol>
                <a:gridCol w="3494762">
                  <a:extLst>
                    <a:ext uri="{9D8B030D-6E8A-4147-A177-3AD203B41FA5}">
                      <a16:colId xmlns:a16="http://schemas.microsoft.com/office/drawing/2014/main" val="1329017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ja-JP" altLang="en-US" sz="1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200" dirty="0">
                          <a:effectLst/>
                        </a:rPr>
                        <a:t>課題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200" dirty="0">
                          <a:effectLst/>
                        </a:rPr>
                        <a:t>対策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200" dirty="0">
                          <a:effectLst/>
                        </a:rPr>
                        <a:t>現状・政府方針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0710662"/>
                  </a:ext>
                </a:extLst>
              </a:tr>
              <a:tr h="794272">
                <a:tc row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b="1" dirty="0">
                          <a:effectLst/>
                        </a:rPr>
                        <a:t>①再エネ設備を増やす</a:t>
                      </a:r>
                      <a:endParaRPr lang="ja-JP" altLang="en-US" sz="1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l"/>
                      </a:pPr>
                      <a:r>
                        <a:rPr lang="ja-JP" altLang="en-US" sz="1200" b="1" dirty="0">
                          <a:effectLst/>
                        </a:rPr>
                        <a:t>設置場所の拡大と規制緩和</a:t>
                      </a:r>
                      <a:endParaRPr lang="en-US" altLang="ja-JP" sz="12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effectLst/>
                        </a:rPr>
                        <a:t>建築物への設置標準化と</a:t>
                      </a:r>
                      <a:r>
                        <a:rPr lang="en-US" altLang="ja-JP" sz="1200" b="1" dirty="0">
                          <a:effectLst/>
                        </a:rPr>
                        <a:t>PPA</a:t>
                      </a:r>
                      <a:r>
                        <a:rPr lang="ja-JP" altLang="en-US" sz="1200" b="1" dirty="0">
                          <a:effectLst/>
                        </a:rPr>
                        <a:t>モデル促進</a:t>
                      </a:r>
                      <a:endParaRPr lang="en-US" altLang="ja-JP" sz="1200" b="1" dirty="0">
                        <a:effectLst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effectLst/>
                        </a:rPr>
                        <a:t>ポジティブゾーニング</a:t>
                      </a:r>
                      <a:endParaRPr lang="en-US" altLang="ja-JP" sz="1200" b="1" dirty="0">
                        <a:effectLst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solidFill>
                            <a:srgbClr val="FF0000"/>
                          </a:solidFill>
                          <a:effectLst/>
                        </a:rPr>
                        <a:t>営農型太陽光の導入拡大</a:t>
                      </a:r>
                      <a:endParaRPr lang="en-US" altLang="ja-JP" sz="12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solidFill>
                            <a:srgbClr val="FF0000"/>
                          </a:solidFill>
                          <a:effectLst/>
                        </a:rPr>
                        <a:t>規制と手続きの適正化</a:t>
                      </a:r>
                      <a:r>
                        <a:rPr lang="ja-JP" altLang="en-US" sz="1200" b="1" dirty="0">
                          <a:solidFill>
                            <a:schemeClr val="tx1"/>
                          </a:solidFill>
                          <a:effectLst/>
                        </a:rPr>
                        <a:t>（アセス・系統接続等）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ja-JP" sz="1200" b="1" dirty="0">
                          <a:effectLst/>
                        </a:rPr>
                        <a:t>【</a:t>
                      </a:r>
                      <a:r>
                        <a:rPr lang="ja-JP" altLang="en-US" sz="1200" b="1" dirty="0">
                          <a:effectLst/>
                        </a:rPr>
                        <a:t>実施中・強化中</a:t>
                      </a:r>
                      <a:r>
                        <a:rPr lang="en-US" altLang="ja-JP" sz="1200" b="1" dirty="0">
                          <a:effectLst/>
                        </a:rPr>
                        <a:t>】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dirty="0">
                          <a:effectLst/>
                        </a:rPr>
                        <a:t>新築戸建（</a:t>
                      </a:r>
                      <a:r>
                        <a:rPr lang="en-US" altLang="ja-JP" sz="1200" dirty="0">
                          <a:effectLst/>
                        </a:rPr>
                        <a:t>2030</a:t>
                      </a:r>
                      <a:r>
                        <a:rPr lang="ja-JP" altLang="en-US" sz="1200" dirty="0">
                          <a:effectLst/>
                        </a:rPr>
                        <a:t>年</a:t>
                      </a:r>
                      <a:r>
                        <a:rPr lang="en-US" altLang="ja-JP" sz="1200" dirty="0">
                          <a:effectLst/>
                        </a:rPr>
                        <a:t>6</a:t>
                      </a:r>
                      <a:r>
                        <a:rPr lang="ja-JP" altLang="en-US" sz="1200" dirty="0">
                          <a:effectLst/>
                        </a:rPr>
                        <a:t>割目標）や公共施設（</a:t>
                      </a:r>
                      <a:r>
                        <a:rPr lang="en-US" altLang="ja-JP" sz="1200" dirty="0">
                          <a:effectLst/>
                        </a:rPr>
                        <a:t>2040</a:t>
                      </a:r>
                      <a:r>
                        <a:rPr lang="ja-JP" altLang="en-US" sz="1200" dirty="0">
                          <a:effectLst/>
                        </a:rPr>
                        <a:t>年</a:t>
                      </a:r>
                      <a:r>
                        <a:rPr lang="en-US" altLang="ja-JP" sz="1200" dirty="0">
                          <a:effectLst/>
                        </a:rPr>
                        <a:t>100%</a:t>
                      </a:r>
                      <a:r>
                        <a:rPr lang="ja-JP" altLang="en-US" sz="1200" dirty="0">
                          <a:effectLst/>
                        </a:rPr>
                        <a:t>目標）への設置目標を設定</a:t>
                      </a:r>
                      <a:endParaRPr lang="en-US" altLang="ja-JP" sz="1200" dirty="0">
                        <a:effectLst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dirty="0">
                          <a:effectLst/>
                        </a:rPr>
                        <a:t>地域脱炭素化促進事業制度によるポジティブゾーニングを推進</a:t>
                      </a:r>
                      <a:endParaRPr lang="en-US" altLang="ja-JP" sz="1200" dirty="0">
                        <a:effectLst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dirty="0">
                          <a:effectLst/>
                        </a:rPr>
                        <a:t>営農型太陽光のガイドライン策定や違反時の厳格化を実施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14433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ja-JP" altLang="en-US" sz="1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l"/>
                      </a:pPr>
                      <a:r>
                        <a:rPr lang="ja-JP" altLang="en-US" sz="1200" b="1" dirty="0">
                          <a:effectLst/>
                        </a:rPr>
                        <a:t>次世代技術の開発・普及</a:t>
                      </a:r>
                      <a:endParaRPr lang="en-US" altLang="ja-JP" sz="12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solidFill>
                            <a:srgbClr val="FF0000"/>
                          </a:solidFill>
                          <a:effectLst/>
                        </a:rPr>
                        <a:t>洋上風力サプライチェーンの構築・強化</a:t>
                      </a:r>
                      <a:endParaRPr lang="en-US" altLang="ja-JP" sz="12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effectLst/>
                        </a:rPr>
                        <a:t>革新技術（</a:t>
                      </a:r>
                      <a:r>
                        <a:rPr lang="ja-JP" altLang="en-US" sz="1200" b="1" dirty="0">
                          <a:solidFill>
                            <a:srgbClr val="FF0000"/>
                          </a:solidFill>
                          <a:effectLst/>
                        </a:rPr>
                        <a:t>ペロブスカイト太陽電池</a:t>
                      </a:r>
                      <a:r>
                        <a:rPr lang="ja-JP" altLang="en-US" sz="1200" b="1" dirty="0">
                          <a:effectLst/>
                        </a:rPr>
                        <a:t>等）の開発・</a:t>
                      </a:r>
                      <a:r>
                        <a:rPr lang="ja-JP" altLang="en-US" sz="1200" b="1" dirty="0">
                          <a:solidFill>
                            <a:srgbClr val="FF0000"/>
                          </a:solidFill>
                          <a:effectLst/>
                        </a:rPr>
                        <a:t>社会実装加速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ja-JP" sz="1200" b="1" dirty="0">
                          <a:effectLst/>
                        </a:rPr>
                        <a:t>【</a:t>
                      </a:r>
                      <a:r>
                        <a:rPr lang="ja-JP" altLang="en-US" sz="1200" b="1" dirty="0">
                          <a:effectLst/>
                        </a:rPr>
                        <a:t>目標設定・支援中</a:t>
                      </a:r>
                      <a:r>
                        <a:rPr lang="en-US" altLang="ja-JP" sz="1200" b="1" dirty="0">
                          <a:effectLst/>
                        </a:rPr>
                        <a:t>】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dirty="0">
                          <a:effectLst/>
                        </a:rPr>
                        <a:t>ペロブスカイトは</a:t>
                      </a:r>
                      <a:r>
                        <a:rPr lang="en-US" altLang="ja-JP" sz="1200" dirty="0">
                          <a:effectLst/>
                        </a:rPr>
                        <a:t>2040</a:t>
                      </a:r>
                      <a:r>
                        <a:rPr lang="ja-JP" altLang="en-US" sz="1200" dirty="0">
                          <a:effectLst/>
                        </a:rPr>
                        <a:t>年までに約</a:t>
                      </a:r>
                      <a:r>
                        <a:rPr lang="en-US" altLang="ja-JP" sz="1200" dirty="0">
                          <a:effectLst/>
                        </a:rPr>
                        <a:t>20GW</a:t>
                      </a:r>
                      <a:r>
                        <a:rPr lang="ja-JP" altLang="en-US" sz="1200" dirty="0">
                          <a:effectLst/>
                        </a:rPr>
                        <a:t>の導入目標を設定し、</a:t>
                      </a:r>
                      <a:r>
                        <a:rPr lang="en-US" altLang="ja-JP" sz="1200" dirty="0">
                          <a:effectLst/>
                        </a:rPr>
                        <a:t>GI</a:t>
                      </a:r>
                      <a:r>
                        <a:rPr lang="ja-JP" altLang="en-US" sz="1200" dirty="0">
                          <a:effectLst/>
                        </a:rPr>
                        <a:t>基金等で投資支援</a:t>
                      </a:r>
                      <a:endParaRPr lang="en-US" altLang="ja-JP" sz="1200" dirty="0">
                        <a:effectLst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dirty="0">
                          <a:effectLst/>
                        </a:rPr>
                        <a:t>洋上風力は</a:t>
                      </a:r>
                      <a:r>
                        <a:rPr lang="en-US" altLang="ja-JP" sz="1200" dirty="0">
                          <a:effectLst/>
                        </a:rPr>
                        <a:t>EEZ</a:t>
                      </a:r>
                      <a:r>
                        <a:rPr lang="ja-JP" altLang="en-US" sz="1200" dirty="0">
                          <a:effectLst/>
                        </a:rPr>
                        <a:t>拡大に向けた法整備や産業基盤構築を推進中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677562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b="1" dirty="0">
                          <a:effectLst/>
                        </a:rPr>
                        <a:t>①再エネ設備を増やす</a:t>
                      </a:r>
                      <a:endParaRPr lang="ja-JP" altLang="en-US" sz="1200" dirty="0">
                        <a:effectLst/>
                      </a:endParaRPr>
                    </a:p>
                    <a:p>
                      <a:endParaRPr lang="ja-JP" altLang="en-US" sz="1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l"/>
                      </a:pPr>
                      <a:r>
                        <a:rPr lang="ja-JP" altLang="en-US" sz="1200" b="1" dirty="0">
                          <a:effectLst/>
                        </a:rPr>
                        <a:t>インセンティブの最適化とコスト低減</a:t>
                      </a:r>
                      <a:endParaRPr lang="en-US" altLang="ja-JP" sz="12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solidFill>
                            <a:srgbClr val="FF0000"/>
                          </a:solidFill>
                          <a:effectLst/>
                        </a:rPr>
                        <a:t>初期投資支援とインフレへの対応</a:t>
                      </a:r>
                      <a:endParaRPr lang="en-US" altLang="ja-JP" sz="12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ja-JP" sz="1200" b="1" dirty="0">
                          <a:effectLst/>
                        </a:rPr>
                        <a:t>FIP/</a:t>
                      </a:r>
                      <a:r>
                        <a:rPr lang="ja-JP" altLang="en-US" sz="1200" b="1" dirty="0">
                          <a:effectLst/>
                        </a:rPr>
                        <a:t>入札制度の活用とコスト低減</a:t>
                      </a:r>
                      <a:endParaRPr lang="en-US" altLang="ja-JP" sz="1200" b="1" dirty="0">
                        <a:effectLst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solidFill>
                            <a:srgbClr val="FF0000"/>
                          </a:solidFill>
                          <a:effectLst/>
                        </a:rPr>
                        <a:t>適切なカーボンプライシング（</a:t>
                      </a:r>
                      <a:r>
                        <a:rPr lang="en-US" altLang="ja-JP" sz="1200" b="1" dirty="0">
                          <a:solidFill>
                            <a:srgbClr val="FF0000"/>
                          </a:solidFill>
                          <a:effectLst/>
                        </a:rPr>
                        <a:t>CP</a:t>
                      </a:r>
                      <a:r>
                        <a:rPr lang="ja-JP" altLang="en-US" sz="1200" b="1" dirty="0">
                          <a:solidFill>
                            <a:srgbClr val="FF0000"/>
                          </a:solidFill>
                          <a:effectLst/>
                        </a:rPr>
                        <a:t>）の導入・運用</a:t>
                      </a:r>
                      <a:endParaRPr lang="en-US" altLang="ja-JP" sz="12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solidFill>
                            <a:srgbClr val="FF0000"/>
                          </a:solidFill>
                          <a:effectLst/>
                        </a:rPr>
                        <a:t>サプライチェーン巻き込み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ja-JP" sz="1200" b="1" dirty="0">
                          <a:effectLst/>
                        </a:rPr>
                        <a:t>【</a:t>
                      </a:r>
                      <a:r>
                        <a:rPr lang="ja-JP" altLang="en-US" sz="1200" b="1" dirty="0">
                          <a:effectLst/>
                        </a:rPr>
                        <a:t>一部実施・進行中</a:t>
                      </a:r>
                      <a:r>
                        <a:rPr lang="en-US" altLang="ja-JP" sz="1200" b="1" dirty="0">
                          <a:effectLst/>
                        </a:rPr>
                        <a:t>】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ja-JP" altLang="en-US" sz="1200" dirty="0">
                          <a:effectLst/>
                        </a:rPr>
                        <a:t>屋根設置への初期投資支援スキーム（</a:t>
                      </a:r>
                      <a:r>
                        <a:rPr lang="en-US" altLang="ja-JP" sz="1200" dirty="0">
                          <a:effectLst/>
                        </a:rPr>
                        <a:t>2025</a:t>
                      </a:r>
                      <a:r>
                        <a:rPr lang="ja-JP" altLang="en-US" sz="1200" dirty="0">
                          <a:effectLst/>
                        </a:rPr>
                        <a:t>年</a:t>
                      </a:r>
                      <a:r>
                        <a:rPr lang="en-US" altLang="ja-JP" sz="1200" dirty="0">
                          <a:effectLst/>
                        </a:rPr>
                        <a:t>10</a:t>
                      </a:r>
                      <a:r>
                        <a:rPr lang="ja-JP" altLang="en-US" sz="1200" dirty="0">
                          <a:effectLst/>
                        </a:rPr>
                        <a:t>月開始予定）などが措置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ja-JP" sz="1200" dirty="0">
                          <a:effectLst/>
                        </a:rPr>
                        <a:t>FIP</a:t>
                      </a:r>
                      <a:r>
                        <a:rPr lang="ja-JP" altLang="en-US" sz="1200" dirty="0">
                          <a:effectLst/>
                        </a:rPr>
                        <a:t>制度へ移行済みだが、予見性不足等の課題あり、制度微修正を検討中</a:t>
                      </a:r>
                      <a:endParaRPr lang="en-US" altLang="ja-JP" sz="1200" dirty="0">
                        <a:effectLst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dirty="0">
                          <a:effectLst/>
                        </a:rPr>
                        <a:t>成長志向型</a:t>
                      </a:r>
                      <a:r>
                        <a:rPr lang="en-US" altLang="ja-JP" sz="1200" dirty="0">
                          <a:effectLst/>
                        </a:rPr>
                        <a:t>CP</a:t>
                      </a:r>
                      <a:r>
                        <a:rPr lang="ja-JP" altLang="en-US" sz="1200" dirty="0">
                          <a:effectLst/>
                        </a:rPr>
                        <a:t>構想により、将来的な導入・賦課金制度が検討されている</a:t>
                      </a:r>
                      <a:endParaRPr lang="en-US" altLang="ja-JP" sz="12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1959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8920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763C07A7-0B52-4C50-BC92-AC729658E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149907"/>
              </p:ext>
            </p:extLst>
          </p:nvPr>
        </p:nvGraphicFramePr>
        <p:xfrm>
          <a:off x="356991" y="284777"/>
          <a:ext cx="8448806" cy="383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414">
                  <a:extLst>
                    <a:ext uri="{9D8B030D-6E8A-4147-A177-3AD203B41FA5}">
                      <a16:colId xmlns:a16="http://schemas.microsoft.com/office/drawing/2014/main" val="3928810810"/>
                    </a:ext>
                  </a:extLst>
                </a:gridCol>
                <a:gridCol w="1925601">
                  <a:extLst>
                    <a:ext uri="{9D8B030D-6E8A-4147-A177-3AD203B41FA5}">
                      <a16:colId xmlns:a16="http://schemas.microsoft.com/office/drawing/2014/main" val="1994792143"/>
                    </a:ext>
                  </a:extLst>
                </a:gridCol>
                <a:gridCol w="3260175">
                  <a:extLst>
                    <a:ext uri="{9D8B030D-6E8A-4147-A177-3AD203B41FA5}">
                      <a16:colId xmlns:a16="http://schemas.microsoft.com/office/drawing/2014/main" val="1969516830"/>
                    </a:ext>
                  </a:extLst>
                </a:gridCol>
                <a:gridCol w="2943616">
                  <a:extLst>
                    <a:ext uri="{9D8B030D-6E8A-4147-A177-3AD203B41FA5}">
                      <a16:colId xmlns:a16="http://schemas.microsoft.com/office/drawing/2014/main" val="1329017750"/>
                    </a:ext>
                  </a:extLst>
                </a:gridCol>
              </a:tblGrid>
              <a:tr h="121840">
                <a:tc>
                  <a:txBody>
                    <a:bodyPr/>
                    <a:lstStyle/>
                    <a:p>
                      <a:pPr algn="ctr"/>
                      <a:endParaRPr lang="ja-JP" altLang="en-US" sz="1200" dirty="0">
                        <a:effectLst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200" dirty="0">
                          <a:effectLst/>
                        </a:rPr>
                        <a:t>課題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200" dirty="0">
                          <a:effectLst/>
                        </a:rPr>
                        <a:t>対策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200" dirty="0">
                          <a:effectLst/>
                        </a:rPr>
                        <a:t>現状・政府方針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90710662"/>
                  </a:ext>
                </a:extLst>
              </a:tr>
              <a:tr h="287642">
                <a:tc rowSpan="4">
                  <a:txBody>
                    <a:bodyPr/>
                    <a:lstStyle/>
                    <a:p>
                      <a:r>
                        <a:rPr lang="ja-JP" altLang="en-US" sz="1200" b="1" dirty="0">
                          <a:effectLst/>
                        </a:rPr>
                        <a:t>②再エネの最大限活用</a:t>
                      </a:r>
                      <a:endParaRPr lang="ja-JP" altLang="en-US" sz="1200" dirty="0">
                        <a:effectLst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ja-JP" altLang="en-US" sz="1200" b="1" dirty="0">
                          <a:effectLst/>
                        </a:rPr>
                        <a:t>系統の増強と運用改善</a:t>
                      </a:r>
                      <a:endParaRPr lang="en-US" altLang="ja-JP" sz="1200" b="1" dirty="0">
                        <a:effectLst/>
                      </a:endParaRPr>
                    </a:p>
                    <a:p>
                      <a:r>
                        <a:rPr lang="ja-JP" altLang="en-US" sz="1200" dirty="0">
                          <a:effectLst/>
                        </a:rPr>
                        <a:t>・出力制御の回避</a:t>
                      </a:r>
                      <a:endParaRPr lang="en-US" altLang="ja-JP" sz="1200" dirty="0">
                        <a:effectLst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effectLst/>
                        </a:rPr>
                        <a:t>系統の増強（拡大・迅速化）</a:t>
                      </a:r>
                      <a:endParaRPr lang="en-US" altLang="ja-JP" sz="1200" b="1" dirty="0">
                        <a:effectLst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solidFill>
                            <a:schemeClr val="tx1"/>
                          </a:solidFill>
                          <a:effectLst/>
                        </a:rPr>
                        <a:t>運用容量の拡大</a:t>
                      </a:r>
                      <a:r>
                        <a:rPr lang="ja-JP" altLang="en-US" sz="1200" b="1" dirty="0">
                          <a:effectLst/>
                        </a:rPr>
                        <a:t>（</a:t>
                      </a:r>
                      <a:r>
                        <a:rPr lang="en-US" altLang="ja-JP" sz="1200" b="1" dirty="0">
                          <a:effectLst/>
                        </a:rPr>
                        <a:t>N-1</a:t>
                      </a:r>
                      <a:r>
                        <a:rPr lang="ja-JP" altLang="en-US" sz="1200" b="1" dirty="0">
                          <a:effectLst/>
                        </a:rPr>
                        <a:t>電制、ダイナミックレーティング）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ja-JP" sz="1200" b="1" dirty="0">
                          <a:effectLst/>
                        </a:rPr>
                        <a:t>【</a:t>
                      </a:r>
                      <a:r>
                        <a:rPr lang="ja-JP" altLang="en-US" sz="1200" b="1" dirty="0">
                          <a:effectLst/>
                        </a:rPr>
                        <a:t>計画策定・一部実施</a:t>
                      </a:r>
                      <a:r>
                        <a:rPr lang="en-US" altLang="ja-JP" sz="1200" b="1" dirty="0">
                          <a:effectLst/>
                        </a:rPr>
                        <a:t>】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dirty="0">
                          <a:effectLst/>
                        </a:rPr>
                        <a:t>今後</a:t>
                      </a:r>
                      <a:r>
                        <a:rPr lang="en-US" altLang="ja-JP" sz="1200" dirty="0">
                          <a:effectLst/>
                        </a:rPr>
                        <a:t>10</a:t>
                      </a:r>
                      <a:r>
                        <a:rPr lang="ja-JP" altLang="en-US" sz="1200" dirty="0">
                          <a:effectLst/>
                        </a:rPr>
                        <a:t>年間で地域間連系線を過去の</a:t>
                      </a:r>
                      <a:r>
                        <a:rPr lang="en-US" altLang="ja-JP" sz="1200" dirty="0">
                          <a:effectLst/>
                        </a:rPr>
                        <a:t>8</a:t>
                      </a:r>
                      <a:r>
                        <a:rPr lang="ja-JP" altLang="en-US" sz="1200" dirty="0">
                          <a:effectLst/>
                        </a:rPr>
                        <a:t>倍規模で整備する計画</a:t>
                      </a:r>
                      <a:endParaRPr lang="en-US" altLang="ja-JP" sz="1200" dirty="0">
                        <a:effectLst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269144334"/>
                  </a:ext>
                </a:extLst>
              </a:tr>
              <a:tr h="3724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ja-JP" altLang="en-US" sz="1200" b="1" dirty="0">
                          <a:effectLst/>
                        </a:rPr>
                        <a:t>柔軟性の確保</a:t>
                      </a:r>
                      <a:endParaRPr lang="en-US" altLang="ja-JP" sz="1200" b="1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dirty="0">
                          <a:effectLst/>
                        </a:rPr>
                        <a:t>・グリッドの柔軟性不足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ja-JP" altLang="en-US" sz="1200" b="1" dirty="0">
                          <a:effectLst/>
                        </a:rPr>
                        <a:t>蓄電池・揚水の導入拡大・加速</a:t>
                      </a:r>
                      <a:endParaRPr lang="en-US" altLang="ja-JP" sz="1200" b="1" dirty="0">
                        <a:effectLst/>
                      </a:endParaRP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ja-JP" sz="1200" b="1" dirty="0">
                          <a:solidFill>
                            <a:srgbClr val="FF0000"/>
                          </a:solidFill>
                          <a:effectLst/>
                        </a:rPr>
                        <a:t>DR</a:t>
                      </a:r>
                      <a:r>
                        <a:rPr lang="ja-JP" altLang="en-US" sz="1200" b="1" dirty="0">
                          <a:solidFill>
                            <a:srgbClr val="FF0000"/>
                          </a:solidFill>
                          <a:effectLst/>
                        </a:rPr>
                        <a:t>（デマンドレスポンス）の促進</a:t>
                      </a:r>
                      <a:endParaRPr lang="en-US" altLang="ja-JP" sz="12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ja-JP" altLang="en-US" sz="1200" b="1" dirty="0">
                          <a:solidFill>
                            <a:srgbClr val="FF0000"/>
                          </a:solidFill>
                          <a:effectLst/>
                        </a:rPr>
                        <a:t>アグリゲーション・需給調整市場への参加</a:t>
                      </a:r>
                      <a:endParaRPr lang="en-US" altLang="ja-JP" sz="12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ja-JP" altLang="en-US" sz="1200" b="1" dirty="0">
                          <a:effectLst/>
                        </a:rPr>
                        <a:t>火力の脱炭素化</a:t>
                      </a:r>
                      <a:r>
                        <a:rPr lang="en-US" altLang="ja-JP" sz="1200" b="1" dirty="0">
                          <a:effectLst/>
                        </a:rPr>
                        <a:t>/</a:t>
                      </a:r>
                      <a:r>
                        <a:rPr lang="ja-JP" altLang="en-US" sz="1200" b="1" dirty="0">
                          <a:effectLst/>
                        </a:rPr>
                        <a:t>管理された廃止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ja-JP" sz="1200" b="1" dirty="0">
                          <a:effectLst/>
                        </a:rPr>
                        <a:t>【</a:t>
                      </a:r>
                      <a:r>
                        <a:rPr lang="ja-JP" altLang="en-US" sz="1200" b="1" dirty="0">
                          <a:effectLst/>
                        </a:rPr>
                        <a:t>検討中・制度改正</a:t>
                      </a:r>
                      <a:r>
                        <a:rPr lang="en-US" altLang="ja-JP" sz="1200" b="1" dirty="0">
                          <a:effectLst/>
                        </a:rPr>
                        <a:t>】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ja-JP" altLang="en-US" sz="1200" dirty="0">
                          <a:effectLst/>
                        </a:rPr>
                        <a:t>系統用蓄電池の早期導入支援、ノンファーム型接続等の運用改善を実施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639695681"/>
                  </a:ext>
                </a:extLst>
              </a:tr>
              <a:tr h="44475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ja-JP" altLang="en-US" sz="1200" b="1" dirty="0">
                          <a:effectLst/>
                        </a:rPr>
                        <a:t>余剰電力の活用</a:t>
                      </a:r>
                      <a:endParaRPr lang="en-US" altLang="ja-JP" sz="1200" b="1" dirty="0">
                        <a:effectLst/>
                      </a:endParaRPr>
                    </a:p>
                    <a:p>
                      <a:r>
                        <a:rPr lang="ja-JP" altLang="en-US" sz="1200" dirty="0">
                          <a:effectLst/>
                        </a:rPr>
                        <a:t>・地域内融通の不足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solidFill>
                            <a:srgbClr val="FF0000"/>
                          </a:solidFill>
                          <a:effectLst/>
                        </a:rPr>
                        <a:t>地域</a:t>
                      </a:r>
                      <a:r>
                        <a:rPr lang="en-US" altLang="ja-JP" sz="1200" b="1" dirty="0">
                          <a:solidFill>
                            <a:srgbClr val="FF0000"/>
                          </a:solidFill>
                          <a:effectLst/>
                        </a:rPr>
                        <a:t>/</a:t>
                      </a:r>
                      <a:r>
                        <a:rPr lang="ja-JP" altLang="en-US" sz="1200" b="1" dirty="0">
                          <a:solidFill>
                            <a:srgbClr val="FF0000"/>
                          </a:solidFill>
                          <a:effectLst/>
                        </a:rPr>
                        <a:t>サプライチェーン内の電力融通</a:t>
                      </a:r>
                      <a:r>
                        <a:rPr lang="en-US" altLang="ja-JP" sz="1200" b="1" dirty="0">
                          <a:solidFill>
                            <a:srgbClr val="FF0000"/>
                          </a:solidFill>
                          <a:effectLst/>
                        </a:rPr>
                        <a:t>/</a:t>
                      </a:r>
                      <a:r>
                        <a:rPr lang="ja-JP" altLang="en-US" sz="1200" b="1" dirty="0">
                          <a:solidFill>
                            <a:srgbClr val="FF0000"/>
                          </a:solidFill>
                          <a:effectLst/>
                        </a:rPr>
                        <a:t>最適化</a:t>
                      </a:r>
                      <a:endParaRPr lang="en-US" altLang="ja-JP" sz="12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solidFill>
                            <a:srgbClr val="FF0000"/>
                          </a:solidFill>
                          <a:effectLst/>
                        </a:rPr>
                        <a:t>セクターカップリング</a:t>
                      </a:r>
                      <a:r>
                        <a:rPr lang="ja-JP" altLang="en-US" sz="1200" b="1" dirty="0">
                          <a:effectLst/>
                        </a:rPr>
                        <a:t>（</a:t>
                      </a:r>
                      <a:r>
                        <a:rPr lang="en-US" altLang="ja-JP" sz="1200" b="1" dirty="0">
                          <a:effectLst/>
                        </a:rPr>
                        <a:t>P2X/V2G</a:t>
                      </a:r>
                      <a:r>
                        <a:rPr lang="ja-JP" altLang="en-US" sz="1200" b="1" dirty="0">
                          <a:effectLst/>
                        </a:rPr>
                        <a:t>）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ja-JP" sz="1200" b="1" dirty="0">
                          <a:effectLst/>
                        </a:rPr>
                        <a:t>【</a:t>
                      </a:r>
                      <a:r>
                        <a:rPr lang="ja-JP" altLang="en-US" sz="1200" b="1" dirty="0">
                          <a:effectLst/>
                        </a:rPr>
                        <a:t>実証・初期段階</a:t>
                      </a:r>
                      <a:r>
                        <a:rPr lang="en-US" altLang="ja-JP" sz="1200" b="1" dirty="0">
                          <a:effectLst/>
                        </a:rPr>
                        <a:t>】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dirty="0">
                          <a:effectLst/>
                        </a:rPr>
                        <a:t>昼間の余剰電力活用に向けた</a:t>
                      </a:r>
                      <a:r>
                        <a:rPr lang="en-US" altLang="ja-JP" sz="1200" dirty="0">
                          <a:effectLst/>
                        </a:rPr>
                        <a:t>DR</a:t>
                      </a:r>
                      <a:r>
                        <a:rPr lang="ja-JP" altLang="en-US" sz="1200" dirty="0">
                          <a:effectLst/>
                        </a:rPr>
                        <a:t>モデル実証などを実施</a:t>
                      </a:r>
                      <a:endParaRPr lang="en-US" altLang="ja-JP" sz="1200" dirty="0">
                        <a:effectLst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dirty="0">
                          <a:effectLst/>
                        </a:rPr>
                        <a:t>蓄電池併設</a:t>
                      </a:r>
                      <a:r>
                        <a:rPr lang="en-US" altLang="ja-JP" sz="1200" dirty="0">
                          <a:effectLst/>
                        </a:rPr>
                        <a:t>FIP</a:t>
                      </a:r>
                      <a:r>
                        <a:rPr lang="ja-JP" altLang="en-US" sz="1200" dirty="0">
                          <a:effectLst/>
                        </a:rPr>
                        <a:t>への支援強化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995671206"/>
                  </a:ext>
                </a:extLst>
              </a:tr>
              <a:tr h="626673">
                <a:tc vMerge="1">
                  <a:txBody>
                    <a:bodyPr/>
                    <a:lstStyle/>
                    <a:p>
                      <a:endParaRPr lang="ja-JP" alt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ja-JP" altLang="en-US" sz="1200" b="1" dirty="0">
                          <a:effectLst/>
                        </a:rPr>
                        <a:t>電力取引・市場の最適化</a:t>
                      </a:r>
                      <a:endParaRPr lang="en-US" altLang="ja-JP" sz="1200" b="1" dirty="0">
                        <a:effectLst/>
                      </a:endParaRPr>
                    </a:p>
                    <a:p>
                      <a:r>
                        <a:rPr lang="ja-JP" altLang="en-US" sz="1200" dirty="0">
                          <a:effectLst/>
                        </a:rPr>
                        <a:t>・市場機能の不全</a:t>
                      </a:r>
                      <a:endParaRPr lang="en-US" altLang="ja-JP" sz="1200" dirty="0">
                        <a:effectLst/>
                      </a:endParaRPr>
                    </a:p>
                    <a:p>
                      <a:r>
                        <a:rPr lang="ja-JP" altLang="en-US" sz="1200" dirty="0">
                          <a:effectLst/>
                        </a:rPr>
                        <a:t>・調整力の確保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ja-JP" altLang="en-US" sz="1200" b="1" dirty="0">
                          <a:solidFill>
                            <a:schemeClr val="tx1"/>
                          </a:solidFill>
                          <a:effectLst/>
                        </a:rPr>
                        <a:t>同時市場（</a:t>
                      </a:r>
                      <a:r>
                        <a:rPr lang="en-US" altLang="ja-JP" sz="1200" b="1" dirty="0">
                          <a:solidFill>
                            <a:schemeClr val="tx1"/>
                          </a:solidFill>
                          <a:effectLst/>
                        </a:rPr>
                        <a:t>kW</a:t>
                      </a:r>
                      <a:r>
                        <a:rPr lang="ja-JP" altLang="en-US" sz="1200" b="1" dirty="0">
                          <a:solidFill>
                            <a:schemeClr val="tx1"/>
                          </a:solidFill>
                          <a:effectLst/>
                        </a:rPr>
                        <a:t>と</a:t>
                      </a:r>
                      <a:r>
                        <a:rPr lang="en-US" altLang="ja-JP" sz="1200" b="1" dirty="0" err="1">
                          <a:solidFill>
                            <a:schemeClr val="tx1"/>
                          </a:solidFill>
                          <a:effectLst/>
                        </a:rPr>
                        <a:t>ΔkW</a:t>
                      </a:r>
                      <a:r>
                        <a:rPr lang="ja-JP" altLang="en-US" sz="1200" b="1" dirty="0">
                          <a:solidFill>
                            <a:schemeClr val="tx1"/>
                          </a:solidFill>
                          <a:effectLst/>
                        </a:rPr>
                        <a:t>の一体取引）の導入</a:t>
                      </a:r>
                      <a:endParaRPr lang="en-US" altLang="ja-JP" sz="12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ja-JP" altLang="en-US" sz="1200" b="1" dirty="0">
                          <a:solidFill>
                            <a:schemeClr val="tx1"/>
                          </a:solidFill>
                          <a:effectLst/>
                        </a:rPr>
                        <a:t>中長期取引市場の導入</a:t>
                      </a:r>
                      <a:endParaRPr lang="en-US" altLang="ja-JP" sz="12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solidFill>
                            <a:schemeClr val="tx1"/>
                          </a:solidFill>
                          <a:effectLst/>
                        </a:rPr>
                        <a:t>非化石価値取引改善（上下限価格見直し等）</a:t>
                      </a:r>
                      <a:endParaRPr lang="en-US" altLang="ja-JP" sz="12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solidFill>
                            <a:schemeClr val="tx1"/>
                          </a:solidFill>
                          <a:effectLst/>
                        </a:rPr>
                        <a:t>適切なカーボンプライシングの価格への反映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ja-JP" sz="1200" b="1" dirty="0">
                          <a:effectLst/>
                        </a:rPr>
                        <a:t>【</a:t>
                      </a:r>
                      <a:r>
                        <a:rPr lang="ja-JP" altLang="en-US" sz="1200" b="1" dirty="0">
                          <a:effectLst/>
                        </a:rPr>
                        <a:t>検討中・制度改正</a:t>
                      </a:r>
                      <a:r>
                        <a:rPr lang="en-US" altLang="ja-JP" sz="1200" b="1" dirty="0">
                          <a:effectLst/>
                        </a:rPr>
                        <a:t>】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dirty="0">
                          <a:effectLst/>
                        </a:rPr>
                        <a:t>同時市場（電力と調整力）の導入に向けた検討会が進められている</a:t>
                      </a:r>
                      <a:endParaRPr lang="en-US" altLang="ja-JP" sz="1200" dirty="0">
                        <a:effectLst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dirty="0">
                          <a:effectLst/>
                        </a:rPr>
                        <a:t>容量市場における再エネの参加要件見直し等を議論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ja-JP" sz="1200" dirty="0">
                          <a:effectLst/>
                        </a:rPr>
                        <a:t>FIT</a:t>
                      </a:r>
                      <a:r>
                        <a:rPr lang="ja-JP" altLang="en-US" sz="1200" dirty="0">
                          <a:effectLst/>
                        </a:rPr>
                        <a:t>証書の下限価格引き上げ等を検討中</a:t>
                      </a:r>
                      <a:endParaRPr lang="en-US" altLang="ja-JP" sz="1200" dirty="0">
                        <a:effectLst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976775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2747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763C07A7-0B52-4C50-BC92-AC729658E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810659"/>
              </p:ext>
            </p:extLst>
          </p:nvPr>
        </p:nvGraphicFramePr>
        <p:xfrm>
          <a:off x="356991" y="284777"/>
          <a:ext cx="8448806" cy="436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414">
                  <a:extLst>
                    <a:ext uri="{9D8B030D-6E8A-4147-A177-3AD203B41FA5}">
                      <a16:colId xmlns:a16="http://schemas.microsoft.com/office/drawing/2014/main" val="3928810810"/>
                    </a:ext>
                  </a:extLst>
                </a:gridCol>
                <a:gridCol w="1465546">
                  <a:extLst>
                    <a:ext uri="{9D8B030D-6E8A-4147-A177-3AD203B41FA5}">
                      <a16:colId xmlns:a16="http://schemas.microsoft.com/office/drawing/2014/main" val="1994792143"/>
                    </a:ext>
                  </a:extLst>
                </a:gridCol>
                <a:gridCol w="2918564">
                  <a:extLst>
                    <a:ext uri="{9D8B030D-6E8A-4147-A177-3AD203B41FA5}">
                      <a16:colId xmlns:a16="http://schemas.microsoft.com/office/drawing/2014/main" val="1969516830"/>
                    </a:ext>
                  </a:extLst>
                </a:gridCol>
                <a:gridCol w="3745282">
                  <a:extLst>
                    <a:ext uri="{9D8B030D-6E8A-4147-A177-3AD203B41FA5}">
                      <a16:colId xmlns:a16="http://schemas.microsoft.com/office/drawing/2014/main" val="1329017750"/>
                    </a:ext>
                  </a:extLst>
                </a:gridCol>
              </a:tblGrid>
              <a:tr h="171664">
                <a:tc>
                  <a:txBody>
                    <a:bodyPr/>
                    <a:lstStyle/>
                    <a:p>
                      <a:pPr algn="ctr"/>
                      <a:endParaRPr lang="ja-JP" altLang="en-US" sz="1200" dirty="0">
                        <a:effectLst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200" dirty="0">
                          <a:effectLst/>
                        </a:rPr>
                        <a:t>課題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200" dirty="0">
                          <a:effectLst/>
                        </a:rPr>
                        <a:t>対策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200" dirty="0">
                          <a:effectLst/>
                        </a:rPr>
                        <a:t>現状・政府方針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90710662"/>
                  </a:ext>
                </a:extLst>
              </a:tr>
              <a:tr h="892994">
                <a:tc rowSpan="2">
                  <a:txBody>
                    <a:bodyPr/>
                    <a:lstStyle/>
                    <a:p>
                      <a:r>
                        <a:rPr lang="ja-JP" altLang="en-US" sz="1200" b="1" dirty="0">
                          <a:effectLst/>
                        </a:rPr>
                        <a:t>③社会受容性の向上</a:t>
                      </a:r>
                      <a:endParaRPr lang="ja-JP" altLang="en-US" sz="1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ja-JP" altLang="en-US" sz="1200" b="1" dirty="0">
                          <a:effectLst/>
                        </a:rPr>
                        <a:t>不適切事例への対策</a:t>
                      </a:r>
                    </a:p>
                    <a:p>
                      <a:r>
                        <a:rPr lang="ja-JP" altLang="en-US" sz="1200" dirty="0">
                          <a:effectLst/>
                        </a:rPr>
                        <a:t>・地域トラブル、法令違反</a:t>
                      </a:r>
                      <a:endParaRPr lang="en-US" altLang="ja-JP" sz="1200" dirty="0">
                        <a:effectLst/>
                      </a:endParaRPr>
                    </a:p>
                    <a:p>
                      <a:r>
                        <a:rPr lang="ja-JP" altLang="en-US" sz="1200" dirty="0">
                          <a:effectLst/>
                        </a:rPr>
                        <a:t>・安全面の懸念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effectLst/>
                        </a:rPr>
                        <a:t>法令遵守と事前周知の徹底</a:t>
                      </a:r>
                      <a:endParaRPr lang="en-US" altLang="ja-JP" sz="1200" b="1" dirty="0">
                        <a:effectLst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effectLst/>
                        </a:rPr>
                        <a:t>不適切案件への厳格な措置（現地調査</a:t>
                      </a:r>
                      <a:r>
                        <a:rPr lang="en-US" altLang="ja-JP" sz="1200" b="1" dirty="0">
                          <a:effectLst/>
                        </a:rPr>
                        <a:t>/</a:t>
                      </a:r>
                      <a:r>
                        <a:rPr lang="ja-JP" altLang="en-US" sz="1200" b="1" dirty="0">
                          <a:effectLst/>
                        </a:rPr>
                        <a:t>交付金停止）</a:t>
                      </a:r>
                      <a:endParaRPr lang="en-US" altLang="ja-JP" sz="1200" b="1" dirty="0">
                        <a:effectLst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effectLst/>
                        </a:rPr>
                        <a:t>非</a:t>
                      </a:r>
                      <a:r>
                        <a:rPr lang="en-US" altLang="ja-JP" sz="1200" b="1" dirty="0">
                          <a:effectLst/>
                        </a:rPr>
                        <a:t>FIT/</a:t>
                      </a:r>
                      <a:r>
                        <a:rPr lang="ja-JP" altLang="en-US" sz="1200" b="1" dirty="0">
                          <a:effectLst/>
                        </a:rPr>
                        <a:t>非</a:t>
                      </a:r>
                      <a:r>
                        <a:rPr lang="en-US" altLang="ja-JP" sz="1200" b="1" dirty="0">
                          <a:effectLst/>
                        </a:rPr>
                        <a:t>FIP</a:t>
                      </a:r>
                      <a:r>
                        <a:rPr lang="ja-JP" altLang="en-US" sz="1200" b="1" dirty="0">
                          <a:effectLst/>
                        </a:rPr>
                        <a:t>事業を含む監視体制の構築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ja-JP" sz="1200" b="1" dirty="0">
                          <a:effectLst/>
                        </a:rPr>
                        <a:t>【</a:t>
                      </a:r>
                      <a:r>
                        <a:rPr lang="ja-JP" altLang="en-US" sz="1200" b="1" dirty="0">
                          <a:effectLst/>
                        </a:rPr>
                        <a:t>対策強化済み</a:t>
                      </a:r>
                      <a:r>
                        <a:rPr lang="en-US" altLang="ja-JP" sz="1200" b="1" dirty="0">
                          <a:effectLst/>
                        </a:rPr>
                        <a:t>】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dirty="0">
                          <a:effectLst/>
                        </a:rPr>
                        <a:t>周辺住民への事前周知を認定要件化（改正再エネ特措法）</a:t>
                      </a:r>
                      <a:endParaRPr lang="en-US" altLang="ja-JP" sz="1200" dirty="0">
                        <a:effectLst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dirty="0">
                          <a:effectLst/>
                        </a:rPr>
                        <a:t>不適切案件への交付金一時停止、現地調査体制の強化を実施中</a:t>
                      </a:r>
                      <a:endParaRPr lang="en-US" altLang="ja-JP" sz="1200" dirty="0">
                        <a:effectLst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dirty="0">
                          <a:effectLst/>
                        </a:rPr>
                        <a:t>「全省庁横断再エネ事業監視体制」を構築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144334"/>
                  </a:ext>
                </a:extLst>
              </a:tr>
              <a:tr h="754426">
                <a:tc vMerge="1">
                  <a:txBody>
                    <a:bodyPr/>
                    <a:lstStyle/>
                    <a:p>
                      <a:endParaRPr lang="ja-JP" alt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ja-JP" altLang="en-US" sz="1200" b="1" dirty="0">
                          <a:effectLst/>
                        </a:rPr>
                        <a:t>適切事例の普及支援</a:t>
                      </a:r>
                    </a:p>
                    <a:p>
                      <a:r>
                        <a:rPr lang="ja-JP" altLang="en-US" sz="1200" dirty="0">
                          <a:effectLst/>
                        </a:rPr>
                        <a:t>・地域共生モデルの構築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ja-JP" altLang="en-US" sz="1200" b="1" dirty="0">
                          <a:solidFill>
                            <a:srgbClr val="FF0000"/>
                          </a:solidFill>
                          <a:effectLst/>
                        </a:rPr>
                        <a:t>地域共生モデルの類型化・導入支援</a:t>
                      </a:r>
                      <a:endParaRPr lang="en-US" altLang="ja-JP" sz="12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ja-JP" altLang="en-US" sz="1200" b="1" dirty="0">
                          <a:solidFill>
                            <a:srgbClr val="FF0000"/>
                          </a:solidFill>
                          <a:effectLst/>
                        </a:rPr>
                        <a:t>再エネの（社会的）便益の可視化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ja-JP" sz="1200" b="1" dirty="0">
                          <a:effectLst/>
                        </a:rPr>
                        <a:t>【</a:t>
                      </a:r>
                      <a:r>
                        <a:rPr lang="ja-JP" altLang="en-US" sz="1200" b="1" dirty="0">
                          <a:effectLst/>
                        </a:rPr>
                        <a:t>実施中</a:t>
                      </a:r>
                      <a:r>
                        <a:rPr lang="en-US" altLang="ja-JP" sz="1200" b="1" dirty="0">
                          <a:effectLst/>
                        </a:rPr>
                        <a:t>】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dirty="0">
                          <a:effectLst/>
                        </a:rPr>
                        <a:t>「脱炭素先行地域」の選定・交付金による支援を実施</a:t>
                      </a:r>
                      <a:endParaRPr lang="en-US" altLang="ja-JP" sz="1200" dirty="0">
                        <a:effectLst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dirty="0">
                          <a:effectLst/>
                        </a:rPr>
                        <a:t>業界団体によるガイドラインやチェックリストの公表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9695681"/>
                  </a:ext>
                </a:extLst>
              </a:tr>
              <a:tr h="892994">
                <a:tc rowSpan="2">
                  <a:txBody>
                    <a:bodyPr/>
                    <a:lstStyle/>
                    <a:p>
                      <a:r>
                        <a:rPr lang="ja-JP" altLang="en-US" sz="1200" b="1" dirty="0">
                          <a:effectLst/>
                        </a:rPr>
                        <a:t>④廃棄リサイクル対策</a:t>
                      </a:r>
                      <a:endParaRPr lang="ja-JP" altLang="en-US" sz="1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ja-JP" altLang="en-US" sz="1200" b="1" dirty="0">
                          <a:effectLst/>
                        </a:rPr>
                        <a:t>積立費用の義務化</a:t>
                      </a:r>
                    </a:p>
                    <a:p>
                      <a:r>
                        <a:rPr lang="ja-JP" altLang="en-US" sz="1200" dirty="0">
                          <a:effectLst/>
                        </a:rPr>
                        <a:t>・廃棄費用不足の懸念</a:t>
                      </a:r>
                      <a:endParaRPr lang="en-US" altLang="ja-JP" sz="1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effectLst/>
                        </a:rPr>
                        <a:t>太陽光パネル外部積立制度の原則義務化</a:t>
                      </a:r>
                      <a:endParaRPr lang="en-US" altLang="ja-JP" sz="1200" b="1" dirty="0">
                        <a:effectLst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effectLst/>
                        </a:rPr>
                        <a:t>風力発電設備の積立制度拡大</a:t>
                      </a:r>
                      <a:endParaRPr lang="en-US" altLang="ja-JP" sz="12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ja-JP" sz="1200" b="1" dirty="0">
                          <a:effectLst/>
                        </a:rPr>
                        <a:t>【</a:t>
                      </a:r>
                      <a:r>
                        <a:rPr lang="ja-JP" altLang="en-US" sz="1200" b="1" dirty="0">
                          <a:effectLst/>
                        </a:rPr>
                        <a:t>一部実施・一部検討中</a:t>
                      </a:r>
                      <a:r>
                        <a:rPr lang="en-US" altLang="ja-JP" sz="1200" b="1" dirty="0">
                          <a:effectLst/>
                        </a:rPr>
                        <a:t>】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effectLst/>
                        </a:rPr>
                        <a:t>太陽光</a:t>
                      </a:r>
                      <a:r>
                        <a:rPr lang="ja-JP" altLang="en-US" sz="1200" dirty="0">
                          <a:effectLst/>
                        </a:rPr>
                        <a:t>：</a:t>
                      </a:r>
                      <a:r>
                        <a:rPr lang="en-US" altLang="ja-JP" sz="1200" dirty="0">
                          <a:effectLst/>
                        </a:rPr>
                        <a:t>10kW</a:t>
                      </a:r>
                      <a:r>
                        <a:rPr lang="ja-JP" altLang="en-US" sz="1200" dirty="0">
                          <a:effectLst/>
                        </a:rPr>
                        <a:t>以上の事業用に対し、廃棄等費用の外部積立を原則義務化済み（</a:t>
                      </a:r>
                      <a:r>
                        <a:rPr lang="en-US" altLang="ja-JP" sz="1200" dirty="0">
                          <a:effectLst/>
                        </a:rPr>
                        <a:t>2022</a:t>
                      </a:r>
                      <a:r>
                        <a:rPr lang="ja-JP" altLang="en-US" sz="1200" dirty="0">
                          <a:effectLst/>
                        </a:rPr>
                        <a:t>年</a:t>
                      </a:r>
                      <a:r>
                        <a:rPr lang="en-US" altLang="ja-JP" sz="1200" dirty="0">
                          <a:effectLst/>
                        </a:rPr>
                        <a:t>7</a:t>
                      </a:r>
                      <a:r>
                        <a:rPr lang="ja-JP" altLang="en-US" sz="1200" dirty="0">
                          <a:effectLst/>
                        </a:rPr>
                        <a:t>月</a:t>
                      </a:r>
                      <a:r>
                        <a:rPr lang="en-US" altLang="ja-JP" sz="1200" dirty="0">
                          <a:effectLst/>
                        </a:rPr>
                        <a:t>〜</a:t>
                      </a:r>
                      <a:r>
                        <a:rPr lang="ja-JP" altLang="en-US" sz="1200" dirty="0">
                          <a:effectLst/>
                        </a:rPr>
                        <a:t>）</a:t>
                      </a:r>
                      <a:endParaRPr lang="en-US" altLang="ja-JP" sz="1200" dirty="0">
                        <a:effectLst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effectLst/>
                        </a:rPr>
                        <a:t>風力</a:t>
                      </a:r>
                      <a:r>
                        <a:rPr lang="ja-JP" altLang="en-US" sz="1200" dirty="0">
                          <a:effectLst/>
                        </a:rPr>
                        <a:t>：</a:t>
                      </a:r>
                      <a:r>
                        <a:rPr lang="en-US" altLang="ja-JP" sz="1200" dirty="0">
                          <a:effectLst/>
                        </a:rPr>
                        <a:t>FIT/FIP</a:t>
                      </a:r>
                      <a:r>
                        <a:rPr lang="ja-JP" altLang="en-US" sz="1200" dirty="0">
                          <a:effectLst/>
                        </a:rPr>
                        <a:t>認定案件について積立制度の対象に追加予定（</a:t>
                      </a:r>
                      <a:r>
                        <a:rPr lang="en-US" altLang="ja-JP" sz="1200" dirty="0">
                          <a:effectLst/>
                        </a:rPr>
                        <a:t>2027</a:t>
                      </a:r>
                      <a:r>
                        <a:rPr lang="ja-JP" altLang="en-US" sz="1200" dirty="0">
                          <a:effectLst/>
                        </a:rPr>
                        <a:t>年</a:t>
                      </a:r>
                      <a:r>
                        <a:rPr lang="en-US" altLang="ja-JP" sz="1200" dirty="0">
                          <a:effectLst/>
                        </a:rPr>
                        <a:t>4</a:t>
                      </a:r>
                      <a:r>
                        <a:rPr lang="ja-JP" altLang="en-US" sz="1200" dirty="0">
                          <a:effectLst/>
                        </a:rPr>
                        <a:t>月目途）</a:t>
                      </a:r>
                      <a:endParaRPr lang="en-US" altLang="ja-JP" sz="12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5671206"/>
                  </a:ext>
                </a:extLst>
              </a:tr>
              <a:tr h="554272">
                <a:tc vMerge="1">
                  <a:txBody>
                    <a:bodyPr/>
                    <a:lstStyle/>
                    <a:p>
                      <a:endParaRPr lang="ja-JP" altLang="en-US" dirty="0">
                        <a:effectLst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ja-JP" altLang="en-US" sz="1200" b="1" dirty="0">
                          <a:effectLst/>
                        </a:rPr>
                        <a:t>リサイクルの推進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dirty="0">
                          <a:effectLst/>
                        </a:rPr>
                        <a:t>・不法投棄リスク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solidFill>
                            <a:srgbClr val="FF0000"/>
                          </a:solidFill>
                          <a:effectLst/>
                        </a:rPr>
                        <a:t>リサイクル技術開発支援と設備補助</a:t>
                      </a:r>
                      <a:endParaRPr lang="en-US" altLang="ja-JP" sz="12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1" dirty="0">
                          <a:effectLst/>
                        </a:rPr>
                        <a:t>リサイクル義務化法の早期成立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ja-JP" sz="1200" b="1" dirty="0">
                          <a:effectLst/>
                        </a:rPr>
                        <a:t>【</a:t>
                      </a:r>
                      <a:r>
                        <a:rPr lang="ja-JP" altLang="en-US" sz="1200" b="1" dirty="0">
                          <a:effectLst/>
                        </a:rPr>
                        <a:t>検討中・制度改正</a:t>
                      </a:r>
                      <a:r>
                        <a:rPr lang="en-US" altLang="ja-JP" sz="1200" b="1" dirty="0">
                          <a:effectLst/>
                        </a:rPr>
                        <a:t>】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ja-JP" altLang="en-US" sz="1200" b="1" dirty="0">
                          <a:effectLst/>
                        </a:rPr>
                        <a:t>リサイクル義務化法</a:t>
                      </a:r>
                      <a:r>
                        <a:rPr lang="ja-JP" altLang="en-US" sz="1200" dirty="0">
                          <a:effectLst/>
                        </a:rPr>
                        <a:t>：法制的な観点から検討が難航しており、制度案の見直しを含め検討継続中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976775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922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AP2025_テンプレート.pptx" id="{AB55D0EC-0368-4C5D-B9D5-3B1E5E9429BE}" vid="{32135B0C-227C-488B-9CCD-4349B7D2995F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2_Office ​​テーマ</Template>
  <TotalTime>1701</TotalTime>
  <Words>1946</Words>
  <Application>Microsoft Macintosh PowerPoint</Application>
  <PresentationFormat>On-screen Show (16:9)</PresentationFormat>
  <Paragraphs>248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Noto Sans JP</vt:lpstr>
      <vt:lpstr>Noto Sans JP Medium</vt:lpstr>
      <vt:lpstr>Arial</vt:lpstr>
      <vt:lpstr>Calibri</vt:lpstr>
      <vt:lpstr>Segoe UI</vt:lpstr>
      <vt:lpstr>Wingdings</vt:lpstr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ikuru iwata</dc:creator>
  <cp:lastModifiedBy>ikuru iwata</cp:lastModifiedBy>
  <cp:revision>138</cp:revision>
  <cp:lastPrinted>2023-05-08T06:50:47Z</cp:lastPrinted>
  <dcterms:created xsi:type="dcterms:W3CDTF">2025-10-14T23:32:57Z</dcterms:created>
  <dcterms:modified xsi:type="dcterms:W3CDTF">2026-07-15T00:14:29Z</dcterms:modified>
</cp:coreProperties>
</file>